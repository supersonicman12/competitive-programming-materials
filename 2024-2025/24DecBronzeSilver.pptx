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obo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slide" Target="slides/slide20.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1896eb1a9f_0_30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1896eb1a9f_0_30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243e37a61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243e37a6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25d9d6a62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25d9d6a62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25d9d6a62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25d9d6a62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243e37a61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243e37a61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243e37a616_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243e37a616_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25d9d6a62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25d9d6a62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243e37a61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243e37a61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243e37a616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243e37a616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243e37a61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243e37a61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1ffee900f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1ffee900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1ffee900fc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1ffee900fc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243e37a61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243e37a61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243e37a61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243e37a61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243e37a616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243e37a616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243e37a61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243e37a61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243e37a61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243e37a61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2005655e9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2005655e9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2046e32e6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2046e32e6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2005655e9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2005655e9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USACO 2024 December</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Solutions of Bronze and Silver Problems</a:t>
            </a:r>
            <a:endParaRPr/>
          </a:p>
        </p:txBody>
      </p:sp>
      <p:pic>
        <p:nvPicPr>
          <p:cNvPr id="69" name="Google Shape;69;p13"/>
          <p:cNvPicPr preferRelativeResize="0"/>
          <p:nvPr/>
        </p:nvPicPr>
        <p:blipFill>
          <a:blip r:embed="rId3">
            <a:alphaModFix/>
          </a:blip>
          <a:stretch>
            <a:fillRect/>
          </a:stretch>
        </p:blipFill>
        <p:spPr>
          <a:xfrm>
            <a:off x="0" y="3537281"/>
            <a:ext cx="9144001" cy="301331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000" fill="hold"/>
                                        <p:tgtEl>
                                          <p:spTgt spid="69"/>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Bronze 1 - Problem (Sadly no pictures)</a:t>
            </a:r>
            <a:endParaRPr/>
          </a:p>
        </p:txBody>
      </p:sp>
      <p:sp>
        <p:nvSpPr>
          <p:cNvPr id="75" name="Google Shape;75;p14"/>
          <p:cNvSpPr txBox="1"/>
          <p:nvPr>
            <p:ph idx="1" type="body"/>
          </p:nvPr>
        </p:nvSpPr>
        <p:spPr>
          <a:xfrm>
            <a:off x="460950" y="1897900"/>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There is Elsie and Bessie, both of which are trying to round using 四舍五入.</a:t>
            </a:r>
            <a:endParaRPr/>
          </a:p>
          <a:p>
            <a:pPr indent="0" lvl="0" marL="0" rtl="0" algn="l">
              <a:spcBef>
                <a:spcPts val="1200"/>
              </a:spcBef>
              <a:spcAft>
                <a:spcPts val="0"/>
              </a:spcAft>
              <a:buNone/>
            </a:pPr>
            <a:r>
              <a:rPr lang="en"/>
              <a:t>Elsie starts from rounding from the last digit (rightmost) to the first (leftmost).</a:t>
            </a:r>
            <a:endParaRPr/>
          </a:p>
          <a:p>
            <a:pPr indent="0" lvl="0" marL="0" rtl="0" algn="l">
              <a:spcBef>
                <a:spcPts val="1200"/>
              </a:spcBef>
              <a:spcAft>
                <a:spcPts val="0"/>
              </a:spcAft>
              <a:buNone/>
            </a:pPr>
            <a:r>
              <a:rPr lang="en"/>
              <a:t>Bessie directly rounds the first digit (leftmost). </a:t>
            </a:r>
            <a:endParaRPr/>
          </a:p>
          <a:p>
            <a:pPr indent="0" lvl="0" marL="0" rtl="0" algn="l">
              <a:spcBef>
                <a:spcPts val="1200"/>
              </a:spcBef>
              <a:spcAft>
                <a:spcPts val="0"/>
              </a:spcAft>
              <a:buNone/>
            </a:pPr>
            <a:r>
              <a:rPr lang="en"/>
              <a:t>The question asks for how many numbers from 1 through N (inputted) </a:t>
            </a:r>
            <a:r>
              <a:rPr lang="en"/>
              <a:t>would have a different result of rounding when Elsie rounds instead of Bessie.</a:t>
            </a:r>
            <a:endParaRPr/>
          </a:p>
          <a:p>
            <a:pPr indent="0" lvl="0" marL="0" rtl="0" algn="l">
              <a:spcBef>
                <a:spcPts val="1200"/>
              </a:spcBef>
              <a:spcAft>
                <a:spcPts val="1200"/>
              </a:spcAft>
              <a:buNone/>
            </a:pPr>
            <a:r>
              <a:rPr lang="en"/>
              <a:t>There are T input cases. </a:t>
            </a:r>
            <a:endParaRPr/>
          </a:p>
        </p:txBody>
      </p:sp>
      <p:pic>
        <p:nvPicPr>
          <p:cNvPr id="76" name="Google Shape;76;p14"/>
          <p:cNvPicPr preferRelativeResize="0"/>
          <p:nvPr/>
        </p:nvPicPr>
        <p:blipFill>
          <a:blip r:embed="rId3">
            <a:alphaModFix/>
          </a:blip>
          <a:stretch>
            <a:fillRect/>
          </a:stretch>
        </p:blipFill>
        <p:spPr>
          <a:xfrm>
            <a:off x="-79802" y="1685950"/>
            <a:ext cx="5417526" cy="3240174"/>
          </a:xfrm>
          <a:prstGeom prst="rect">
            <a:avLst/>
          </a:prstGeom>
          <a:noFill/>
          <a:ln>
            <a:noFill/>
          </a:ln>
        </p:spPr>
      </p:pic>
      <p:pic>
        <p:nvPicPr>
          <p:cNvPr id="77" name="Google Shape;77;p14"/>
          <p:cNvPicPr preferRelativeResize="0"/>
          <p:nvPr/>
        </p:nvPicPr>
        <p:blipFill>
          <a:blip r:embed="rId4">
            <a:alphaModFix/>
          </a:blip>
          <a:stretch>
            <a:fillRect/>
          </a:stretch>
        </p:blipFill>
        <p:spPr>
          <a:xfrm>
            <a:off x="2554473" y="1685952"/>
            <a:ext cx="6589526" cy="3240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Bronze 1 - Brute Force</a:t>
            </a:r>
            <a:endParaRPr/>
          </a:p>
        </p:txBody>
      </p:sp>
      <p:sp>
        <p:nvSpPr>
          <p:cNvPr id="83" name="Google Shape;83;p15"/>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could try to iterate through all the numbers from 1 through N to see if each of these numbers would work. </a:t>
            </a:r>
            <a:endParaRPr/>
          </a:p>
          <a:p>
            <a:pPr indent="0" lvl="0" marL="0" rtl="0" algn="l">
              <a:spcBef>
                <a:spcPts val="1200"/>
              </a:spcBef>
              <a:spcAft>
                <a:spcPts val="0"/>
              </a:spcAft>
              <a:buNone/>
            </a:pPr>
            <a:r>
              <a:rPr lang="en"/>
              <a:t>The would be 10</a:t>
            </a:r>
            <a:r>
              <a:rPr baseline="30000" lang="en" sz="1900"/>
              <a:t>9</a:t>
            </a:r>
            <a:r>
              <a:rPr lang="en" sz="1900"/>
              <a:t> for each test case. There being a total of T (10</a:t>
            </a:r>
            <a:r>
              <a:rPr baseline="30000" lang="en" sz="1900"/>
              <a:t>5</a:t>
            </a:r>
            <a:r>
              <a:rPr lang="en" sz="1900"/>
              <a:t>) </a:t>
            </a:r>
            <a:r>
              <a:rPr lang="en" sz="1900"/>
              <a:t>test cases</a:t>
            </a:r>
            <a:r>
              <a:rPr lang="en" sz="1900"/>
              <a:t> means that there will almost certainly be a time-out.</a:t>
            </a:r>
            <a:endParaRPr sz="1900"/>
          </a:p>
          <a:p>
            <a:pPr indent="0" lvl="0" marL="0" rtl="0" algn="l">
              <a:spcBef>
                <a:spcPts val="1200"/>
              </a:spcBef>
              <a:spcAft>
                <a:spcPts val="1200"/>
              </a:spcAft>
              <a:buNone/>
            </a:pPr>
            <a:r>
              <a:rPr lang="en" sz="1900"/>
              <a:t>This solution would likely get around 30~50 points (if you did a bit of optimization)</a:t>
            </a:r>
            <a:endParaRPr sz="19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Bronze 1 - Solution</a:t>
            </a:r>
            <a:endParaRPr/>
          </a:p>
        </p:txBody>
      </p:sp>
      <p:sp>
        <p:nvSpPr>
          <p:cNvPr id="89" name="Google Shape;89;p16"/>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a:t>
            </a:r>
            <a:r>
              <a:rPr lang="en"/>
              <a:t>could</a:t>
            </a:r>
            <a:r>
              <a:rPr lang="en"/>
              <a:t> easily see from a mathematical point of view that for each 10</a:t>
            </a:r>
            <a:r>
              <a:rPr baseline="30000" lang="en"/>
              <a:t>n </a:t>
            </a:r>
            <a:r>
              <a:rPr lang="en"/>
              <a:t>through </a:t>
            </a:r>
            <a:r>
              <a:rPr lang="en"/>
              <a:t>10</a:t>
            </a:r>
            <a:r>
              <a:rPr baseline="30000" lang="en"/>
              <a:t>n+1</a:t>
            </a:r>
            <a:r>
              <a:rPr lang="en"/>
              <a:t>, a number that would have a different round would be from 444…445 (with n 4s) through 499…999 (with n 9s).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90" name="Google Shape;90;p16"/>
          <p:cNvPicPr preferRelativeResize="0"/>
          <p:nvPr/>
        </p:nvPicPr>
        <p:blipFill>
          <a:blip r:embed="rId3">
            <a:alphaModFix/>
          </a:blip>
          <a:stretch>
            <a:fillRect/>
          </a:stretch>
        </p:blipFill>
        <p:spPr>
          <a:xfrm>
            <a:off x="10950" y="3081555"/>
            <a:ext cx="9144002" cy="1234190"/>
          </a:xfrm>
          <a:prstGeom prst="rect">
            <a:avLst/>
          </a:prstGeom>
          <a:noFill/>
          <a:ln>
            <a:noFill/>
          </a:ln>
        </p:spPr>
      </p:pic>
      <p:sp>
        <p:nvSpPr>
          <p:cNvPr id="91" name="Google Shape;91;p16"/>
          <p:cNvSpPr txBox="1"/>
          <p:nvPr/>
        </p:nvSpPr>
        <p:spPr>
          <a:xfrm>
            <a:off x="471900" y="4572000"/>
            <a:ext cx="82221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lt2"/>
                </a:solidFill>
                <a:latin typeface="Roboto"/>
                <a:ea typeface="Roboto"/>
                <a:cs typeface="Roboto"/>
                <a:sym typeface="Roboto"/>
              </a:rPr>
              <a:t>With that we can construct a O(T) method of solving the problem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Bronze 2 - Problem</a:t>
            </a:r>
            <a:endParaRPr/>
          </a:p>
        </p:txBody>
      </p:sp>
      <p:sp>
        <p:nvSpPr>
          <p:cNvPr id="97" name="Google Shape;97;p17"/>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place blocks of bricks in cheese for fun.</a:t>
            </a:r>
            <a:endParaRPr/>
          </a:p>
          <a:p>
            <a:pPr indent="0" lvl="0" marL="0" rtl="0" algn="l">
              <a:spcBef>
                <a:spcPts val="1200"/>
              </a:spcBef>
              <a:spcAft>
                <a:spcPts val="0"/>
              </a:spcAft>
              <a:buNone/>
            </a:pPr>
            <a:r>
              <a:rPr lang="en"/>
              <a:t>(Also Minecraft, hoorah)</a:t>
            </a:r>
            <a:endParaRPr/>
          </a:p>
          <a:p>
            <a:pPr indent="0" lvl="0" marL="0" rtl="0" algn="l">
              <a:spcBef>
                <a:spcPts val="1200"/>
              </a:spcBef>
              <a:spcAft>
                <a:spcPts val="1200"/>
              </a:spcAft>
              <a:buNone/>
            </a:pPr>
            <a:r>
              <a:t/>
            </a:r>
            <a:endParaRPr/>
          </a:p>
        </p:txBody>
      </p:sp>
      <p:pic>
        <p:nvPicPr>
          <p:cNvPr id="98" name="Google Shape;98;p17"/>
          <p:cNvPicPr preferRelativeResize="0"/>
          <p:nvPr/>
        </p:nvPicPr>
        <p:blipFill rotWithShape="1">
          <a:blip r:embed="rId3">
            <a:alphaModFix/>
          </a:blip>
          <a:srcRect b="43691" l="0" r="0" t="0"/>
          <a:stretch/>
        </p:blipFill>
        <p:spPr>
          <a:xfrm>
            <a:off x="70775" y="139325"/>
            <a:ext cx="5841900" cy="4864825"/>
          </a:xfrm>
          <a:prstGeom prst="rect">
            <a:avLst/>
          </a:prstGeom>
          <a:noFill/>
          <a:ln>
            <a:noFill/>
          </a:ln>
        </p:spPr>
      </p:pic>
      <p:pic>
        <p:nvPicPr>
          <p:cNvPr id="99" name="Google Shape;99;p17"/>
          <p:cNvPicPr preferRelativeResize="0"/>
          <p:nvPr/>
        </p:nvPicPr>
        <p:blipFill rotWithShape="1">
          <a:blip r:embed="rId3">
            <a:alphaModFix/>
          </a:blip>
          <a:srcRect b="0" l="0" r="0" t="55735"/>
          <a:stretch/>
        </p:blipFill>
        <p:spPr>
          <a:xfrm>
            <a:off x="4385050" y="1506425"/>
            <a:ext cx="4611275" cy="30187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Bronze 2 - Brute Force</a:t>
            </a:r>
            <a:endParaRPr/>
          </a:p>
        </p:txBody>
      </p:sp>
      <p:sp>
        <p:nvSpPr>
          <p:cNvPr id="105" name="Google Shape;105;p18"/>
          <p:cNvSpPr txBox="1"/>
          <p:nvPr>
            <p:ph idx="1" type="body"/>
          </p:nvPr>
        </p:nvSpPr>
        <p:spPr>
          <a:xfrm>
            <a:off x="471900" y="1919075"/>
            <a:ext cx="8222100" cy="326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each cube removed, we can record on the three planes (xy, xz, and yz) that there was a cube removed here. </a:t>
            </a:r>
            <a:endParaRPr/>
          </a:p>
          <a:p>
            <a:pPr indent="0" lvl="0" marL="0" rtl="0" algn="l">
              <a:spcBef>
                <a:spcPts val="1200"/>
              </a:spcBef>
              <a:spcAft>
                <a:spcPts val="0"/>
              </a:spcAft>
              <a:buNone/>
            </a:pPr>
            <a:r>
              <a:rPr lang="en"/>
              <a:t>We can do a basic simulation that checks if each face’s each squares can fit a piece of brick inside it. </a:t>
            </a:r>
            <a:endParaRPr/>
          </a:p>
          <a:p>
            <a:pPr indent="0" lvl="0" marL="0" rtl="0" algn="l">
              <a:spcBef>
                <a:spcPts val="1200"/>
              </a:spcBef>
              <a:spcAft>
                <a:spcPts val="1200"/>
              </a:spcAft>
              <a:buNone/>
            </a:pPr>
            <a:r>
              <a:t/>
            </a:r>
            <a:endParaRPr/>
          </a:p>
        </p:txBody>
      </p:sp>
      <p:sp>
        <p:nvSpPr>
          <p:cNvPr id="106" name="Google Shape;106;p18"/>
          <p:cNvSpPr/>
          <p:nvPr/>
        </p:nvSpPr>
        <p:spPr>
          <a:xfrm>
            <a:off x="6970300" y="3066225"/>
            <a:ext cx="1675800" cy="1614000"/>
          </a:xfrm>
          <a:prstGeom prst="cube">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7" name="Google Shape;107;p18"/>
          <p:cNvSpPr txBox="1"/>
          <p:nvPr/>
        </p:nvSpPr>
        <p:spPr>
          <a:xfrm>
            <a:off x="471900" y="3352800"/>
            <a:ext cx="8222100" cy="187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lt2"/>
                </a:solidFill>
                <a:latin typeface="Roboto"/>
                <a:ea typeface="Roboto"/>
                <a:cs typeface="Roboto"/>
                <a:sym typeface="Roboto"/>
              </a:rPr>
              <a:t>This would mean a total of O(N</a:t>
            </a:r>
            <a:r>
              <a:rPr baseline="30000" lang="en" sz="1800">
                <a:solidFill>
                  <a:schemeClr val="lt2"/>
                </a:solidFill>
                <a:latin typeface="Roboto"/>
                <a:ea typeface="Roboto"/>
                <a:cs typeface="Roboto"/>
                <a:sym typeface="Roboto"/>
              </a:rPr>
              <a:t>2</a:t>
            </a:r>
            <a:r>
              <a:rPr lang="en" sz="1800">
                <a:solidFill>
                  <a:schemeClr val="lt2"/>
                </a:solidFill>
                <a:latin typeface="Roboto"/>
                <a:ea typeface="Roboto"/>
                <a:cs typeface="Roboto"/>
                <a:sym typeface="Roboto"/>
              </a:rPr>
              <a:t>Q)</a:t>
            </a:r>
            <a:endParaRPr sz="1800">
              <a:solidFill>
                <a:schemeClr val="lt2"/>
              </a:solidFill>
              <a:latin typeface="Roboto"/>
              <a:ea typeface="Roboto"/>
              <a:cs typeface="Roboto"/>
              <a:sym typeface="Roboto"/>
            </a:endParaRPr>
          </a:p>
          <a:p>
            <a:pPr indent="0" lvl="0" marL="0" rtl="0" algn="l">
              <a:lnSpc>
                <a:spcPct val="115000"/>
              </a:lnSpc>
              <a:spcBef>
                <a:spcPts val="1200"/>
              </a:spcBef>
              <a:spcAft>
                <a:spcPts val="0"/>
              </a:spcAft>
              <a:buNone/>
            </a:pPr>
            <a:r>
              <a:rPr lang="en" sz="1800">
                <a:solidFill>
                  <a:schemeClr val="lt2"/>
                </a:solidFill>
                <a:latin typeface="Roboto"/>
                <a:ea typeface="Roboto"/>
                <a:cs typeface="Roboto"/>
                <a:sym typeface="Roboto"/>
              </a:rPr>
              <a:t>(N</a:t>
            </a:r>
            <a:r>
              <a:rPr baseline="30000" lang="en" sz="1800">
                <a:solidFill>
                  <a:schemeClr val="lt2"/>
                </a:solidFill>
                <a:latin typeface="Roboto"/>
                <a:ea typeface="Roboto"/>
                <a:cs typeface="Roboto"/>
                <a:sym typeface="Roboto"/>
              </a:rPr>
              <a:t>2</a:t>
            </a:r>
            <a:r>
              <a:rPr lang="en" sz="1800">
                <a:solidFill>
                  <a:schemeClr val="lt2"/>
                </a:solidFill>
                <a:latin typeface="Roboto"/>
                <a:ea typeface="Roboto"/>
                <a:cs typeface="Roboto"/>
                <a:sym typeface="Roboto"/>
              </a:rPr>
              <a:t> for checking each square on each face)</a:t>
            </a:r>
            <a:endParaRPr sz="1800">
              <a:solidFill>
                <a:schemeClr val="lt2"/>
              </a:solidFill>
              <a:latin typeface="Roboto"/>
              <a:ea typeface="Roboto"/>
              <a:cs typeface="Roboto"/>
              <a:sym typeface="Roboto"/>
            </a:endParaRPr>
          </a:p>
          <a:p>
            <a:pPr indent="0" lvl="0" marL="0" rtl="0" algn="l">
              <a:lnSpc>
                <a:spcPct val="115000"/>
              </a:lnSpc>
              <a:spcBef>
                <a:spcPts val="1200"/>
              </a:spcBef>
              <a:spcAft>
                <a:spcPts val="0"/>
              </a:spcAft>
              <a:buNone/>
            </a:pPr>
            <a:r>
              <a:rPr lang="en" sz="1800">
                <a:solidFill>
                  <a:schemeClr val="lt2"/>
                </a:solidFill>
                <a:latin typeface="Roboto"/>
                <a:ea typeface="Roboto"/>
                <a:cs typeface="Roboto"/>
                <a:sym typeface="Roboto"/>
              </a:rPr>
              <a:t>(Q for the total number of operations)</a:t>
            </a:r>
            <a:endParaRPr sz="1800">
              <a:solidFill>
                <a:schemeClr val="lt2"/>
              </a:solidFill>
              <a:latin typeface="Roboto"/>
              <a:ea typeface="Roboto"/>
              <a:cs typeface="Roboto"/>
              <a:sym typeface="Roboto"/>
            </a:endParaRPr>
          </a:p>
          <a:p>
            <a:pPr indent="0" lvl="0" marL="0" rtl="0" algn="l">
              <a:lnSpc>
                <a:spcPct val="115000"/>
              </a:lnSpc>
              <a:spcBef>
                <a:spcPts val="1200"/>
              </a:spcBef>
              <a:spcAft>
                <a:spcPts val="1200"/>
              </a:spcAft>
              <a:buNone/>
            </a:pPr>
            <a:r>
              <a:rPr lang="en" sz="1800">
                <a:solidFill>
                  <a:schemeClr val="lt2"/>
                </a:solidFill>
                <a:latin typeface="Roboto"/>
                <a:ea typeface="Roboto"/>
                <a:cs typeface="Roboto"/>
                <a:sym typeface="Roboto"/>
              </a:rPr>
              <a:t>This should get around half of the points</a:t>
            </a:r>
            <a:endParaRPr sz="1800">
              <a:solidFill>
                <a:schemeClr val="lt2"/>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Bronze 2 - Solution</a:t>
            </a:r>
            <a:endParaRPr/>
          </a:p>
        </p:txBody>
      </p:sp>
      <p:sp>
        <p:nvSpPr>
          <p:cNvPr id="113" name="Google Shape;113;p19"/>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That method on the last slide was a bit slow, but we can optimize it. </a:t>
            </a:r>
            <a:endParaRPr/>
          </a:p>
          <a:p>
            <a:pPr indent="0" lvl="0" marL="0" rtl="0" algn="l">
              <a:spcBef>
                <a:spcPts val="1200"/>
              </a:spcBef>
              <a:spcAft>
                <a:spcPts val="0"/>
              </a:spcAft>
              <a:buNone/>
            </a:pPr>
            <a:r>
              <a:rPr lang="en"/>
              <a:t>We realize that we don’t exactly need to check each square, but instead only check the squares that were operated on. </a:t>
            </a:r>
            <a:endParaRPr/>
          </a:p>
          <a:p>
            <a:pPr indent="0" lvl="0" marL="0" rtl="0" algn="l">
              <a:spcBef>
                <a:spcPts val="1200"/>
              </a:spcBef>
              <a:spcAft>
                <a:spcPts val="1200"/>
              </a:spcAft>
              <a:buNone/>
            </a:pPr>
            <a:r>
              <a:rPr lang="en"/>
              <a:t>This reduces the code’s time complexity to O(Q)</a:t>
            </a:r>
            <a:endParaRPr/>
          </a:p>
        </p:txBody>
      </p:sp>
      <p:pic>
        <p:nvPicPr>
          <p:cNvPr id="114" name="Google Shape;114;p19"/>
          <p:cNvPicPr preferRelativeResize="0"/>
          <p:nvPr/>
        </p:nvPicPr>
        <p:blipFill>
          <a:blip r:embed="rId3">
            <a:alphaModFix/>
          </a:blip>
          <a:stretch>
            <a:fillRect/>
          </a:stretch>
        </p:blipFill>
        <p:spPr>
          <a:xfrm>
            <a:off x="5479025" y="3429650"/>
            <a:ext cx="3534026" cy="1587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ph type="title"/>
          </p:nvPr>
        </p:nvSpPr>
        <p:spPr>
          <a:xfrm>
            <a:off x="186150" y="156650"/>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Bronze 3 - Problem</a:t>
            </a:r>
            <a:endParaRPr/>
          </a:p>
        </p:txBody>
      </p:sp>
      <p:sp>
        <p:nvSpPr>
          <p:cNvPr id="120" name="Google Shape;120;p20"/>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1" name="Google Shape;121;p20"/>
          <p:cNvPicPr preferRelativeResize="0"/>
          <p:nvPr/>
        </p:nvPicPr>
        <p:blipFill>
          <a:blip r:embed="rId3">
            <a:alphaModFix/>
          </a:blip>
          <a:stretch>
            <a:fillRect/>
          </a:stretch>
        </p:blipFill>
        <p:spPr>
          <a:xfrm>
            <a:off x="-152400" y="924350"/>
            <a:ext cx="5285838" cy="4272126"/>
          </a:xfrm>
          <a:prstGeom prst="rect">
            <a:avLst/>
          </a:prstGeom>
          <a:noFill/>
          <a:ln>
            <a:noFill/>
          </a:ln>
        </p:spPr>
      </p:pic>
      <p:pic>
        <p:nvPicPr>
          <p:cNvPr id="122" name="Google Shape;122;p20"/>
          <p:cNvPicPr preferRelativeResize="0"/>
          <p:nvPr/>
        </p:nvPicPr>
        <p:blipFill>
          <a:blip r:embed="rId4">
            <a:alphaModFix/>
          </a:blip>
          <a:stretch>
            <a:fillRect/>
          </a:stretch>
        </p:blipFill>
        <p:spPr>
          <a:xfrm>
            <a:off x="4981047" y="-26487"/>
            <a:ext cx="5800077" cy="5196475"/>
          </a:xfrm>
          <a:prstGeom prst="rect">
            <a:avLst/>
          </a:prstGeom>
          <a:noFill/>
          <a:ln>
            <a:noFill/>
          </a:ln>
        </p:spPr>
      </p:pic>
      <p:pic>
        <p:nvPicPr>
          <p:cNvPr id="123" name="Google Shape;123;p20"/>
          <p:cNvPicPr preferRelativeResize="0"/>
          <p:nvPr/>
        </p:nvPicPr>
        <p:blipFill>
          <a:blip r:embed="rId5">
            <a:alphaModFix/>
          </a:blip>
          <a:stretch>
            <a:fillRect/>
          </a:stretch>
        </p:blipFill>
        <p:spPr>
          <a:xfrm>
            <a:off x="6512275" y="3437475"/>
            <a:ext cx="2631725" cy="886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1"/>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Bronze 3 - Solution</a:t>
            </a:r>
            <a:endParaRPr/>
          </a:p>
        </p:txBody>
      </p:sp>
      <p:sp>
        <p:nvSpPr>
          <p:cNvPr id="129" name="Google Shape;129;p21"/>
          <p:cNvSpPr txBox="1"/>
          <p:nvPr>
            <p:ph idx="1" type="body"/>
          </p:nvPr>
        </p:nvSpPr>
        <p:spPr>
          <a:xfrm>
            <a:off x="0" y="1770250"/>
            <a:ext cx="9144000" cy="388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t>We could easily just simulate this process, with a bit of optimization. </a:t>
            </a:r>
            <a:endParaRPr sz="1600"/>
          </a:p>
          <a:p>
            <a:pPr indent="0" lvl="0" marL="0" rtl="0" algn="l">
              <a:spcBef>
                <a:spcPts val="1200"/>
              </a:spcBef>
              <a:spcAft>
                <a:spcPts val="0"/>
              </a:spcAft>
              <a:buNone/>
            </a:pPr>
            <a:r>
              <a:rPr lang="en" sz="1600"/>
              <a:t>We go through the entire string first and see how many types of moos (and their frequencies) there are</a:t>
            </a:r>
            <a:endParaRPr sz="1600"/>
          </a:p>
          <a:p>
            <a:pPr indent="0" lvl="0" marL="0" rtl="0" algn="l">
              <a:spcBef>
                <a:spcPts val="1200"/>
              </a:spcBef>
              <a:spcAft>
                <a:spcPts val="0"/>
              </a:spcAft>
              <a:buNone/>
            </a:pPr>
            <a:r>
              <a:rPr lang="en" sz="1600"/>
              <a:t>We store this frequency into a 30x30 2D array</a:t>
            </a:r>
            <a:endParaRPr sz="1600"/>
          </a:p>
          <a:p>
            <a:pPr indent="0" lvl="0" marL="0" rtl="0" algn="l">
              <a:spcBef>
                <a:spcPts val="1200"/>
              </a:spcBef>
              <a:spcAft>
                <a:spcPts val="0"/>
              </a:spcAft>
              <a:buNone/>
            </a:pPr>
            <a:r>
              <a:rPr lang="en" sz="1600"/>
              <a:t>Then we go through each character in the string again, replacing each character with another character in the alphabet and see how that would impact the frequency overall.</a:t>
            </a:r>
            <a:endParaRPr sz="1600"/>
          </a:p>
          <a:p>
            <a:pPr indent="0" lvl="0" marL="0" rtl="0" algn="l">
              <a:spcBef>
                <a:spcPts val="1200"/>
              </a:spcBef>
              <a:spcAft>
                <a:spcPts val="0"/>
              </a:spcAft>
              <a:buNone/>
            </a:pPr>
            <a:r>
              <a:rPr lang="en" sz="1600"/>
              <a:t>We record the moos that have a frequency more than F each time we change characters</a:t>
            </a:r>
            <a:endParaRPr sz="1600"/>
          </a:p>
          <a:p>
            <a:pPr indent="0" lvl="0" marL="0" rtl="0" algn="l">
              <a:spcBef>
                <a:spcPts val="1200"/>
              </a:spcBef>
              <a:spcAft>
                <a:spcPts val="1200"/>
              </a:spcAft>
              <a:buNone/>
            </a:pPr>
            <a:r>
              <a:rPr lang="en" sz="1600"/>
              <a:t>(Can use method from T2, only focus on the moos that have their frequencies changed)</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Silver 1 - Problem</a:t>
            </a:r>
            <a:endParaRPr/>
          </a:p>
        </p:txBody>
      </p:sp>
      <p:pic>
        <p:nvPicPr>
          <p:cNvPr id="135" name="Google Shape;135;p22"/>
          <p:cNvPicPr preferRelativeResize="0"/>
          <p:nvPr/>
        </p:nvPicPr>
        <p:blipFill>
          <a:blip r:embed="rId3">
            <a:alphaModFix/>
          </a:blip>
          <a:stretch>
            <a:fillRect/>
          </a:stretch>
        </p:blipFill>
        <p:spPr>
          <a:xfrm>
            <a:off x="0" y="1722425"/>
            <a:ext cx="5040451" cy="2690226"/>
          </a:xfrm>
          <a:prstGeom prst="rect">
            <a:avLst/>
          </a:prstGeom>
          <a:noFill/>
          <a:ln>
            <a:noFill/>
          </a:ln>
        </p:spPr>
      </p:pic>
      <p:pic>
        <p:nvPicPr>
          <p:cNvPr id="136" name="Google Shape;136;p22"/>
          <p:cNvPicPr preferRelativeResize="0"/>
          <p:nvPr/>
        </p:nvPicPr>
        <p:blipFill rotWithShape="1">
          <a:blip r:embed="rId4">
            <a:alphaModFix/>
          </a:blip>
          <a:srcRect b="-21937" l="-10708" r="-37814" t="-26585"/>
          <a:stretch/>
        </p:blipFill>
        <p:spPr>
          <a:xfrm>
            <a:off x="4572000" y="1026925"/>
            <a:ext cx="6198326" cy="38625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Silver 1- Idea</a:t>
            </a:r>
            <a:endParaRPr/>
          </a:p>
        </p:txBody>
      </p:sp>
      <p:sp>
        <p:nvSpPr>
          <p:cNvPr id="142" name="Google Shape;142;p23"/>
          <p:cNvSpPr txBox="1"/>
          <p:nvPr>
            <p:ph idx="1" type="body"/>
          </p:nvPr>
        </p:nvSpPr>
        <p:spPr>
          <a:xfrm>
            <a:off x="460950" y="177802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 observe that Bessie wants to keep her stack for herself (if Elsie takes her stack of cakes, all of her work would be for nothing). We can then observe that to preserve her cake stack, Bessie must combine the middle two cakes, and </a:t>
            </a:r>
            <a:r>
              <a:rPr lang="en"/>
              <a:t>the rest of her moves would be dictated by that of Elsie’s. Thus, we only need to look at Elsie’s optimal solution. This could be done via prefix and postfix sums.</a:t>
            </a:r>
            <a:endParaRPr/>
          </a:p>
        </p:txBody>
      </p:sp>
      <p:sp>
        <p:nvSpPr>
          <p:cNvPr id="143" name="Google Shape;143;p23"/>
          <p:cNvSpPr/>
          <p:nvPr/>
        </p:nvSpPr>
        <p:spPr>
          <a:xfrm>
            <a:off x="6275025" y="4192650"/>
            <a:ext cx="452700" cy="412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16</a:t>
            </a:r>
            <a:endParaRPr>
              <a:latin typeface="Roboto"/>
              <a:ea typeface="Roboto"/>
              <a:cs typeface="Roboto"/>
              <a:sym typeface="Roboto"/>
            </a:endParaRPr>
          </a:p>
        </p:txBody>
      </p:sp>
      <p:sp>
        <p:nvSpPr>
          <p:cNvPr id="144" name="Google Shape;144;p23"/>
          <p:cNvSpPr/>
          <p:nvPr/>
        </p:nvSpPr>
        <p:spPr>
          <a:xfrm>
            <a:off x="6727478" y="4192650"/>
            <a:ext cx="452700" cy="412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15</a:t>
            </a:r>
            <a:endParaRPr>
              <a:latin typeface="Roboto"/>
              <a:ea typeface="Roboto"/>
              <a:cs typeface="Roboto"/>
              <a:sym typeface="Roboto"/>
            </a:endParaRPr>
          </a:p>
        </p:txBody>
      </p:sp>
      <p:sp>
        <p:nvSpPr>
          <p:cNvPr id="145" name="Google Shape;145;p23"/>
          <p:cNvSpPr/>
          <p:nvPr/>
        </p:nvSpPr>
        <p:spPr>
          <a:xfrm>
            <a:off x="7179931" y="4192650"/>
            <a:ext cx="452700" cy="412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14</a:t>
            </a:r>
            <a:endParaRPr>
              <a:latin typeface="Roboto"/>
              <a:ea typeface="Roboto"/>
              <a:cs typeface="Roboto"/>
              <a:sym typeface="Roboto"/>
            </a:endParaRPr>
          </a:p>
        </p:txBody>
      </p:sp>
      <p:sp>
        <p:nvSpPr>
          <p:cNvPr id="146" name="Google Shape;146;p23"/>
          <p:cNvSpPr/>
          <p:nvPr/>
        </p:nvSpPr>
        <p:spPr>
          <a:xfrm>
            <a:off x="7632396" y="4192650"/>
            <a:ext cx="452700" cy="412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10</a:t>
            </a:r>
            <a:endParaRPr>
              <a:latin typeface="Roboto"/>
              <a:ea typeface="Roboto"/>
              <a:cs typeface="Roboto"/>
              <a:sym typeface="Roboto"/>
            </a:endParaRPr>
          </a:p>
        </p:txBody>
      </p:sp>
      <p:sp>
        <p:nvSpPr>
          <p:cNvPr id="147" name="Google Shape;147;p23"/>
          <p:cNvSpPr/>
          <p:nvPr/>
        </p:nvSpPr>
        <p:spPr>
          <a:xfrm>
            <a:off x="8084849" y="4192650"/>
            <a:ext cx="452700" cy="412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p:txBody>
      </p:sp>
      <p:sp>
        <p:nvSpPr>
          <p:cNvPr id="148" name="Google Shape;148;p23"/>
          <p:cNvSpPr/>
          <p:nvPr/>
        </p:nvSpPr>
        <p:spPr>
          <a:xfrm>
            <a:off x="8537302" y="4192650"/>
            <a:ext cx="452700" cy="412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4</a:t>
            </a:r>
            <a:endParaRPr>
              <a:latin typeface="Roboto"/>
              <a:ea typeface="Roboto"/>
              <a:cs typeface="Roboto"/>
              <a:sym typeface="Roboto"/>
            </a:endParaRPr>
          </a:p>
        </p:txBody>
      </p:sp>
      <p:sp>
        <p:nvSpPr>
          <p:cNvPr id="149" name="Google Shape;149;p23"/>
          <p:cNvSpPr/>
          <p:nvPr/>
        </p:nvSpPr>
        <p:spPr>
          <a:xfrm>
            <a:off x="3214513" y="4192650"/>
            <a:ext cx="452700" cy="412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sp>
        <p:nvSpPr>
          <p:cNvPr id="150" name="Google Shape;150;p23"/>
          <p:cNvSpPr/>
          <p:nvPr/>
        </p:nvSpPr>
        <p:spPr>
          <a:xfrm>
            <a:off x="3666966" y="4192650"/>
            <a:ext cx="452700" cy="412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2</a:t>
            </a:r>
            <a:endParaRPr>
              <a:latin typeface="Roboto"/>
              <a:ea typeface="Roboto"/>
              <a:cs typeface="Roboto"/>
              <a:sym typeface="Roboto"/>
            </a:endParaRPr>
          </a:p>
        </p:txBody>
      </p:sp>
      <p:sp>
        <p:nvSpPr>
          <p:cNvPr id="151" name="Google Shape;151;p23"/>
          <p:cNvSpPr/>
          <p:nvPr/>
        </p:nvSpPr>
        <p:spPr>
          <a:xfrm>
            <a:off x="4119418" y="4192650"/>
            <a:ext cx="452700" cy="412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6</a:t>
            </a:r>
            <a:endParaRPr>
              <a:latin typeface="Roboto"/>
              <a:ea typeface="Roboto"/>
              <a:cs typeface="Roboto"/>
              <a:sym typeface="Roboto"/>
            </a:endParaRPr>
          </a:p>
        </p:txBody>
      </p:sp>
      <p:sp>
        <p:nvSpPr>
          <p:cNvPr id="152" name="Google Shape;152;p23"/>
          <p:cNvSpPr/>
          <p:nvPr/>
        </p:nvSpPr>
        <p:spPr>
          <a:xfrm>
            <a:off x="4571884" y="4192650"/>
            <a:ext cx="452700" cy="412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11</a:t>
            </a:r>
            <a:endParaRPr>
              <a:latin typeface="Roboto"/>
              <a:ea typeface="Roboto"/>
              <a:cs typeface="Roboto"/>
              <a:sym typeface="Roboto"/>
            </a:endParaRPr>
          </a:p>
        </p:txBody>
      </p:sp>
      <p:sp>
        <p:nvSpPr>
          <p:cNvPr id="153" name="Google Shape;153;p23"/>
          <p:cNvSpPr/>
          <p:nvPr/>
        </p:nvSpPr>
        <p:spPr>
          <a:xfrm>
            <a:off x="5024337" y="4192650"/>
            <a:ext cx="452700" cy="412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12</a:t>
            </a:r>
            <a:endParaRPr>
              <a:latin typeface="Roboto"/>
              <a:ea typeface="Roboto"/>
              <a:cs typeface="Roboto"/>
              <a:sym typeface="Roboto"/>
            </a:endParaRPr>
          </a:p>
        </p:txBody>
      </p:sp>
      <p:sp>
        <p:nvSpPr>
          <p:cNvPr id="154" name="Google Shape;154;p23"/>
          <p:cNvSpPr/>
          <p:nvPr/>
        </p:nvSpPr>
        <p:spPr>
          <a:xfrm>
            <a:off x="5476790" y="4192650"/>
            <a:ext cx="452700" cy="412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16</a:t>
            </a:r>
            <a:endParaRPr>
              <a:latin typeface="Roboto"/>
              <a:ea typeface="Roboto"/>
              <a:cs typeface="Roboto"/>
              <a:sym typeface="Roboto"/>
            </a:endParaRPr>
          </a:p>
        </p:txBody>
      </p:sp>
      <p:sp>
        <p:nvSpPr>
          <p:cNvPr id="155" name="Google Shape;155;p23"/>
          <p:cNvSpPr/>
          <p:nvPr/>
        </p:nvSpPr>
        <p:spPr>
          <a:xfrm>
            <a:off x="154000" y="4192650"/>
            <a:ext cx="452700" cy="412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sp>
        <p:nvSpPr>
          <p:cNvPr id="156" name="Google Shape;156;p23"/>
          <p:cNvSpPr/>
          <p:nvPr/>
        </p:nvSpPr>
        <p:spPr>
          <a:xfrm>
            <a:off x="606453" y="4192650"/>
            <a:ext cx="452700" cy="412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sp>
        <p:nvSpPr>
          <p:cNvPr id="157" name="Google Shape;157;p23"/>
          <p:cNvSpPr/>
          <p:nvPr/>
        </p:nvSpPr>
        <p:spPr>
          <a:xfrm>
            <a:off x="1058906" y="4192650"/>
            <a:ext cx="452700" cy="412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4</a:t>
            </a:r>
            <a:endParaRPr>
              <a:latin typeface="Roboto"/>
              <a:ea typeface="Roboto"/>
              <a:cs typeface="Roboto"/>
              <a:sym typeface="Roboto"/>
            </a:endParaRPr>
          </a:p>
        </p:txBody>
      </p:sp>
      <p:sp>
        <p:nvSpPr>
          <p:cNvPr id="158" name="Google Shape;158;p23"/>
          <p:cNvSpPr/>
          <p:nvPr/>
        </p:nvSpPr>
        <p:spPr>
          <a:xfrm>
            <a:off x="1511371" y="4192650"/>
            <a:ext cx="452700" cy="412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p:txBody>
      </p:sp>
      <p:sp>
        <p:nvSpPr>
          <p:cNvPr id="159" name="Google Shape;159;p23"/>
          <p:cNvSpPr/>
          <p:nvPr/>
        </p:nvSpPr>
        <p:spPr>
          <a:xfrm>
            <a:off x="1963824" y="4192650"/>
            <a:ext cx="452700" cy="412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sp>
        <p:nvSpPr>
          <p:cNvPr id="160" name="Google Shape;160;p23"/>
          <p:cNvSpPr/>
          <p:nvPr/>
        </p:nvSpPr>
        <p:spPr>
          <a:xfrm>
            <a:off x="2416277" y="4192650"/>
            <a:ext cx="452700" cy="412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4</a:t>
            </a:r>
            <a:endParaRPr>
              <a:latin typeface="Roboto"/>
              <a:ea typeface="Roboto"/>
              <a:cs typeface="Roboto"/>
              <a:sym typeface="Roboto"/>
            </a:endParaRPr>
          </a:p>
        </p:txBody>
      </p:sp>
      <p:sp>
        <p:nvSpPr>
          <p:cNvPr id="161" name="Google Shape;161;p23"/>
          <p:cNvSpPr txBox="1"/>
          <p:nvPr/>
        </p:nvSpPr>
        <p:spPr>
          <a:xfrm>
            <a:off x="1058900" y="3659250"/>
            <a:ext cx="45720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Roboto"/>
                <a:ea typeface="Roboto"/>
                <a:cs typeface="Roboto"/>
                <a:sym typeface="Roboto"/>
              </a:rPr>
              <a:t>Original</a:t>
            </a:r>
            <a:endParaRPr sz="1800">
              <a:solidFill>
                <a:schemeClr val="lt2"/>
              </a:solidFill>
              <a:latin typeface="Roboto"/>
              <a:ea typeface="Roboto"/>
              <a:cs typeface="Roboto"/>
              <a:sym typeface="Roboto"/>
            </a:endParaRPr>
          </a:p>
        </p:txBody>
      </p:sp>
      <p:sp>
        <p:nvSpPr>
          <p:cNvPr id="162" name="Google Shape;162;p23"/>
          <p:cNvSpPr txBox="1"/>
          <p:nvPr/>
        </p:nvSpPr>
        <p:spPr>
          <a:xfrm>
            <a:off x="3913025" y="3659250"/>
            <a:ext cx="45720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Roboto"/>
                <a:ea typeface="Roboto"/>
                <a:cs typeface="Roboto"/>
                <a:sym typeface="Roboto"/>
              </a:rPr>
              <a:t>Prefix Sums</a:t>
            </a:r>
            <a:endParaRPr sz="1800">
              <a:solidFill>
                <a:schemeClr val="lt2"/>
              </a:solidFill>
              <a:latin typeface="Roboto"/>
              <a:ea typeface="Roboto"/>
              <a:cs typeface="Roboto"/>
              <a:sym typeface="Roboto"/>
            </a:endParaRPr>
          </a:p>
        </p:txBody>
      </p:sp>
      <p:sp>
        <p:nvSpPr>
          <p:cNvPr id="163" name="Google Shape;163;p23"/>
          <p:cNvSpPr txBox="1"/>
          <p:nvPr/>
        </p:nvSpPr>
        <p:spPr>
          <a:xfrm>
            <a:off x="6849063" y="3659250"/>
            <a:ext cx="15669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Roboto"/>
                <a:ea typeface="Roboto"/>
                <a:cs typeface="Roboto"/>
                <a:sym typeface="Roboto"/>
              </a:rPr>
              <a:t>Postfix Sums</a:t>
            </a:r>
            <a:endParaRPr sz="1800">
              <a:solidFill>
                <a:schemeClr val="lt2"/>
              </a:solidFill>
              <a:latin typeface="Roboto"/>
              <a:ea typeface="Roboto"/>
              <a:cs typeface="Roboto"/>
              <a:sym typeface="Roboto"/>
            </a:endParaRPr>
          </a:p>
        </p:txBody>
      </p:sp>
      <p:sp>
        <p:nvSpPr>
          <p:cNvPr id="164" name="Google Shape;164;p23"/>
          <p:cNvSpPr txBox="1"/>
          <p:nvPr/>
        </p:nvSpPr>
        <p:spPr>
          <a:xfrm>
            <a:off x="154000" y="4643450"/>
            <a:ext cx="89265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2"/>
                </a:solidFill>
                <a:latin typeface="Roboto"/>
                <a:ea typeface="Roboto"/>
                <a:cs typeface="Roboto"/>
                <a:sym typeface="Roboto"/>
              </a:rPr>
              <a:t>   0          1           2           3           4           5                     0           1          2           3           4          5                      0           1          2           3           4           5</a:t>
            </a:r>
            <a:endParaRPr sz="1100">
              <a:solidFill>
                <a:schemeClr val="lt2"/>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Silver 1 - Code</a:t>
            </a:r>
            <a:endParaRPr/>
          </a:p>
        </p:txBody>
      </p:sp>
      <p:pic>
        <p:nvPicPr>
          <p:cNvPr id="170" name="Google Shape;170;p24"/>
          <p:cNvPicPr preferRelativeResize="0"/>
          <p:nvPr/>
        </p:nvPicPr>
        <p:blipFill>
          <a:blip r:embed="rId3">
            <a:alphaModFix/>
          </a:blip>
          <a:stretch>
            <a:fillRect/>
          </a:stretch>
        </p:blipFill>
        <p:spPr>
          <a:xfrm>
            <a:off x="3851075" y="59438"/>
            <a:ext cx="3779601" cy="50246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Silver 2 - Problem</a:t>
            </a:r>
            <a:endParaRPr/>
          </a:p>
        </p:txBody>
      </p:sp>
      <p:pic>
        <p:nvPicPr>
          <p:cNvPr id="176" name="Google Shape;176;p25"/>
          <p:cNvPicPr preferRelativeResize="0"/>
          <p:nvPr/>
        </p:nvPicPr>
        <p:blipFill rotWithShape="1">
          <a:blip r:embed="rId3">
            <a:alphaModFix/>
          </a:blip>
          <a:srcRect b="59588" l="0" r="0" t="0"/>
          <a:stretch/>
        </p:blipFill>
        <p:spPr>
          <a:xfrm>
            <a:off x="331000" y="1973475"/>
            <a:ext cx="4279827" cy="2230574"/>
          </a:xfrm>
          <a:prstGeom prst="rect">
            <a:avLst/>
          </a:prstGeom>
          <a:noFill/>
          <a:ln>
            <a:noFill/>
          </a:ln>
        </p:spPr>
      </p:pic>
      <p:pic>
        <p:nvPicPr>
          <p:cNvPr id="177" name="Google Shape;177;p25"/>
          <p:cNvPicPr preferRelativeResize="0"/>
          <p:nvPr/>
        </p:nvPicPr>
        <p:blipFill rotWithShape="1">
          <a:blip r:embed="rId3">
            <a:alphaModFix/>
          </a:blip>
          <a:srcRect b="0" l="0" r="0" t="40554"/>
          <a:stretch/>
        </p:blipFill>
        <p:spPr>
          <a:xfrm>
            <a:off x="4687750" y="1013950"/>
            <a:ext cx="4210951" cy="32284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Silver 2 - Solution</a:t>
            </a:r>
            <a:endParaRPr/>
          </a:p>
        </p:txBody>
      </p:sp>
      <p:sp>
        <p:nvSpPr>
          <p:cNvPr id="183" name="Google Shape;183;p26"/>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sort all the intervals with restrictions by their RIGHT ENDPOINT</a:t>
            </a:r>
            <a:endParaRPr/>
          </a:p>
          <a:p>
            <a:pPr indent="0" lvl="0" marL="0" rtl="0" algn="l">
              <a:spcBef>
                <a:spcPts val="1200"/>
              </a:spcBef>
              <a:spcAft>
                <a:spcPts val="0"/>
              </a:spcAft>
              <a:buNone/>
            </a:pPr>
            <a:r>
              <a:rPr lang="en"/>
              <a:t>Then, we traverse these intervals from left to right according to their new order, looking for which trees to KEEP: we always choose the right-most [number of extra trees needed] trees.</a:t>
            </a:r>
            <a:endParaRPr/>
          </a:p>
          <a:p>
            <a:pPr indent="0" lvl="0" marL="0" rtl="0" algn="l">
              <a:spcBef>
                <a:spcPts val="1200"/>
              </a:spcBef>
              <a:spcAft>
                <a:spcPts val="1200"/>
              </a:spcAft>
              <a:buNone/>
            </a:pPr>
            <a:r>
              <a:rPr lang="en"/>
              <a:t>We can use a Fenwick Tree to keep track of the chosen trees (and to quickly access range queries). Of course, there are other data structures that can update and find range query in log(n)...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Silver 2 - Fenwick Trees</a:t>
            </a:r>
            <a:endParaRPr/>
          </a:p>
        </p:txBody>
      </p:sp>
      <p:sp>
        <p:nvSpPr>
          <p:cNvPr id="189" name="Google Shape;189;p27"/>
          <p:cNvSpPr txBox="1"/>
          <p:nvPr>
            <p:ph idx="1" type="body"/>
          </p:nvPr>
        </p:nvSpPr>
        <p:spPr>
          <a:xfrm>
            <a:off x="471900" y="1799050"/>
            <a:ext cx="4100100" cy="28302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To change any </a:t>
            </a:r>
            <a:r>
              <a:rPr lang="en"/>
              <a:t>element, we add to the line of intervals; keep adding the least significant set bit:</a:t>
            </a:r>
            <a:endParaRPr/>
          </a:p>
          <a:p>
            <a:pPr indent="0" lvl="0" marL="0" rtl="0" algn="l">
              <a:spcBef>
                <a:spcPts val="1200"/>
              </a:spcBef>
              <a:spcAft>
                <a:spcPts val="0"/>
              </a:spcAft>
              <a:buNone/>
            </a:pPr>
            <a:r>
              <a:rPr lang="en"/>
              <a:t>11101</a:t>
            </a:r>
            <a:r>
              <a:rPr lang="en">
                <a:solidFill>
                  <a:schemeClr val="accent3"/>
                </a:solidFill>
              </a:rPr>
              <a:t>1</a:t>
            </a:r>
            <a:r>
              <a:rPr lang="en"/>
              <a:t>; 111</a:t>
            </a:r>
            <a:r>
              <a:rPr lang="en">
                <a:solidFill>
                  <a:schemeClr val="accent3"/>
                </a:solidFill>
              </a:rPr>
              <a:t>1</a:t>
            </a:r>
            <a:r>
              <a:rPr lang="en"/>
              <a:t>00; 1000000;</a:t>
            </a:r>
            <a:endParaRPr/>
          </a:p>
          <a:p>
            <a:pPr indent="0" lvl="0" marL="0" rtl="0" algn="l">
              <a:spcBef>
                <a:spcPts val="1200"/>
              </a:spcBef>
              <a:spcAft>
                <a:spcPts val="0"/>
              </a:spcAft>
              <a:buNone/>
            </a:pPr>
            <a:r>
              <a:rPr lang="en"/>
              <a:t>To find the query sum ([1, k] prefix sum): keep flipping the least significant set bit</a:t>
            </a:r>
            <a:endParaRPr/>
          </a:p>
          <a:p>
            <a:pPr indent="0" lvl="0" marL="0" rtl="0" algn="l">
              <a:spcBef>
                <a:spcPts val="1200"/>
              </a:spcBef>
              <a:spcAft>
                <a:spcPts val="0"/>
              </a:spcAft>
              <a:buNone/>
            </a:pPr>
            <a:r>
              <a:rPr lang="en"/>
              <a:t>11101</a:t>
            </a:r>
            <a:r>
              <a:rPr lang="en">
                <a:solidFill>
                  <a:schemeClr val="accent3"/>
                </a:solidFill>
              </a:rPr>
              <a:t>1</a:t>
            </a:r>
            <a:r>
              <a:rPr lang="en"/>
              <a:t>; 1110</a:t>
            </a:r>
            <a:r>
              <a:rPr lang="en">
                <a:solidFill>
                  <a:schemeClr val="accent3"/>
                </a:solidFill>
              </a:rPr>
              <a:t>1</a:t>
            </a:r>
            <a:r>
              <a:rPr lang="en"/>
              <a:t>0; 11</a:t>
            </a:r>
            <a:r>
              <a:rPr lang="en">
                <a:solidFill>
                  <a:schemeClr val="accent3"/>
                </a:solidFill>
              </a:rPr>
              <a:t>1</a:t>
            </a:r>
            <a:r>
              <a:rPr lang="en"/>
              <a:t>000; 1</a:t>
            </a:r>
            <a:r>
              <a:rPr lang="en">
                <a:solidFill>
                  <a:schemeClr val="accent3"/>
                </a:solidFill>
              </a:rPr>
              <a:t>1</a:t>
            </a:r>
            <a:r>
              <a:rPr lang="en"/>
              <a:t>0000; 100000;</a:t>
            </a:r>
            <a:endParaRPr/>
          </a:p>
          <a:p>
            <a:pPr indent="0" lvl="0" marL="0" rtl="0" algn="l">
              <a:spcBef>
                <a:spcPts val="1200"/>
              </a:spcBef>
              <a:spcAft>
                <a:spcPts val="1200"/>
              </a:spcAft>
              <a:buNone/>
            </a:pPr>
            <a:r>
              <a:t/>
            </a:r>
            <a:endParaRPr/>
          </a:p>
        </p:txBody>
      </p:sp>
      <p:pic>
        <p:nvPicPr>
          <p:cNvPr id="190" name="Google Shape;190;p27"/>
          <p:cNvPicPr preferRelativeResize="0"/>
          <p:nvPr/>
        </p:nvPicPr>
        <p:blipFill>
          <a:blip r:embed="rId3">
            <a:alphaModFix/>
          </a:blip>
          <a:stretch>
            <a:fillRect/>
          </a:stretch>
        </p:blipFill>
        <p:spPr>
          <a:xfrm>
            <a:off x="4593925" y="2218125"/>
            <a:ext cx="4260425" cy="19218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Silver 2- Solution Code</a:t>
            </a:r>
            <a:endParaRPr/>
          </a:p>
        </p:txBody>
      </p:sp>
      <p:sp>
        <p:nvSpPr>
          <p:cNvPr id="196" name="Google Shape;196;p28"/>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7" name="Google Shape;197;p28"/>
          <p:cNvPicPr preferRelativeResize="0"/>
          <p:nvPr/>
        </p:nvPicPr>
        <p:blipFill rotWithShape="1">
          <a:blip r:embed="rId3">
            <a:alphaModFix/>
          </a:blip>
          <a:srcRect b="61918" l="0" r="0" t="0"/>
          <a:stretch/>
        </p:blipFill>
        <p:spPr>
          <a:xfrm>
            <a:off x="1222575" y="1698200"/>
            <a:ext cx="3291499" cy="2907223"/>
          </a:xfrm>
          <a:prstGeom prst="rect">
            <a:avLst/>
          </a:prstGeom>
          <a:noFill/>
          <a:ln>
            <a:noFill/>
          </a:ln>
        </p:spPr>
      </p:pic>
      <p:pic>
        <p:nvPicPr>
          <p:cNvPr id="198" name="Google Shape;198;p28"/>
          <p:cNvPicPr preferRelativeResize="0"/>
          <p:nvPr/>
        </p:nvPicPr>
        <p:blipFill rotWithShape="1">
          <a:blip r:embed="rId3">
            <a:alphaModFix/>
          </a:blip>
          <a:srcRect b="0" l="0" r="0" t="37217"/>
          <a:stretch/>
        </p:blipFill>
        <p:spPr>
          <a:xfrm>
            <a:off x="4785200" y="174537"/>
            <a:ext cx="3021650" cy="43998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Silver 3 - Problem</a:t>
            </a:r>
            <a:endParaRPr/>
          </a:p>
        </p:txBody>
      </p:sp>
      <p:pic>
        <p:nvPicPr>
          <p:cNvPr id="204" name="Google Shape;204;p29"/>
          <p:cNvPicPr preferRelativeResize="0"/>
          <p:nvPr/>
        </p:nvPicPr>
        <p:blipFill>
          <a:blip r:embed="rId3">
            <a:alphaModFix/>
          </a:blip>
          <a:stretch>
            <a:fillRect/>
          </a:stretch>
        </p:blipFill>
        <p:spPr>
          <a:xfrm>
            <a:off x="3779675" y="71313"/>
            <a:ext cx="4869749" cy="5000876"/>
          </a:xfrm>
          <a:prstGeom prst="rect">
            <a:avLst/>
          </a:prstGeom>
          <a:noFill/>
          <a:ln>
            <a:noFill/>
          </a:ln>
        </p:spPr>
      </p:pic>
      <p:sp>
        <p:nvSpPr>
          <p:cNvPr id="205" name="Google Shape;205;p29"/>
          <p:cNvSpPr/>
          <p:nvPr/>
        </p:nvSpPr>
        <p:spPr>
          <a:xfrm>
            <a:off x="507350" y="2014725"/>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6" name="Google Shape;206;p29"/>
          <p:cNvSpPr/>
          <p:nvPr/>
        </p:nvSpPr>
        <p:spPr>
          <a:xfrm>
            <a:off x="1066850" y="2014725"/>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7" name="Google Shape;207;p29"/>
          <p:cNvSpPr/>
          <p:nvPr/>
        </p:nvSpPr>
        <p:spPr>
          <a:xfrm>
            <a:off x="1626350" y="2014725"/>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8" name="Google Shape;208;p29"/>
          <p:cNvSpPr/>
          <p:nvPr/>
        </p:nvSpPr>
        <p:spPr>
          <a:xfrm>
            <a:off x="507350" y="2503125"/>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9" name="Google Shape;209;p29"/>
          <p:cNvSpPr/>
          <p:nvPr/>
        </p:nvSpPr>
        <p:spPr>
          <a:xfrm>
            <a:off x="1066850" y="2503125"/>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0" name="Google Shape;210;p29"/>
          <p:cNvSpPr/>
          <p:nvPr/>
        </p:nvSpPr>
        <p:spPr>
          <a:xfrm>
            <a:off x="1626350" y="2503125"/>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1" name="Google Shape;211;p29"/>
          <p:cNvSpPr/>
          <p:nvPr/>
        </p:nvSpPr>
        <p:spPr>
          <a:xfrm>
            <a:off x="507350" y="2991525"/>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2" name="Google Shape;212;p29"/>
          <p:cNvSpPr/>
          <p:nvPr/>
        </p:nvSpPr>
        <p:spPr>
          <a:xfrm>
            <a:off x="1066850" y="2991525"/>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3" name="Google Shape;213;p29"/>
          <p:cNvSpPr/>
          <p:nvPr/>
        </p:nvSpPr>
        <p:spPr>
          <a:xfrm>
            <a:off x="1626350" y="2991525"/>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Silver 3 - Idea</a:t>
            </a:r>
            <a:endParaRPr/>
          </a:p>
        </p:txBody>
      </p:sp>
      <p:sp>
        <p:nvSpPr>
          <p:cNvPr id="219" name="Google Shape;219;p30"/>
          <p:cNvSpPr txBox="1"/>
          <p:nvPr>
            <p:ph idx="1" type="body"/>
          </p:nvPr>
        </p:nvSpPr>
        <p:spPr>
          <a:xfrm>
            <a:off x="460950" y="1696925"/>
            <a:ext cx="8222100" cy="27102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1200"/>
              </a:spcAft>
              <a:buNone/>
            </a:pPr>
            <a:r>
              <a:rPr lang="en"/>
              <a:t>We can create a “border” around the </a:t>
            </a:r>
            <a:r>
              <a:rPr lang="en"/>
              <a:t>conveyor</a:t>
            </a:r>
            <a:r>
              <a:rPr lang="en"/>
              <a:t> belts (namely rows 0 and n + 1, and columns 0 and n + 1). First, we go to the ending position (after FJ has set up all the conveyor belts) and flood fill from (0,0) to get the last answer. Next, for every conveyor belt added (from the back), we check if any of the removed conveyor belt’s neighbors have been accessed in the flood fill. If so, then we continue a flood fill from the newly removed belt. Thus, we can solve this problem in only O(n^2) time (poor Hans), and since n &lt;= 1000, the program could run way under the time limit.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1"/>
          <p:cNvSpPr/>
          <p:nvPr/>
        </p:nvSpPr>
        <p:spPr>
          <a:xfrm>
            <a:off x="2052650" y="24129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5" name="Google Shape;225;p31"/>
          <p:cNvSpPr/>
          <p:nvPr/>
        </p:nvSpPr>
        <p:spPr>
          <a:xfrm>
            <a:off x="2612150" y="24129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6" name="Google Shape;226;p31"/>
          <p:cNvSpPr/>
          <p:nvPr/>
        </p:nvSpPr>
        <p:spPr>
          <a:xfrm>
            <a:off x="3171650" y="24129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7" name="Google Shape;227;p31"/>
          <p:cNvSpPr/>
          <p:nvPr/>
        </p:nvSpPr>
        <p:spPr>
          <a:xfrm>
            <a:off x="3731150" y="24129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8" name="Google Shape;228;p31"/>
          <p:cNvSpPr/>
          <p:nvPr/>
        </p:nvSpPr>
        <p:spPr>
          <a:xfrm>
            <a:off x="4290650" y="24129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9" name="Google Shape;229;p31"/>
          <p:cNvSpPr/>
          <p:nvPr/>
        </p:nvSpPr>
        <p:spPr>
          <a:xfrm>
            <a:off x="4850150" y="24129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0" name="Google Shape;230;p31"/>
          <p:cNvSpPr/>
          <p:nvPr/>
        </p:nvSpPr>
        <p:spPr>
          <a:xfrm>
            <a:off x="2052650" y="29013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1" name="Google Shape;231;p31"/>
          <p:cNvSpPr/>
          <p:nvPr/>
        </p:nvSpPr>
        <p:spPr>
          <a:xfrm>
            <a:off x="2612150" y="29013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2" name="Google Shape;232;p31"/>
          <p:cNvSpPr/>
          <p:nvPr/>
        </p:nvSpPr>
        <p:spPr>
          <a:xfrm>
            <a:off x="3171650" y="29013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3" name="Google Shape;233;p31"/>
          <p:cNvSpPr/>
          <p:nvPr/>
        </p:nvSpPr>
        <p:spPr>
          <a:xfrm>
            <a:off x="3731150" y="29013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4" name="Google Shape;234;p31"/>
          <p:cNvSpPr/>
          <p:nvPr/>
        </p:nvSpPr>
        <p:spPr>
          <a:xfrm>
            <a:off x="4290650" y="29013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5" name="Google Shape;235;p31"/>
          <p:cNvSpPr/>
          <p:nvPr/>
        </p:nvSpPr>
        <p:spPr>
          <a:xfrm>
            <a:off x="4850150" y="29013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6" name="Google Shape;236;p31"/>
          <p:cNvSpPr/>
          <p:nvPr/>
        </p:nvSpPr>
        <p:spPr>
          <a:xfrm>
            <a:off x="2052650" y="33897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7" name="Google Shape;237;p31"/>
          <p:cNvSpPr/>
          <p:nvPr/>
        </p:nvSpPr>
        <p:spPr>
          <a:xfrm>
            <a:off x="2612150" y="33897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8" name="Google Shape;238;p31"/>
          <p:cNvSpPr/>
          <p:nvPr/>
        </p:nvSpPr>
        <p:spPr>
          <a:xfrm>
            <a:off x="3171650" y="33897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9" name="Google Shape;239;p31"/>
          <p:cNvSpPr/>
          <p:nvPr/>
        </p:nvSpPr>
        <p:spPr>
          <a:xfrm>
            <a:off x="3731150" y="33897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0" name="Google Shape;240;p31"/>
          <p:cNvSpPr/>
          <p:nvPr/>
        </p:nvSpPr>
        <p:spPr>
          <a:xfrm>
            <a:off x="4290650" y="33897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1" name="Google Shape;241;p31"/>
          <p:cNvSpPr/>
          <p:nvPr/>
        </p:nvSpPr>
        <p:spPr>
          <a:xfrm>
            <a:off x="4850150" y="33897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2" name="Google Shape;242;p31"/>
          <p:cNvSpPr/>
          <p:nvPr/>
        </p:nvSpPr>
        <p:spPr>
          <a:xfrm>
            <a:off x="2052650" y="38781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3" name="Google Shape;243;p31"/>
          <p:cNvSpPr/>
          <p:nvPr/>
        </p:nvSpPr>
        <p:spPr>
          <a:xfrm>
            <a:off x="2612150" y="38781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4" name="Google Shape;244;p31"/>
          <p:cNvSpPr/>
          <p:nvPr/>
        </p:nvSpPr>
        <p:spPr>
          <a:xfrm>
            <a:off x="3171650" y="38781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5" name="Google Shape;245;p31"/>
          <p:cNvSpPr/>
          <p:nvPr/>
        </p:nvSpPr>
        <p:spPr>
          <a:xfrm>
            <a:off x="3731150" y="38781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6" name="Google Shape;246;p31"/>
          <p:cNvSpPr/>
          <p:nvPr/>
        </p:nvSpPr>
        <p:spPr>
          <a:xfrm>
            <a:off x="4290650" y="38781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7" name="Google Shape;247;p31"/>
          <p:cNvSpPr/>
          <p:nvPr/>
        </p:nvSpPr>
        <p:spPr>
          <a:xfrm>
            <a:off x="4850150" y="38781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8" name="Google Shape;248;p31"/>
          <p:cNvSpPr/>
          <p:nvPr/>
        </p:nvSpPr>
        <p:spPr>
          <a:xfrm>
            <a:off x="2052650" y="19245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9" name="Google Shape;249;p31"/>
          <p:cNvSpPr/>
          <p:nvPr/>
        </p:nvSpPr>
        <p:spPr>
          <a:xfrm>
            <a:off x="2612150" y="19245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0" name="Google Shape;250;p31"/>
          <p:cNvSpPr/>
          <p:nvPr/>
        </p:nvSpPr>
        <p:spPr>
          <a:xfrm>
            <a:off x="3171650" y="19245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1" name="Google Shape;251;p31"/>
          <p:cNvSpPr/>
          <p:nvPr/>
        </p:nvSpPr>
        <p:spPr>
          <a:xfrm>
            <a:off x="3731150" y="19245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2" name="Google Shape;252;p31"/>
          <p:cNvSpPr/>
          <p:nvPr/>
        </p:nvSpPr>
        <p:spPr>
          <a:xfrm>
            <a:off x="4290650" y="19245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3" name="Google Shape;253;p31"/>
          <p:cNvSpPr/>
          <p:nvPr/>
        </p:nvSpPr>
        <p:spPr>
          <a:xfrm>
            <a:off x="4850150" y="19245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4" name="Google Shape;254;p31"/>
          <p:cNvSpPr/>
          <p:nvPr/>
        </p:nvSpPr>
        <p:spPr>
          <a:xfrm>
            <a:off x="2052650" y="43665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5" name="Google Shape;255;p31"/>
          <p:cNvSpPr/>
          <p:nvPr/>
        </p:nvSpPr>
        <p:spPr>
          <a:xfrm>
            <a:off x="2612150" y="43665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6" name="Google Shape;256;p31"/>
          <p:cNvSpPr/>
          <p:nvPr/>
        </p:nvSpPr>
        <p:spPr>
          <a:xfrm>
            <a:off x="3171650" y="43665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7" name="Google Shape;257;p31"/>
          <p:cNvSpPr/>
          <p:nvPr/>
        </p:nvSpPr>
        <p:spPr>
          <a:xfrm>
            <a:off x="3731150" y="43665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8" name="Google Shape;258;p31"/>
          <p:cNvSpPr/>
          <p:nvPr/>
        </p:nvSpPr>
        <p:spPr>
          <a:xfrm>
            <a:off x="4290650" y="43665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9" name="Google Shape;259;p31"/>
          <p:cNvSpPr/>
          <p:nvPr/>
        </p:nvSpPr>
        <p:spPr>
          <a:xfrm>
            <a:off x="4850150" y="4366550"/>
            <a:ext cx="559500" cy="488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2"/>
          <p:cNvSpPr txBox="1"/>
          <p:nvPr>
            <p:ph type="title"/>
          </p:nvPr>
        </p:nvSpPr>
        <p:spPr>
          <a:xfrm>
            <a:off x="352850" y="-7297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Silver 3 - Code</a:t>
            </a:r>
            <a:endParaRPr/>
          </a:p>
        </p:txBody>
      </p:sp>
      <p:sp>
        <p:nvSpPr>
          <p:cNvPr id="265" name="Google Shape;265;p32"/>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66" name="Google Shape;266;p32"/>
          <p:cNvPicPr preferRelativeResize="0"/>
          <p:nvPr/>
        </p:nvPicPr>
        <p:blipFill>
          <a:blip r:embed="rId3">
            <a:alphaModFix/>
          </a:blip>
          <a:stretch>
            <a:fillRect/>
          </a:stretch>
        </p:blipFill>
        <p:spPr>
          <a:xfrm>
            <a:off x="352850" y="694725"/>
            <a:ext cx="3978649" cy="4389050"/>
          </a:xfrm>
          <a:prstGeom prst="rect">
            <a:avLst/>
          </a:prstGeom>
          <a:noFill/>
          <a:ln>
            <a:noFill/>
          </a:ln>
        </p:spPr>
      </p:pic>
      <p:pic>
        <p:nvPicPr>
          <p:cNvPr id="267" name="Google Shape;267;p32"/>
          <p:cNvPicPr preferRelativeResize="0"/>
          <p:nvPr/>
        </p:nvPicPr>
        <p:blipFill>
          <a:blip r:embed="rId4">
            <a:alphaModFix/>
          </a:blip>
          <a:stretch>
            <a:fillRect/>
          </a:stretch>
        </p:blipFill>
        <p:spPr>
          <a:xfrm>
            <a:off x="4331500" y="51450"/>
            <a:ext cx="4050924" cy="1867625"/>
          </a:xfrm>
          <a:prstGeom prst="rect">
            <a:avLst/>
          </a:prstGeom>
          <a:noFill/>
          <a:ln>
            <a:noFill/>
          </a:ln>
        </p:spPr>
      </p:pic>
      <p:pic>
        <p:nvPicPr>
          <p:cNvPr id="268" name="Google Shape;268;p32"/>
          <p:cNvPicPr preferRelativeResize="0"/>
          <p:nvPr/>
        </p:nvPicPr>
        <p:blipFill>
          <a:blip r:embed="rId5">
            <a:alphaModFix/>
          </a:blip>
          <a:stretch>
            <a:fillRect/>
          </a:stretch>
        </p:blipFill>
        <p:spPr>
          <a:xfrm>
            <a:off x="4331500" y="1919087"/>
            <a:ext cx="3978649" cy="311541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