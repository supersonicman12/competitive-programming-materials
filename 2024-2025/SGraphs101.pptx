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Arimo Bold" charset="1" panose="020B0704020202020204"/>
      <p:regular r:id="rId56"/>
    </p:embeddedFont>
    <p:embeddedFont>
      <p:font typeface="Arimo" charset="1" panose="020B0604020202020204"/>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https://codeforces.com/contest/1387" TargetMode="External" Type="http://schemas.openxmlformats.org/officeDocument/2006/relationships/hyperlink"/></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601190" y="4503599"/>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USACO Basic Graph Traversal</a:t>
            </a:r>
          </a:p>
        </p:txBody>
      </p:sp>
      <p:sp>
        <p:nvSpPr>
          <p:cNvPr name="TextBox 3" id="3"/>
          <p:cNvSpPr txBox="true"/>
          <p:nvPr/>
        </p:nvSpPr>
        <p:spPr>
          <a:xfrm rot="0">
            <a:off x="858844" y="6425591"/>
            <a:ext cx="4623941" cy="906145"/>
          </a:xfrm>
          <a:prstGeom prst="rect">
            <a:avLst/>
          </a:prstGeom>
        </p:spPr>
        <p:txBody>
          <a:bodyPr anchor="t" rtlCol="false" tIns="0" lIns="0" bIns="0" rIns="0">
            <a:spAutoFit/>
          </a:bodyPr>
          <a:lstStyle/>
          <a:p>
            <a:pPr algn="ctr">
              <a:lnSpc>
                <a:spcPts val="7279"/>
              </a:lnSpc>
            </a:pPr>
            <a:r>
              <a:rPr lang="en-US" sz="5199">
                <a:solidFill>
                  <a:srgbClr val="000000"/>
                </a:solidFill>
                <a:latin typeface="Arimo"/>
                <a:ea typeface="Arimo"/>
                <a:cs typeface="Arimo"/>
                <a:sym typeface="Arimo"/>
              </a:rPr>
              <a:t>SHSID OI Club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2278270"/>
            <a:ext cx="15115504" cy="1435973"/>
          </a:xfrm>
          <a:custGeom>
            <a:avLst/>
            <a:gdLst/>
            <a:ahLst/>
            <a:cxnLst/>
            <a:rect r="r" b="b" t="t" l="l"/>
            <a:pathLst>
              <a:path h="1435973" w="15115504">
                <a:moveTo>
                  <a:pt x="0" y="0"/>
                </a:moveTo>
                <a:lnTo>
                  <a:pt x="15115504" y="0"/>
                </a:lnTo>
                <a:lnTo>
                  <a:pt x="15115504" y="1435973"/>
                </a:lnTo>
                <a:lnTo>
                  <a:pt x="0" y="1435973"/>
                </a:lnTo>
                <a:lnTo>
                  <a:pt x="0" y="0"/>
                </a:lnTo>
                <a:close/>
              </a:path>
            </a:pathLst>
          </a:custGeom>
          <a:blipFill>
            <a:blip r:embed="rId2"/>
            <a:stretch>
              <a:fillRect l="0" t="0" r="0" b="0"/>
            </a:stretch>
          </a:blipFill>
        </p:spPr>
      </p:sp>
      <p:sp>
        <p:nvSpPr>
          <p:cNvPr name="TextBox 3" id="3"/>
          <p:cNvSpPr txBox="true"/>
          <p:nvPr/>
        </p:nvSpPr>
        <p:spPr>
          <a:xfrm rot="0">
            <a:off x="759719" y="411064"/>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Introduction to Graphs</a:t>
            </a:r>
          </a:p>
        </p:txBody>
      </p:sp>
      <p:sp>
        <p:nvSpPr>
          <p:cNvPr name="TextBox 4" id="4"/>
          <p:cNvSpPr txBox="true"/>
          <p:nvPr/>
        </p:nvSpPr>
        <p:spPr>
          <a:xfrm rot="0">
            <a:off x="1028700" y="4343743"/>
            <a:ext cx="15040559" cy="2577745"/>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A graph is a set of vertices and a set of edges connecting them.</a:t>
            </a:r>
          </a:p>
          <a:p>
            <a:pPr algn="just">
              <a:lnSpc>
                <a:spcPts val="5106"/>
              </a:lnSpc>
            </a:pPr>
          </a:p>
          <a:p>
            <a:pPr algn="just">
              <a:lnSpc>
                <a:spcPts val="5106"/>
              </a:lnSpc>
            </a:pPr>
            <a:r>
              <a:rPr lang="en-US" sz="3647">
                <a:solidFill>
                  <a:srgbClr val="000000"/>
                </a:solidFill>
                <a:latin typeface="Arimo"/>
                <a:ea typeface="Arimo"/>
                <a:cs typeface="Arimo"/>
                <a:sym typeface="Arimo"/>
              </a:rPr>
              <a:t>Analogous to a metro system: each station is a vertex, and each line connecting the stations is an edge.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637052"/>
            <a:ext cx="10467197" cy="4095291"/>
          </a:xfrm>
          <a:custGeom>
            <a:avLst/>
            <a:gdLst/>
            <a:ahLst/>
            <a:cxnLst/>
            <a:rect r="r" b="b" t="t" l="l"/>
            <a:pathLst>
              <a:path h="4095291" w="10467197">
                <a:moveTo>
                  <a:pt x="0" y="0"/>
                </a:moveTo>
                <a:lnTo>
                  <a:pt x="10467197" y="0"/>
                </a:lnTo>
                <a:lnTo>
                  <a:pt x="10467197" y="4095290"/>
                </a:lnTo>
                <a:lnTo>
                  <a:pt x="0" y="4095290"/>
                </a:lnTo>
                <a:lnTo>
                  <a:pt x="0" y="0"/>
                </a:lnTo>
                <a:close/>
              </a:path>
            </a:pathLst>
          </a:custGeom>
          <a:blipFill>
            <a:blip r:embed="rId2"/>
            <a:stretch>
              <a:fillRect l="0" t="0" r="0" b="0"/>
            </a:stretch>
          </a:blipFill>
        </p:spPr>
      </p:sp>
      <p:sp>
        <p:nvSpPr>
          <p:cNvPr name="TextBox 3" id="3"/>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Adjacency Matrices</a:t>
            </a:r>
          </a:p>
        </p:txBody>
      </p:sp>
      <p:sp>
        <p:nvSpPr>
          <p:cNvPr name="TextBox 4" id="4"/>
          <p:cNvSpPr txBox="true"/>
          <p:nvPr/>
        </p:nvSpPr>
        <p:spPr>
          <a:xfrm rot="0">
            <a:off x="1028700" y="7057125"/>
            <a:ext cx="14986224" cy="2753995"/>
          </a:xfrm>
          <a:prstGeom prst="rect">
            <a:avLst/>
          </a:prstGeom>
        </p:spPr>
        <p:txBody>
          <a:bodyPr anchor="t" rtlCol="false" tIns="0" lIns="0" bIns="0" rIns="0">
            <a:spAutoFit/>
          </a:bodyPr>
          <a:lstStyle/>
          <a:p>
            <a:pPr algn="l">
              <a:lnSpc>
                <a:spcPts val="7279"/>
              </a:lnSpc>
            </a:pPr>
            <a:r>
              <a:rPr lang="en-US" sz="5199">
                <a:solidFill>
                  <a:srgbClr val="000000"/>
                </a:solidFill>
                <a:latin typeface="Arimo"/>
                <a:ea typeface="Arimo"/>
                <a:cs typeface="Arimo"/>
                <a:sym typeface="Arimo"/>
              </a:rPr>
              <a:t>M[a][b] denotes whether there is a path from a to b. In an undirected graph, M[a][b] = M[b][a]</a:t>
            </a:r>
          </a:p>
          <a:p>
            <a:pPr algn="l">
              <a:lnSpc>
                <a:spcPts val="7279"/>
              </a:lnSpc>
            </a:pPr>
            <a:r>
              <a:rPr lang="en-US" sz="5199">
                <a:solidFill>
                  <a:srgbClr val="000000"/>
                </a:solidFill>
                <a:latin typeface="Arimo"/>
                <a:ea typeface="Arimo"/>
                <a:cs typeface="Arimo"/>
                <a:sym typeface="Arimo"/>
              </a:rPr>
              <a:t>Could use M[a][b] as a weight of the path...</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A vector of neighbors</a:t>
            </a:r>
          </a:p>
        </p:txBody>
      </p:sp>
      <p:sp>
        <p:nvSpPr>
          <p:cNvPr name="TextBox 3" id="3"/>
          <p:cNvSpPr txBox="true"/>
          <p:nvPr/>
        </p:nvSpPr>
        <p:spPr>
          <a:xfrm rot="0">
            <a:off x="743066" y="2648395"/>
            <a:ext cx="14986224" cy="6449695"/>
          </a:xfrm>
          <a:prstGeom prst="rect">
            <a:avLst/>
          </a:prstGeom>
        </p:spPr>
        <p:txBody>
          <a:bodyPr anchor="t" rtlCol="false" tIns="0" lIns="0" bIns="0" rIns="0">
            <a:spAutoFit/>
          </a:bodyPr>
          <a:lstStyle/>
          <a:p>
            <a:pPr algn="l">
              <a:lnSpc>
                <a:spcPts val="7279"/>
              </a:lnSpc>
            </a:pPr>
            <a:r>
              <a:rPr lang="en-US" sz="5199">
                <a:solidFill>
                  <a:srgbClr val="000000"/>
                </a:solidFill>
                <a:latin typeface="Arimo"/>
                <a:ea typeface="Arimo"/>
                <a:cs typeface="Arimo"/>
                <a:sym typeface="Arimo"/>
              </a:rPr>
              <a:t>using a data structure like </a:t>
            </a:r>
          </a:p>
          <a:p>
            <a:pPr algn="l">
              <a:lnSpc>
                <a:spcPts val="7279"/>
              </a:lnSpc>
            </a:pPr>
            <a:r>
              <a:rPr lang="en-US" sz="5199">
                <a:solidFill>
                  <a:srgbClr val="000000"/>
                </a:solidFill>
                <a:latin typeface="Arimo"/>
                <a:ea typeface="Arimo"/>
                <a:cs typeface="Arimo"/>
                <a:sym typeface="Arimo"/>
              </a:rPr>
              <a:t>vector&lt;int&gt; G[N]</a:t>
            </a:r>
          </a:p>
          <a:p>
            <a:pPr algn="l">
              <a:lnSpc>
                <a:spcPts val="7279"/>
              </a:lnSpc>
            </a:pPr>
          </a:p>
          <a:p>
            <a:pPr algn="l">
              <a:lnSpc>
                <a:spcPts val="7279"/>
              </a:lnSpc>
            </a:pPr>
            <a:r>
              <a:rPr lang="en-US" sz="5199">
                <a:solidFill>
                  <a:srgbClr val="000000"/>
                </a:solidFill>
                <a:latin typeface="Arimo"/>
                <a:ea typeface="Arimo"/>
                <a:cs typeface="Arimo"/>
                <a:sym typeface="Arimo"/>
              </a:rPr>
              <a:t>where G[i] stores all the neighbors of i.</a:t>
            </a:r>
          </a:p>
          <a:p>
            <a:pPr algn="l">
              <a:lnSpc>
                <a:spcPts val="7279"/>
              </a:lnSpc>
            </a:pPr>
          </a:p>
          <a:p>
            <a:pPr algn="l">
              <a:lnSpc>
                <a:spcPts val="7279"/>
              </a:lnSpc>
            </a:pPr>
            <a:r>
              <a:rPr lang="en-US" sz="5199">
                <a:solidFill>
                  <a:srgbClr val="000000"/>
                </a:solidFill>
                <a:latin typeface="Arimo"/>
                <a:ea typeface="Arimo"/>
                <a:cs typeface="Arimo"/>
                <a:sym typeface="Arimo"/>
              </a:rPr>
              <a:t>Can extend the &lt;int&gt; to other data structures like pair&lt;int, int&gt; or a self defined structure.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68361"/>
            <a:ext cx="4882820" cy="7191987"/>
          </a:xfrm>
          <a:custGeom>
            <a:avLst/>
            <a:gdLst/>
            <a:ahLst/>
            <a:cxnLst/>
            <a:rect r="r" b="b" t="t" l="l"/>
            <a:pathLst>
              <a:path h="7191987" w="4882820">
                <a:moveTo>
                  <a:pt x="0" y="0"/>
                </a:moveTo>
                <a:lnTo>
                  <a:pt x="4882820" y="0"/>
                </a:lnTo>
                <a:lnTo>
                  <a:pt x="4882820" y="7191987"/>
                </a:lnTo>
                <a:lnTo>
                  <a:pt x="0" y="7191987"/>
                </a:lnTo>
                <a:lnTo>
                  <a:pt x="0" y="0"/>
                </a:lnTo>
                <a:close/>
              </a:path>
            </a:pathLst>
          </a:custGeom>
          <a:blipFill>
            <a:blip r:embed="rId2"/>
            <a:stretch>
              <a:fillRect l="0" t="0" r="0" b="0"/>
            </a:stretch>
          </a:blipFill>
        </p:spPr>
      </p:sp>
      <p:sp>
        <p:nvSpPr>
          <p:cNvPr name="Freeform 3" id="3"/>
          <p:cNvSpPr/>
          <p:nvPr/>
        </p:nvSpPr>
        <p:spPr>
          <a:xfrm flipH="false" flipV="false" rot="0">
            <a:off x="6204145" y="2368361"/>
            <a:ext cx="7177519" cy="6889939"/>
          </a:xfrm>
          <a:custGeom>
            <a:avLst/>
            <a:gdLst/>
            <a:ahLst/>
            <a:cxnLst/>
            <a:rect r="r" b="b" t="t" l="l"/>
            <a:pathLst>
              <a:path h="6889939" w="7177519">
                <a:moveTo>
                  <a:pt x="0" y="0"/>
                </a:moveTo>
                <a:lnTo>
                  <a:pt x="7177518" y="0"/>
                </a:lnTo>
                <a:lnTo>
                  <a:pt x="7177518" y="6889939"/>
                </a:lnTo>
                <a:lnTo>
                  <a:pt x="0" y="6889939"/>
                </a:lnTo>
                <a:lnTo>
                  <a:pt x="0" y="0"/>
                </a:lnTo>
                <a:close/>
              </a:path>
            </a:pathLst>
          </a:custGeom>
          <a:blipFill>
            <a:blip r:embed="rId3"/>
            <a:stretch>
              <a:fillRect l="0" t="0" r="0" b="0"/>
            </a:stretch>
          </a:blipFill>
        </p:spPr>
      </p:sp>
      <p:sp>
        <p:nvSpPr>
          <p:cNvPr name="TextBox 4" id="4"/>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Traversing a Graph: DFS</a:t>
            </a:r>
          </a:p>
        </p:txBody>
      </p:sp>
      <p:sp>
        <p:nvSpPr>
          <p:cNvPr name="TextBox 5" id="5"/>
          <p:cNvSpPr txBox="true"/>
          <p:nvPr/>
        </p:nvSpPr>
        <p:spPr>
          <a:xfrm rot="0">
            <a:off x="13676938" y="8552294"/>
            <a:ext cx="3948641" cy="408305"/>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Arimo"/>
                <a:ea typeface="Arimo"/>
                <a:cs typeface="Arimo"/>
                <a:sym typeface="Arimo"/>
              </a:rPr>
              <a:t>&lt;-- a code that does nothing.</a:t>
            </a:r>
          </a:p>
        </p:txBody>
      </p:sp>
      <p:sp>
        <p:nvSpPr>
          <p:cNvPr name="TextBox 6" id="6"/>
          <p:cNvSpPr txBox="true"/>
          <p:nvPr/>
        </p:nvSpPr>
        <p:spPr>
          <a:xfrm rot="0">
            <a:off x="14152898" y="2711447"/>
            <a:ext cx="3472681" cy="5136515"/>
          </a:xfrm>
          <a:prstGeom prst="rect">
            <a:avLst/>
          </a:prstGeom>
        </p:spPr>
        <p:txBody>
          <a:bodyPr anchor="t" rtlCol="false" tIns="0" lIns="0" bIns="0" rIns="0">
            <a:spAutoFit/>
          </a:bodyPr>
          <a:lstStyle/>
          <a:p>
            <a:pPr algn="ctr">
              <a:lnSpc>
                <a:spcPts val="4059"/>
              </a:lnSpc>
            </a:pPr>
            <a:r>
              <a:rPr lang="en-US" sz="2899">
                <a:solidFill>
                  <a:srgbClr val="000000"/>
                </a:solidFill>
                <a:latin typeface="Arimo"/>
                <a:ea typeface="Arimo"/>
                <a:cs typeface="Arimo"/>
                <a:sym typeface="Arimo"/>
              </a:rPr>
              <a:t>Depth-First-Search: using recursion to reach the end before backtracking</a:t>
            </a:r>
          </a:p>
          <a:p>
            <a:pPr algn="ctr">
              <a:lnSpc>
                <a:spcPts val="4059"/>
              </a:lnSpc>
            </a:pPr>
          </a:p>
          <a:p>
            <a:pPr algn="ctr">
              <a:lnSpc>
                <a:spcPts val="4059"/>
              </a:lnSpc>
              <a:spcBef>
                <a:spcPct val="0"/>
              </a:spcBef>
            </a:pPr>
            <a:r>
              <a:rPr lang="en-US" sz="2899">
                <a:solidFill>
                  <a:srgbClr val="000000"/>
                </a:solidFill>
                <a:latin typeface="Arimo"/>
                <a:ea typeface="Arimo"/>
                <a:cs typeface="Arimo"/>
                <a:sym typeface="Arimo"/>
              </a:rPr>
              <a:t>Consider a stack data structure</a:t>
            </a:r>
          </a:p>
          <a:p>
            <a:pPr algn="ctr">
              <a:lnSpc>
                <a:spcPts val="4059"/>
              </a:lnSpc>
              <a:spcBef>
                <a:spcPct val="0"/>
              </a:spcBef>
            </a:pPr>
          </a:p>
          <a:p>
            <a:pPr algn="ctr">
              <a:lnSpc>
                <a:spcPts val="4059"/>
              </a:lnSpc>
              <a:spcBef>
                <a:spcPct val="0"/>
              </a:spcBef>
            </a:pPr>
            <a:r>
              <a:rPr lang="en-US" sz="2899">
                <a:solidFill>
                  <a:srgbClr val="000000"/>
                </a:solidFill>
                <a:latin typeface="Arimo"/>
                <a:ea typeface="Arimo"/>
                <a:cs typeface="Arimo"/>
                <a:sym typeface="Arimo"/>
              </a:rPr>
              <a:t>Time complexity: O(V+E)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450877"/>
            <a:ext cx="8991083" cy="7255617"/>
          </a:xfrm>
          <a:custGeom>
            <a:avLst/>
            <a:gdLst/>
            <a:ahLst/>
            <a:cxnLst/>
            <a:rect r="r" b="b" t="t" l="l"/>
            <a:pathLst>
              <a:path h="7255617" w="8991083">
                <a:moveTo>
                  <a:pt x="0" y="0"/>
                </a:moveTo>
                <a:lnTo>
                  <a:pt x="8991083" y="0"/>
                </a:lnTo>
                <a:lnTo>
                  <a:pt x="8991083" y="7255617"/>
                </a:lnTo>
                <a:lnTo>
                  <a:pt x="0" y="7255617"/>
                </a:lnTo>
                <a:lnTo>
                  <a:pt x="0" y="0"/>
                </a:lnTo>
                <a:close/>
              </a:path>
            </a:pathLst>
          </a:custGeom>
          <a:blipFill>
            <a:blip r:embed="rId2"/>
            <a:stretch>
              <a:fillRect l="0" t="0" r="0" b="0"/>
            </a:stretch>
          </a:blipFill>
        </p:spPr>
      </p:sp>
      <p:sp>
        <p:nvSpPr>
          <p:cNvPr name="TextBox 3" id="3"/>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Traversing a Graph: BFS</a:t>
            </a:r>
          </a:p>
        </p:txBody>
      </p:sp>
      <p:sp>
        <p:nvSpPr>
          <p:cNvPr name="TextBox 4" id="4"/>
          <p:cNvSpPr txBox="true"/>
          <p:nvPr/>
        </p:nvSpPr>
        <p:spPr>
          <a:xfrm rot="0">
            <a:off x="10903546" y="3676538"/>
            <a:ext cx="6220980" cy="5240656"/>
          </a:xfrm>
          <a:prstGeom prst="rect">
            <a:avLst/>
          </a:prstGeom>
        </p:spPr>
        <p:txBody>
          <a:bodyPr anchor="t" rtlCol="false" tIns="0" lIns="0" bIns="0" rIns="0">
            <a:spAutoFit/>
          </a:bodyPr>
          <a:lstStyle/>
          <a:p>
            <a:pPr algn="ctr">
              <a:lnSpc>
                <a:spcPts val="4619"/>
              </a:lnSpc>
            </a:pPr>
            <a:r>
              <a:rPr lang="en-US" sz="3299">
                <a:solidFill>
                  <a:srgbClr val="000000"/>
                </a:solidFill>
                <a:latin typeface="Arimo"/>
                <a:ea typeface="Arimo"/>
                <a:cs typeface="Arimo"/>
                <a:sym typeface="Arimo"/>
              </a:rPr>
              <a:t>Breadth-First-Search:</a:t>
            </a:r>
          </a:p>
          <a:p>
            <a:pPr algn="ctr">
              <a:lnSpc>
                <a:spcPts val="4619"/>
              </a:lnSpc>
            </a:pPr>
          </a:p>
          <a:p>
            <a:pPr algn="l">
              <a:lnSpc>
                <a:spcPts val="4619"/>
              </a:lnSpc>
            </a:pPr>
            <a:r>
              <a:rPr lang="en-US" sz="3299">
                <a:solidFill>
                  <a:srgbClr val="000000"/>
                </a:solidFill>
                <a:latin typeface="Arimo"/>
                <a:ea typeface="Arimo"/>
                <a:cs typeface="Arimo"/>
                <a:sym typeface="Arimo"/>
              </a:rPr>
              <a:t>Using a queue: </a:t>
            </a:r>
          </a:p>
          <a:p>
            <a:pPr algn="l">
              <a:lnSpc>
                <a:spcPts val="4619"/>
              </a:lnSpc>
            </a:pPr>
            <a:r>
              <a:rPr lang="en-US" sz="3299">
                <a:solidFill>
                  <a:srgbClr val="000000"/>
                </a:solidFill>
                <a:latin typeface="Arimo"/>
                <a:ea typeface="Arimo"/>
                <a:cs typeface="Arimo"/>
                <a:sym typeface="Arimo"/>
              </a:rPr>
              <a:t>First In First Out (FIFO)</a:t>
            </a:r>
          </a:p>
          <a:p>
            <a:pPr algn="l">
              <a:lnSpc>
                <a:spcPts val="4619"/>
              </a:lnSpc>
            </a:pPr>
          </a:p>
          <a:p>
            <a:pPr algn="l">
              <a:lnSpc>
                <a:spcPts val="4619"/>
              </a:lnSpc>
            </a:pPr>
            <a:r>
              <a:rPr lang="en-US" sz="3299">
                <a:solidFill>
                  <a:srgbClr val="000000"/>
                </a:solidFill>
                <a:latin typeface="Arimo"/>
                <a:ea typeface="Arimo"/>
                <a:cs typeface="Arimo"/>
                <a:sym typeface="Arimo"/>
              </a:rPr>
              <a:t>Also O(V+E)</a:t>
            </a:r>
          </a:p>
          <a:p>
            <a:pPr algn="l">
              <a:lnSpc>
                <a:spcPts val="4619"/>
              </a:lnSpc>
            </a:pPr>
          </a:p>
          <a:p>
            <a:pPr algn="l">
              <a:lnSpc>
                <a:spcPts val="4619"/>
              </a:lnSpc>
              <a:spcBef>
                <a:spcPct val="0"/>
              </a:spcBef>
            </a:pPr>
            <a:r>
              <a:rPr lang="en-US" sz="3299">
                <a:solidFill>
                  <a:srgbClr val="000000"/>
                </a:solidFill>
                <a:latin typeface="Arimo"/>
                <a:ea typeface="Arimo"/>
                <a:cs typeface="Arimo"/>
                <a:sym typeface="Arimo"/>
              </a:rPr>
              <a:t>The nodes closer to the starting point will be traversed first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 Building Roads</a:t>
            </a:r>
          </a:p>
        </p:txBody>
      </p:sp>
      <p:sp>
        <p:nvSpPr>
          <p:cNvPr name="TextBox 3" id="3"/>
          <p:cNvSpPr txBox="true"/>
          <p:nvPr/>
        </p:nvSpPr>
        <p:spPr>
          <a:xfrm rot="0">
            <a:off x="759719" y="2247566"/>
            <a:ext cx="6481066" cy="5632449"/>
          </a:xfrm>
          <a:prstGeom prst="rect">
            <a:avLst/>
          </a:prstGeom>
        </p:spPr>
        <p:txBody>
          <a:bodyPr anchor="t" rtlCol="false" tIns="0" lIns="0" bIns="0" rIns="0">
            <a:spAutoFit/>
          </a:bodyPr>
          <a:lstStyle/>
          <a:p>
            <a:pPr algn="l">
              <a:lnSpc>
                <a:spcPts val="5600"/>
              </a:lnSpc>
            </a:pPr>
            <a:r>
              <a:rPr lang="en-US" sz="4000">
                <a:solidFill>
                  <a:srgbClr val="000000"/>
                </a:solidFill>
                <a:latin typeface="Arimo"/>
                <a:ea typeface="Arimo"/>
                <a:cs typeface="Arimo"/>
                <a:sym typeface="Arimo"/>
              </a:rPr>
              <a:t>Given N cities and M roads:</a:t>
            </a:r>
          </a:p>
          <a:p>
            <a:pPr algn="l">
              <a:lnSpc>
                <a:spcPts val="5600"/>
              </a:lnSpc>
            </a:pPr>
            <a:r>
              <a:rPr lang="en-US" sz="4000">
                <a:solidFill>
                  <a:srgbClr val="000000"/>
                </a:solidFill>
                <a:latin typeface="Arimo"/>
                <a:ea typeface="Arimo"/>
                <a:cs typeface="Arimo"/>
                <a:sym typeface="Arimo"/>
              </a:rPr>
              <a:t>N M</a:t>
            </a:r>
          </a:p>
          <a:p>
            <a:pPr algn="l">
              <a:lnSpc>
                <a:spcPts val="5600"/>
              </a:lnSpc>
            </a:pPr>
            <a:r>
              <a:rPr lang="en-US" sz="4000">
                <a:solidFill>
                  <a:srgbClr val="000000"/>
                </a:solidFill>
                <a:latin typeface="Arimo"/>
                <a:ea typeface="Arimo"/>
                <a:cs typeface="Arimo"/>
                <a:sym typeface="Arimo"/>
              </a:rPr>
              <a:t>a1 b1</a:t>
            </a:r>
          </a:p>
          <a:p>
            <a:pPr algn="l">
              <a:lnSpc>
                <a:spcPts val="5600"/>
              </a:lnSpc>
            </a:pPr>
            <a:r>
              <a:rPr lang="en-US" sz="4000">
                <a:solidFill>
                  <a:srgbClr val="000000"/>
                </a:solidFill>
                <a:latin typeface="Arimo"/>
                <a:ea typeface="Arimo"/>
                <a:cs typeface="Arimo"/>
                <a:sym typeface="Arimo"/>
              </a:rPr>
              <a:t>a2 b2</a:t>
            </a:r>
          </a:p>
          <a:p>
            <a:pPr algn="l">
              <a:lnSpc>
                <a:spcPts val="5600"/>
              </a:lnSpc>
            </a:pPr>
            <a:r>
              <a:rPr lang="en-US" sz="4000">
                <a:solidFill>
                  <a:srgbClr val="000000"/>
                </a:solidFill>
                <a:latin typeface="Arimo"/>
                <a:ea typeface="Arimo"/>
                <a:cs typeface="Arimo"/>
                <a:sym typeface="Arimo"/>
              </a:rPr>
              <a:t>...</a:t>
            </a:r>
          </a:p>
          <a:p>
            <a:pPr algn="l">
              <a:lnSpc>
                <a:spcPts val="5600"/>
              </a:lnSpc>
            </a:pPr>
            <a:r>
              <a:rPr lang="en-US" sz="4000">
                <a:solidFill>
                  <a:srgbClr val="000000"/>
                </a:solidFill>
                <a:latin typeface="Arimo"/>
                <a:ea typeface="Arimo"/>
                <a:cs typeface="Arimo"/>
                <a:sym typeface="Arimo"/>
              </a:rPr>
              <a:t>aM bM</a:t>
            </a:r>
          </a:p>
          <a:p>
            <a:pPr algn="l">
              <a:lnSpc>
                <a:spcPts val="5600"/>
              </a:lnSpc>
            </a:pPr>
            <a:r>
              <a:rPr lang="en-US" sz="4000">
                <a:solidFill>
                  <a:srgbClr val="000000"/>
                </a:solidFill>
                <a:latin typeface="Arimo"/>
                <a:ea typeface="Arimo"/>
                <a:cs typeface="Arimo"/>
                <a:sym typeface="Arimo"/>
              </a:rPr>
              <a:t>where a road exists between ai and bi</a:t>
            </a:r>
          </a:p>
        </p:txBody>
      </p:sp>
      <p:sp>
        <p:nvSpPr>
          <p:cNvPr name="TextBox 4" id="4"/>
          <p:cNvSpPr txBox="true"/>
          <p:nvPr/>
        </p:nvSpPr>
        <p:spPr>
          <a:xfrm rot="0">
            <a:off x="7801952" y="2228516"/>
            <a:ext cx="8618632" cy="4231005"/>
          </a:xfrm>
          <a:prstGeom prst="rect">
            <a:avLst/>
          </a:prstGeom>
        </p:spPr>
        <p:txBody>
          <a:bodyPr anchor="t" rtlCol="false" tIns="0" lIns="0" bIns="0" rIns="0">
            <a:spAutoFit/>
          </a:bodyPr>
          <a:lstStyle/>
          <a:p>
            <a:pPr algn="l">
              <a:lnSpc>
                <a:spcPts val="6720"/>
              </a:lnSpc>
            </a:pPr>
            <a:r>
              <a:rPr lang="en-US" sz="4800">
                <a:solidFill>
                  <a:srgbClr val="000000"/>
                </a:solidFill>
                <a:latin typeface="Arimo"/>
                <a:ea typeface="Arimo"/>
                <a:cs typeface="Arimo"/>
                <a:sym typeface="Arimo"/>
              </a:rPr>
              <a:t>Find the least number of roads needed to make all of the ci connected component.</a:t>
            </a:r>
          </a:p>
          <a:p>
            <a:pPr algn="l">
              <a:lnSpc>
                <a:spcPts val="6720"/>
              </a:lnSpc>
            </a:pPr>
          </a:p>
          <a:p>
            <a:pPr algn="l">
              <a:lnSpc>
                <a:spcPts val="6720"/>
              </a:lnSpc>
            </a:pPr>
          </a:p>
        </p:txBody>
      </p:sp>
      <p:sp>
        <p:nvSpPr>
          <p:cNvPr name="TextBox 5" id="5"/>
          <p:cNvSpPr txBox="true"/>
          <p:nvPr/>
        </p:nvSpPr>
        <p:spPr>
          <a:xfrm rot="0">
            <a:off x="7114878" y="5452728"/>
            <a:ext cx="9305707" cy="3194684"/>
          </a:xfrm>
          <a:prstGeom prst="rect">
            <a:avLst/>
          </a:prstGeom>
        </p:spPr>
        <p:txBody>
          <a:bodyPr anchor="t" rtlCol="false" tIns="0" lIns="0" bIns="0" rIns="0">
            <a:spAutoFit/>
          </a:bodyPr>
          <a:lstStyle/>
          <a:p>
            <a:pPr algn="l">
              <a:lnSpc>
                <a:spcPts val="5040"/>
              </a:lnSpc>
            </a:pPr>
            <a:r>
              <a:rPr lang="en-US" sz="3600">
                <a:solidFill>
                  <a:srgbClr val="5E17EB"/>
                </a:solidFill>
                <a:latin typeface="Arimo"/>
                <a:ea typeface="Arimo"/>
                <a:cs typeface="Arimo"/>
                <a:sym typeface="Arimo"/>
              </a:rPr>
              <a:t>Hint: it is quite easy to notice that the answer is the number of connected components minus 1.</a:t>
            </a:r>
          </a:p>
          <a:p>
            <a:pPr algn="l">
              <a:lnSpc>
                <a:spcPts val="5040"/>
              </a:lnSpc>
            </a:pPr>
          </a:p>
          <a:p>
            <a:pPr algn="l">
              <a:lnSpc>
                <a:spcPts val="5040"/>
              </a:lnSpc>
            </a:pPr>
            <a:r>
              <a:rPr lang="en-US" sz="3600">
                <a:solidFill>
                  <a:srgbClr val="5E17EB"/>
                </a:solidFill>
                <a:latin typeface="Arimo"/>
                <a:ea typeface="Arimo"/>
                <a:cs typeface="Arimo"/>
                <a:sym typeface="Arimo"/>
              </a:rPr>
              <a:t>https://cses.fi/problemset/task/1666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2279877" y="2007115"/>
            <a:ext cx="6633745" cy="7414356"/>
          </a:xfrm>
          <a:custGeom>
            <a:avLst/>
            <a:gdLst/>
            <a:ahLst/>
            <a:cxnLst/>
            <a:rect r="r" b="b" t="t" l="l"/>
            <a:pathLst>
              <a:path h="7414356" w="6633745">
                <a:moveTo>
                  <a:pt x="0" y="0"/>
                </a:moveTo>
                <a:lnTo>
                  <a:pt x="6633745" y="0"/>
                </a:lnTo>
                <a:lnTo>
                  <a:pt x="6633745" y="7414356"/>
                </a:lnTo>
                <a:lnTo>
                  <a:pt x="0" y="7414356"/>
                </a:lnTo>
                <a:lnTo>
                  <a:pt x="0" y="0"/>
                </a:lnTo>
                <a:close/>
              </a:path>
            </a:pathLst>
          </a:custGeom>
          <a:blipFill>
            <a:blip r:embed="rId2"/>
            <a:stretch>
              <a:fillRect l="0" t="0" r="0" b="-99379"/>
            </a:stretch>
          </a:blipFill>
        </p:spPr>
      </p:sp>
      <p:sp>
        <p:nvSpPr>
          <p:cNvPr name="Freeform 3" id="3"/>
          <p:cNvSpPr/>
          <p:nvPr/>
        </p:nvSpPr>
        <p:spPr>
          <a:xfrm flipH="false" flipV="false" rot="0">
            <a:off x="9315794" y="2007115"/>
            <a:ext cx="6396844" cy="7574373"/>
          </a:xfrm>
          <a:custGeom>
            <a:avLst/>
            <a:gdLst/>
            <a:ahLst/>
            <a:cxnLst/>
            <a:rect r="r" b="b" t="t" l="l"/>
            <a:pathLst>
              <a:path h="7574373" w="6396844">
                <a:moveTo>
                  <a:pt x="0" y="0"/>
                </a:moveTo>
                <a:lnTo>
                  <a:pt x="6396844" y="0"/>
                </a:lnTo>
                <a:lnTo>
                  <a:pt x="6396844" y="7574373"/>
                </a:lnTo>
                <a:lnTo>
                  <a:pt x="0" y="7574373"/>
                </a:lnTo>
                <a:lnTo>
                  <a:pt x="0" y="0"/>
                </a:lnTo>
                <a:close/>
              </a:path>
            </a:pathLst>
          </a:custGeom>
          <a:blipFill>
            <a:blip r:embed="rId3"/>
            <a:stretch>
              <a:fillRect l="0" t="0" r="0" b="0"/>
            </a:stretch>
          </a:blipFill>
        </p:spPr>
      </p:sp>
      <p:sp>
        <p:nvSpPr>
          <p:cNvPr name="TextBox 4" id="4"/>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 Solution</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2 Building Teams</a:t>
            </a:r>
          </a:p>
        </p:txBody>
      </p:sp>
      <p:sp>
        <p:nvSpPr>
          <p:cNvPr name="TextBox 3" id="3"/>
          <p:cNvSpPr txBox="true"/>
          <p:nvPr/>
        </p:nvSpPr>
        <p:spPr>
          <a:xfrm rot="0">
            <a:off x="759719" y="2247566"/>
            <a:ext cx="6481066" cy="6337299"/>
          </a:xfrm>
          <a:prstGeom prst="rect">
            <a:avLst/>
          </a:prstGeom>
        </p:spPr>
        <p:txBody>
          <a:bodyPr anchor="t" rtlCol="false" tIns="0" lIns="0" bIns="0" rIns="0">
            <a:spAutoFit/>
          </a:bodyPr>
          <a:lstStyle/>
          <a:p>
            <a:pPr algn="l">
              <a:lnSpc>
                <a:spcPts val="5600"/>
              </a:lnSpc>
            </a:pPr>
            <a:r>
              <a:rPr lang="en-US" sz="4000">
                <a:solidFill>
                  <a:srgbClr val="000000"/>
                </a:solidFill>
                <a:latin typeface="Arimo"/>
                <a:ea typeface="Arimo"/>
                <a:cs typeface="Arimo"/>
                <a:sym typeface="Arimo"/>
              </a:rPr>
              <a:t>Same setup as Ex.1 </a:t>
            </a:r>
          </a:p>
          <a:p>
            <a:pPr algn="l">
              <a:lnSpc>
                <a:spcPts val="5600"/>
              </a:lnSpc>
            </a:pPr>
            <a:r>
              <a:rPr lang="en-US" sz="4000">
                <a:solidFill>
                  <a:srgbClr val="000000"/>
                </a:solidFill>
                <a:latin typeface="Arimo"/>
                <a:ea typeface="Arimo"/>
                <a:cs typeface="Arimo"/>
                <a:sym typeface="Arimo"/>
              </a:rPr>
              <a:t>Given N cities and M roads:</a:t>
            </a:r>
          </a:p>
          <a:p>
            <a:pPr algn="l">
              <a:lnSpc>
                <a:spcPts val="5600"/>
              </a:lnSpc>
            </a:pPr>
            <a:r>
              <a:rPr lang="en-US" sz="4000">
                <a:solidFill>
                  <a:srgbClr val="000000"/>
                </a:solidFill>
                <a:latin typeface="Arimo"/>
                <a:ea typeface="Arimo"/>
                <a:cs typeface="Arimo"/>
                <a:sym typeface="Arimo"/>
              </a:rPr>
              <a:t>N M</a:t>
            </a:r>
          </a:p>
          <a:p>
            <a:pPr algn="l">
              <a:lnSpc>
                <a:spcPts val="5600"/>
              </a:lnSpc>
            </a:pPr>
            <a:r>
              <a:rPr lang="en-US" sz="4000">
                <a:solidFill>
                  <a:srgbClr val="000000"/>
                </a:solidFill>
                <a:latin typeface="Arimo"/>
                <a:ea typeface="Arimo"/>
                <a:cs typeface="Arimo"/>
                <a:sym typeface="Arimo"/>
              </a:rPr>
              <a:t>a1 b1</a:t>
            </a:r>
          </a:p>
          <a:p>
            <a:pPr algn="l">
              <a:lnSpc>
                <a:spcPts val="5600"/>
              </a:lnSpc>
            </a:pPr>
            <a:r>
              <a:rPr lang="en-US" sz="4000">
                <a:solidFill>
                  <a:srgbClr val="000000"/>
                </a:solidFill>
                <a:latin typeface="Arimo"/>
                <a:ea typeface="Arimo"/>
                <a:cs typeface="Arimo"/>
                <a:sym typeface="Arimo"/>
              </a:rPr>
              <a:t>a2 b2</a:t>
            </a:r>
          </a:p>
          <a:p>
            <a:pPr algn="l">
              <a:lnSpc>
                <a:spcPts val="5600"/>
              </a:lnSpc>
            </a:pPr>
            <a:r>
              <a:rPr lang="en-US" sz="4000">
                <a:solidFill>
                  <a:srgbClr val="000000"/>
                </a:solidFill>
                <a:latin typeface="Arimo"/>
                <a:ea typeface="Arimo"/>
                <a:cs typeface="Arimo"/>
                <a:sym typeface="Arimo"/>
              </a:rPr>
              <a:t>...</a:t>
            </a:r>
          </a:p>
          <a:p>
            <a:pPr algn="l">
              <a:lnSpc>
                <a:spcPts val="5600"/>
              </a:lnSpc>
            </a:pPr>
            <a:r>
              <a:rPr lang="en-US" sz="4000">
                <a:solidFill>
                  <a:srgbClr val="000000"/>
                </a:solidFill>
                <a:latin typeface="Arimo"/>
                <a:ea typeface="Arimo"/>
                <a:cs typeface="Arimo"/>
                <a:sym typeface="Arimo"/>
              </a:rPr>
              <a:t>aM bM</a:t>
            </a:r>
          </a:p>
          <a:p>
            <a:pPr algn="l">
              <a:lnSpc>
                <a:spcPts val="5600"/>
              </a:lnSpc>
            </a:pPr>
            <a:r>
              <a:rPr lang="en-US" sz="4000">
                <a:solidFill>
                  <a:srgbClr val="000000"/>
                </a:solidFill>
                <a:latin typeface="Arimo"/>
                <a:ea typeface="Arimo"/>
                <a:cs typeface="Arimo"/>
                <a:sym typeface="Arimo"/>
              </a:rPr>
              <a:t>where an edge exists between ai and bi</a:t>
            </a:r>
          </a:p>
        </p:txBody>
      </p:sp>
      <p:sp>
        <p:nvSpPr>
          <p:cNvPr name="TextBox 4" id="4"/>
          <p:cNvSpPr txBox="true"/>
          <p:nvPr/>
        </p:nvSpPr>
        <p:spPr>
          <a:xfrm rot="0">
            <a:off x="7801952" y="2228516"/>
            <a:ext cx="8618632" cy="3383280"/>
          </a:xfrm>
          <a:prstGeom prst="rect">
            <a:avLst/>
          </a:prstGeom>
        </p:spPr>
        <p:txBody>
          <a:bodyPr anchor="t" rtlCol="false" tIns="0" lIns="0" bIns="0" rIns="0">
            <a:spAutoFit/>
          </a:bodyPr>
          <a:lstStyle/>
          <a:p>
            <a:pPr algn="l">
              <a:lnSpc>
                <a:spcPts val="6720"/>
              </a:lnSpc>
            </a:pPr>
            <a:r>
              <a:rPr lang="en-US" sz="4800">
                <a:solidFill>
                  <a:srgbClr val="000000"/>
                </a:solidFill>
                <a:latin typeface="Arimo"/>
                <a:ea typeface="Arimo"/>
                <a:cs typeface="Arimo"/>
                <a:sym typeface="Arimo"/>
              </a:rPr>
              <a:t>Find a way to color the nodes using 2 colors such that each edge connects different colored nodes </a:t>
            </a:r>
          </a:p>
        </p:txBody>
      </p:sp>
      <p:sp>
        <p:nvSpPr>
          <p:cNvPr name="TextBox 5" id="5"/>
          <p:cNvSpPr txBox="true"/>
          <p:nvPr/>
        </p:nvSpPr>
        <p:spPr>
          <a:xfrm rot="0">
            <a:off x="7801952" y="6384229"/>
            <a:ext cx="9305707" cy="3194684"/>
          </a:xfrm>
          <a:prstGeom prst="rect">
            <a:avLst/>
          </a:prstGeom>
        </p:spPr>
        <p:txBody>
          <a:bodyPr anchor="t" rtlCol="false" tIns="0" lIns="0" bIns="0" rIns="0">
            <a:spAutoFit/>
          </a:bodyPr>
          <a:lstStyle/>
          <a:p>
            <a:pPr algn="l">
              <a:lnSpc>
                <a:spcPts val="5040"/>
              </a:lnSpc>
            </a:pPr>
            <a:r>
              <a:rPr lang="en-US" sz="3600">
                <a:solidFill>
                  <a:srgbClr val="5E17EB"/>
                </a:solidFill>
                <a:latin typeface="Arimo"/>
                <a:ea typeface="Arimo"/>
                <a:cs typeface="Arimo"/>
                <a:sym typeface="Arimo"/>
              </a:rPr>
              <a:t>Hint: in the dfs we could ‘remember’ the previous node that the current node came from...</a:t>
            </a:r>
          </a:p>
          <a:p>
            <a:pPr algn="l">
              <a:lnSpc>
                <a:spcPts val="5040"/>
              </a:lnSpc>
            </a:pPr>
          </a:p>
          <a:p>
            <a:pPr algn="l">
              <a:lnSpc>
                <a:spcPts val="5040"/>
              </a:lnSpc>
            </a:pPr>
            <a:r>
              <a:rPr lang="en-US" sz="3600">
                <a:solidFill>
                  <a:srgbClr val="5E17EB"/>
                </a:solidFill>
                <a:latin typeface="Arimo"/>
                <a:ea typeface="Arimo"/>
                <a:cs typeface="Arimo"/>
                <a:sym typeface="Arimo"/>
              </a:rPr>
              <a:t>https://cses.fi/problemset/task/1668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9353940" y="912931"/>
            <a:ext cx="6972929" cy="8792943"/>
          </a:xfrm>
          <a:custGeom>
            <a:avLst/>
            <a:gdLst/>
            <a:ahLst/>
            <a:cxnLst/>
            <a:rect r="r" b="b" t="t" l="l"/>
            <a:pathLst>
              <a:path h="8792943" w="6972929">
                <a:moveTo>
                  <a:pt x="0" y="0"/>
                </a:moveTo>
                <a:lnTo>
                  <a:pt x="6972928" y="0"/>
                </a:lnTo>
                <a:lnTo>
                  <a:pt x="6972928" y="8792943"/>
                </a:lnTo>
                <a:lnTo>
                  <a:pt x="0" y="8792943"/>
                </a:lnTo>
                <a:lnTo>
                  <a:pt x="0" y="0"/>
                </a:lnTo>
                <a:close/>
              </a:path>
            </a:pathLst>
          </a:custGeom>
          <a:blipFill>
            <a:blip r:embed="rId2"/>
            <a:stretch>
              <a:fillRect l="0" t="0" r="0" b="0"/>
            </a:stretch>
          </a:blipFill>
        </p:spPr>
      </p:sp>
      <p:sp>
        <p:nvSpPr>
          <p:cNvPr name="Freeform 3" id="3"/>
          <p:cNvSpPr/>
          <p:nvPr/>
        </p:nvSpPr>
        <p:spPr>
          <a:xfrm flipH="false" flipV="false" rot="0">
            <a:off x="3439575" y="2007115"/>
            <a:ext cx="5435919" cy="7698759"/>
          </a:xfrm>
          <a:custGeom>
            <a:avLst/>
            <a:gdLst/>
            <a:ahLst/>
            <a:cxnLst/>
            <a:rect r="r" b="b" t="t" l="l"/>
            <a:pathLst>
              <a:path h="7698759" w="5435919">
                <a:moveTo>
                  <a:pt x="0" y="0"/>
                </a:moveTo>
                <a:lnTo>
                  <a:pt x="5435919" y="0"/>
                </a:lnTo>
                <a:lnTo>
                  <a:pt x="5435919" y="7698759"/>
                </a:lnTo>
                <a:lnTo>
                  <a:pt x="0" y="7698759"/>
                </a:lnTo>
                <a:lnTo>
                  <a:pt x="0" y="0"/>
                </a:lnTo>
                <a:close/>
              </a:path>
            </a:pathLst>
          </a:custGeom>
          <a:blipFill>
            <a:blip r:embed="rId3"/>
            <a:stretch>
              <a:fillRect l="0" t="0" r="0" b="0"/>
            </a:stretch>
          </a:blipFill>
        </p:spPr>
      </p:sp>
      <p:sp>
        <p:nvSpPr>
          <p:cNvPr name="TextBox 4" id="4"/>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2 Solution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828615" y="571802"/>
            <a:ext cx="9858109" cy="9143396"/>
          </a:xfrm>
          <a:custGeom>
            <a:avLst/>
            <a:gdLst/>
            <a:ahLst/>
            <a:cxnLst/>
            <a:rect r="r" b="b" t="t" l="l"/>
            <a:pathLst>
              <a:path h="9143396" w="9858109">
                <a:moveTo>
                  <a:pt x="0" y="0"/>
                </a:moveTo>
                <a:lnTo>
                  <a:pt x="9858109" y="0"/>
                </a:lnTo>
                <a:lnTo>
                  <a:pt x="9858109" y="9143396"/>
                </a:lnTo>
                <a:lnTo>
                  <a:pt x="0" y="9143396"/>
                </a:lnTo>
                <a:lnTo>
                  <a:pt x="0" y="0"/>
                </a:lnTo>
                <a:close/>
              </a:path>
            </a:pathLst>
          </a:custGeom>
          <a:blipFill>
            <a:blip r:embed="rId2"/>
            <a:stretch>
              <a:fillRect l="0" t="0" r="0" b="0"/>
            </a:stretch>
          </a:blipFill>
        </p:spPr>
      </p:sp>
      <p:sp>
        <p:nvSpPr>
          <p:cNvPr name="TextBox 3" id="3"/>
          <p:cNvSpPr txBox="true"/>
          <p:nvPr/>
        </p:nvSpPr>
        <p:spPr>
          <a:xfrm rot="0">
            <a:off x="1028700" y="1302364"/>
            <a:ext cx="6430909" cy="2813049"/>
          </a:xfrm>
          <a:prstGeom prst="rect">
            <a:avLst/>
          </a:prstGeom>
        </p:spPr>
        <p:txBody>
          <a:bodyPr anchor="t" rtlCol="false" tIns="0" lIns="0" bIns="0" rIns="0">
            <a:spAutoFit/>
          </a:bodyPr>
          <a:lstStyle/>
          <a:p>
            <a:pPr algn="ctr">
              <a:lnSpc>
                <a:spcPts val="5600"/>
              </a:lnSpc>
            </a:pPr>
            <a:r>
              <a:rPr lang="en-US" sz="4000" b="true">
                <a:solidFill>
                  <a:srgbClr val="000000"/>
                </a:solidFill>
                <a:latin typeface="Arimo Bold"/>
                <a:ea typeface="Arimo Bold"/>
                <a:cs typeface="Arimo Bold"/>
                <a:sym typeface="Arimo Bold"/>
              </a:rPr>
              <a:t>Ex. 3:</a:t>
            </a:r>
          </a:p>
          <a:p>
            <a:pPr algn="ctr">
              <a:lnSpc>
                <a:spcPts val="5600"/>
              </a:lnSpc>
              <a:spcBef>
                <a:spcPct val="0"/>
              </a:spcBef>
            </a:pPr>
            <a:r>
              <a:rPr lang="en-US" b="true" sz="4000">
                <a:solidFill>
                  <a:srgbClr val="000000"/>
                </a:solidFill>
                <a:latin typeface="Arimo Bold"/>
                <a:ea typeface="Arimo Bold"/>
                <a:cs typeface="Arimo Bold"/>
                <a:sym typeface="Arimo Bold"/>
              </a:rPr>
              <a:t>USACO 2020 January Contest, Silver</a:t>
            </a:r>
          </a:p>
          <a:p>
            <a:pPr algn="ctr">
              <a:lnSpc>
                <a:spcPts val="5600"/>
              </a:lnSpc>
              <a:spcBef>
                <a:spcPct val="0"/>
              </a:spcBef>
            </a:pPr>
            <a:r>
              <a:rPr lang="en-US" b="true" sz="4000">
                <a:solidFill>
                  <a:srgbClr val="000000"/>
                </a:solidFill>
                <a:latin typeface="Arimo Bold"/>
                <a:ea typeface="Arimo Bold"/>
                <a:cs typeface="Arimo Bold"/>
                <a:sym typeface="Arimo Bold"/>
              </a:rPr>
              <a:t>Problem 3. Wormhole Sort</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3 Solution </a:t>
            </a:r>
          </a:p>
        </p:txBody>
      </p:sp>
      <p:sp>
        <p:nvSpPr>
          <p:cNvPr name="TextBox 3" id="3"/>
          <p:cNvSpPr txBox="true"/>
          <p:nvPr/>
        </p:nvSpPr>
        <p:spPr>
          <a:xfrm rot="0">
            <a:off x="1028700" y="2275720"/>
            <a:ext cx="16230600" cy="6816724"/>
          </a:xfrm>
          <a:prstGeom prst="rect">
            <a:avLst/>
          </a:prstGeom>
        </p:spPr>
        <p:txBody>
          <a:bodyPr anchor="t" rtlCol="false" tIns="0" lIns="0" bIns="0" rIns="0">
            <a:spAutoFit/>
          </a:bodyPr>
          <a:lstStyle/>
          <a:p>
            <a:pPr algn="l">
              <a:lnSpc>
                <a:spcPts val="4900"/>
              </a:lnSpc>
            </a:pPr>
            <a:r>
              <a:rPr lang="en-US" sz="3500" b="true">
                <a:solidFill>
                  <a:srgbClr val="000000"/>
                </a:solidFill>
                <a:latin typeface="Arimo Bold"/>
                <a:ea typeface="Arimo Bold"/>
                <a:cs typeface="Arimo Bold"/>
                <a:sym typeface="Arimo Bold"/>
              </a:rPr>
              <a:t>We consider the positions to be vertices and the wormholes as edges. Then, each cow needs to get from its initial position to its index position. As long as these two positions are in the same connected component, it is possible. We can keep track of this by coloring with DFS, with complexity (M+N). </a:t>
            </a:r>
          </a:p>
          <a:p>
            <a:pPr algn="l">
              <a:lnSpc>
                <a:spcPts val="4900"/>
              </a:lnSpc>
            </a:pPr>
          </a:p>
          <a:p>
            <a:pPr algn="l">
              <a:lnSpc>
                <a:spcPts val="4900"/>
              </a:lnSpc>
            </a:pPr>
            <a:r>
              <a:rPr lang="en-US" sz="3500" b="true">
                <a:solidFill>
                  <a:srgbClr val="000000"/>
                </a:solidFill>
                <a:latin typeface="Arimo Bold"/>
                <a:ea typeface="Arimo Bold"/>
                <a:cs typeface="Arimo Bold"/>
                <a:sym typeface="Arimo Bold"/>
              </a:rPr>
              <a:t>To see that this is true, consider a spanning tree of a CC. We can always perform swaps until one of the barns that is a leaf in the tree contains the correct cow. Then remove this leaf from the tree and continue the process.</a:t>
            </a:r>
          </a:p>
          <a:p>
            <a:pPr algn="l">
              <a:lnSpc>
                <a:spcPts val="4900"/>
              </a:lnSpc>
            </a:pPr>
          </a:p>
          <a:p>
            <a:pPr algn="l">
              <a:lnSpc>
                <a:spcPts val="4900"/>
              </a:lnSpc>
            </a:pPr>
            <a:r>
              <a:rPr lang="en-US" sz="3500" b="true">
                <a:solidFill>
                  <a:srgbClr val="000000"/>
                </a:solidFill>
                <a:latin typeface="Arimo Bold"/>
                <a:ea typeface="Arimo Bold"/>
                <a:cs typeface="Arimo Bold"/>
                <a:sym typeface="Arimo Bold"/>
              </a:rPr>
              <a:t>Perform a binary search on the smallest width to get a O((log 10^9) * (N+M))</a:t>
            </a:r>
          </a:p>
          <a:p>
            <a:pPr algn="l">
              <a:lnSpc>
                <a:spcPts val="49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52683" y="2555533"/>
            <a:ext cx="7285756" cy="7480661"/>
          </a:xfrm>
          <a:custGeom>
            <a:avLst/>
            <a:gdLst/>
            <a:ahLst/>
            <a:cxnLst/>
            <a:rect r="r" b="b" t="t" l="l"/>
            <a:pathLst>
              <a:path h="7480661" w="7285756">
                <a:moveTo>
                  <a:pt x="0" y="0"/>
                </a:moveTo>
                <a:lnTo>
                  <a:pt x="7285756" y="0"/>
                </a:lnTo>
                <a:lnTo>
                  <a:pt x="7285756" y="7480661"/>
                </a:lnTo>
                <a:lnTo>
                  <a:pt x="0" y="7480661"/>
                </a:lnTo>
                <a:lnTo>
                  <a:pt x="0" y="0"/>
                </a:lnTo>
                <a:close/>
              </a:path>
            </a:pathLst>
          </a:custGeom>
          <a:blipFill>
            <a:blip r:embed="rId2"/>
            <a:stretch>
              <a:fillRect l="0" t="0" r="0" b="0"/>
            </a:stretch>
          </a:blipFill>
        </p:spPr>
      </p:sp>
      <p:sp>
        <p:nvSpPr>
          <p:cNvPr name="Freeform 3" id="3"/>
          <p:cNvSpPr/>
          <p:nvPr/>
        </p:nvSpPr>
        <p:spPr>
          <a:xfrm flipH="false" flipV="false" rot="0">
            <a:off x="4299546" y="0"/>
            <a:ext cx="8493024" cy="5853794"/>
          </a:xfrm>
          <a:custGeom>
            <a:avLst/>
            <a:gdLst/>
            <a:ahLst/>
            <a:cxnLst/>
            <a:rect r="r" b="b" t="t" l="l"/>
            <a:pathLst>
              <a:path h="5853794" w="8493024">
                <a:moveTo>
                  <a:pt x="0" y="0"/>
                </a:moveTo>
                <a:lnTo>
                  <a:pt x="8493024" y="0"/>
                </a:lnTo>
                <a:lnTo>
                  <a:pt x="8493024" y="5853794"/>
                </a:lnTo>
                <a:lnTo>
                  <a:pt x="0" y="5853794"/>
                </a:lnTo>
                <a:lnTo>
                  <a:pt x="0" y="0"/>
                </a:lnTo>
                <a:close/>
              </a:path>
            </a:pathLst>
          </a:custGeom>
          <a:blipFill>
            <a:blip r:embed="rId3"/>
            <a:stretch>
              <a:fillRect l="0" t="0" r="0" b="0"/>
            </a:stretch>
          </a:blipFill>
        </p:spPr>
      </p:sp>
      <p:sp>
        <p:nvSpPr>
          <p:cNvPr name="Freeform 4" id="4"/>
          <p:cNvSpPr/>
          <p:nvPr/>
        </p:nvSpPr>
        <p:spPr>
          <a:xfrm flipH="false" flipV="false" rot="0">
            <a:off x="11614634" y="0"/>
            <a:ext cx="6052624" cy="10036194"/>
          </a:xfrm>
          <a:custGeom>
            <a:avLst/>
            <a:gdLst/>
            <a:ahLst/>
            <a:cxnLst/>
            <a:rect r="r" b="b" t="t" l="l"/>
            <a:pathLst>
              <a:path h="10036194" w="6052624">
                <a:moveTo>
                  <a:pt x="0" y="0"/>
                </a:moveTo>
                <a:lnTo>
                  <a:pt x="6052624" y="0"/>
                </a:lnTo>
                <a:lnTo>
                  <a:pt x="6052624" y="10036194"/>
                </a:lnTo>
                <a:lnTo>
                  <a:pt x="0" y="10036194"/>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64481" y="1397614"/>
            <a:ext cx="10347779" cy="7088229"/>
          </a:xfrm>
          <a:custGeom>
            <a:avLst/>
            <a:gdLst/>
            <a:ahLst/>
            <a:cxnLst/>
            <a:rect r="r" b="b" t="t" l="l"/>
            <a:pathLst>
              <a:path h="7088229" w="10347779">
                <a:moveTo>
                  <a:pt x="0" y="0"/>
                </a:moveTo>
                <a:lnTo>
                  <a:pt x="10347779" y="0"/>
                </a:lnTo>
                <a:lnTo>
                  <a:pt x="10347779" y="7088228"/>
                </a:lnTo>
                <a:lnTo>
                  <a:pt x="0" y="7088228"/>
                </a:lnTo>
                <a:lnTo>
                  <a:pt x="0" y="0"/>
                </a:lnTo>
                <a:close/>
              </a:path>
            </a:pathLst>
          </a:custGeom>
          <a:blipFill>
            <a:blip r:embed="rId2"/>
            <a:stretch>
              <a:fillRect l="0" t="0" r="0" b="0"/>
            </a:stretch>
          </a:blipFill>
        </p:spPr>
      </p:sp>
      <p:sp>
        <p:nvSpPr>
          <p:cNvPr name="TextBox 3" id="3"/>
          <p:cNvSpPr txBox="true"/>
          <p:nvPr/>
        </p:nvSpPr>
        <p:spPr>
          <a:xfrm rot="0">
            <a:off x="1028700" y="1302364"/>
            <a:ext cx="6430909" cy="2813049"/>
          </a:xfrm>
          <a:prstGeom prst="rect">
            <a:avLst/>
          </a:prstGeom>
        </p:spPr>
        <p:txBody>
          <a:bodyPr anchor="t" rtlCol="false" tIns="0" lIns="0" bIns="0" rIns="0">
            <a:spAutoFit/>
          </a:bodyPr>
          <a:lstStyle/>
          <a:p>
            <a:pPr algn="ctr">
              <a:lnSpc>
                <a:spcPts val="5600"/>
              </a:lnSpc>
            </a:pPr>
            <a:r>
              <a:rPr lang="en-US" sz="4000" b="true">
                <a:solidFill>
                  <a:srgbClr val="000000"/>
                </a:solidFill>
                <a:latin typeface="Arimo Bold"/>
                <a:ea typeface="Arimo Bold"/>
                <a:cs typeface="Arimo Bold"/>
                <a:sym typeface="Arimo Bold"/>
              </a:rPr>
              <a:t>Ex. 4:</a:t>
            </a:r>
          </a:p>
          <a:p>
            <a:pPr algn="ctr">
              <a:lnSpc>
                <a:spcPts val="5600"/>
              </a:lnSpc>
              <a:spcBef>
                <a:spcPct val="0"/>
              </a:spcBef>
            </a:pPr>
            <a:r>
              <a:rPr lang="en-US" b="true" sz="4000">
                <a:solidFill>
                  <a:srgbClr val="000000"/>
                </a:solidFill>
                <a:latin typeface="Arimo Bold"/>
                <a:ea typeface="Arimo Bold"/>
                <a:cs typeface="Arimo Bold"/>
                <a:sym typeface="Arimo Bold"/>
              </a:rPr>
              <a:t>USACO 2022 February Contest, Silver Problem 1. Redistributing Gifts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4 Solution</a:t>
            </a:r>
          </a:p>
        </p:txBody>
      </p:sp>
      <p:sp>
        <p:nvSpPr>
          <p:cNvPr name="TextBox 3" id="3"/>
          <p:cNvSpPr txBox="true"/>
          <p:nvPr/>
        </p:nvSpPr>
        <p:spPr>
          <a:xfrm rot="0">
            <a:off x="1028700" y="2304295"/>
            <a:ext cx="16230600" cy="8222614"/>
          </a:xfrm>
          <a:prstGeom prst="rect">
            <a:avLst/>
          </a:prstGeom>
        </p:spPr>
        <p:txBody>
          <a:bodyPr anchor="t" rtlCol="false" tIns="0" lIns="0" bIns="0" rIns="0">
            <a:spAutoFit/>
          </a:bodyPr>
          <a:lstStyle/>
          <a:p>
            <a:pPr algn="l">
              <a:lnSpc>
                <a:spcPts val="4060"/>
              </a:lnSpc>
            </a:pPr>
            <a:r>
              <a:rPr lang="en-US" sz="2900">
                <a:solidFill>
                  <a:srgbClr val="000000"/>
                </a:solidFill>
                <a:latin typeface="Arimo"/>
                <a:ea typeface="Arimo"/>
                <a:cs typeface="Arimo"/>
                <a:sym typeface="Arimo"/>
              </a:rPr>
              <a:t>Consider a Directed Graph in which there is an edge from i to j if cow i can end up with gift j (that is, gift j is &gt;= gift i in terms of cow i’s preference).</a:t>
            </a:r>
          </a:p>
          <a:p>
            <a:pPr algn="l">
              <a:lnSpc>
                <a:spcPts val="4060"/>
              </a:lnSpc>
            </a:pPr>
          </a:p>
          <a:p>
            <a:pPr algn="l">
              <a:lnSpc>
                <a:spcPts val="4060"/>
              </a:lnSpc>
            </a:pPr>
            <a:r>
              <a:rPr lang="en-US" sz="2900">
                <a:solidFill>
                  <a:srgbClr val="000000"/>
                </a:solidFill>
                <a:latin typeface="Arimo"/>
                <a:ea typeface="Arimo"/>
                <a:cs typeface="Arimo"/>
                <a:sym typeface="Arimo"/>
              </a:rPr>
              <a:t>We notice that there exists a valid redistribution that gives gift j to cow i if and only if there exists an edge from i to j and a path from j to i (equivalent to a cycle containing i to j):</a:t>
            </a:r>
          </a:p>
          <a:p>
            <a:pPr algn="l" marL="626122" indent="-313061" lvl="1">
              <a:lnSpc>
                <a:spcPts val="4060"/>
              </a:lnSpc>
              <a:buFont typeface="Arial"/>
              <a:buChar char="•"/>
            </a:pPr>
            <a:r>
              <a:rPr lang="en-US" sz="2900">
                <a:solidFill>
                  <a:srgbClr val="000000"/>
                </a:solidFill>
                <a:latin typeface="Arimo"/>
                <a:ea typeface="Arimo"/>
                <a:cs typeface="Arimo"/>
                <a:sym typeface="Arimo"/>
              </a:rPr>
              <a:t>if: let the cycle be c1 = i, c2 = j ... cn = i. Then, cow ck can always get gift c(k+1).</a:t>
            </a:r>
          </a:p>
          <a:p>
            <a:pPr algn="l" marL="626122" indent="-313061" lvl="1">
              <a:lnSpc>
                <a:spcPts val="4060"/>
              </a:lnSpc>
              <a:buFont typeface="Arial"/>
              <a:buChar char="•"/>
            </a:pPr>
            <a:r>
              <a:rPr lang="en-US" sz="2900">
                <a:solidFill>
                  <a:srgbClr val="000000"/>
                </a:solidFill>
                <a:latin typeface="Arimo"/>
                <a:ea typeface="Arimo"/>
                <a:cs typeface="Arimo"/>
                <a:sym typeface="Arimo"/>
              </a:rPr>
              <a:t>only if: any distribution where cow i receives cow j corresponds to a partition of the vertices into some number of simple cycles containing the edge</a:t>
            </a:r>
          </a:p>
          <a:p>
            <a:pPr algn="l">
              <a:lnSpc>
                <a:spcPts val="4060"/>
              </a:lnSpc>
            </a:pPr>
          </a:p>
          <a:p>
            <a:pPr algn="l">
              <a:lnSpc>
                <a:spcPts val="4060"/>
              </a:lnSpc>
            </a:pPr>
            <a:r>
              <a:rPr lang="en-US" sz="2900">
                <a:solidFill>
                  <a:srgbClr val="000000"/>
                </a:solidFill>
                <a:latin typeface="Arimo"/>
                <a:ea typeface="Arimo"/>
                <a:cs typeface="Arimo"/>
                <a:sym typeface="Arimo"/>
              </a:rPr>
              <a:t>Precompute which i’s have a path to j with DFS, store in adjacency matrix where reach[i][j] = 1 means there exists a path from i to j. This has complexity O(N^3).</a:t>
            </a:r>
          </a:p>
          <a:p>
            <a:pPr algn="l">
              <a:lnSpc>
                <a:spcPts val="4060"/>
              </a:lnSpc>
            </a:pPr>
          </a:p>
          <a:p>
            <a:pPr algn="l">
              <a:lnSpc>
                <a:spcPts val="4060"/>
              </a:lnSpc>
            </a:pPr>
            <a:r>
              <a:rPr lang="en-US" sz="2900">
                <a:solidFill>
                  <a:srgbClr val="000000"/>
                </a:solidFill>
                <a:latin typeface="Arimo"/>
                <a:ea typeface="Arimo"/>
                <a:cs typeface="Arimo"/>
                <a:sym typeface="Arimo"/>
              </a:rPr>
              <a:t>For each i, for each connected node j (some edge from i to j), if reach[j][i] then can get j. O(N^2).</a:t>
            </a:r>
          </a:p>
          <a:p>
            <a:pPr algn="l">
              <a:lnSpc>
                <a:spcPts val="4060"/>
              </a:lnSpc>
              <a:spcBef>
                <a:spcPct val="0"/>
              </a:spcBef>
            </a:pPr>
            <a:r>
              <a:rPr lang="en-US" b="true" sz="2900">
                <a:solidFill>
                  <a:srgbClr val="000000"/>
                </a:solidFill>
                <a:latin typeface="Arimo Bold"/>
                <a:ea typeface="Arimo Bold"/>
                <a:cs typeface="Arimo Bold"/>
                <a:sym typeface="Arimo Bold"/>
              </a:rPr>
              <a:t>Overall Time Complexity O(N^3)</a:t>
            </a:r>
          </a:p>
          <a:p>
            <a:pPr algn="l">
              <a:lnSpc>
                <a:spcPts val="4060"/>
              </a:lnSpc>
              <a:spcBef>
                <a:spcPct val="0"/>
              </a:spcBef>
            </a:pPr>
          </a:p>
          <a:p>
            <a:pPr algn="l">
              <a:lnSpc>
                <a:spcPts val="406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965519" y="1458488"/>
            <a:ext cx="6784983" cy="7255617"/>
          </a:xfrm>
          <a:custGeom>
            <a:avLst/>
            <a:gdLst/>
            <a:ahLst/>
            <a:cxnLst/>
            <a:rect r="r" b="b" t="t" l="l"/>
            <a:pathLst>
              <a:path h="7255617" w="6784983">
                <a:moveTo>
                  <a:pt x="0" y="0"/>
                </a:moveTo>
                <a:lnTo>
                  <a:pt x="6784982" y="0"/>
                </a:lnTo>
                <a:lnTo>
                  <a:pt x="6784982" y="7255618"/>
                </a:lnTo>
                <a:lnTo>
                  <a:pt x="0" y="7255618"/>
                </a:lnTo>
                <a:lnTo>
                  <a:pt x="0" y="0"/>
                </a:lnTo>
                <a:close/>
              </a:path>
            </a:pathLst>
          </a:custGeom>
          <a:blipFill>
            <a:blip r:embed="rId2"/>
            <a:stretch>
              <a:fillRect l="0" t="0" r="0" b="0"/>
            </a:stretch>
          </a:blipFill>
        </p:spPr>
      </p:sp>
      <p:sp>
        <p:nvSpPr>
          <p:cNvPr name="Freeform 3" id="3"/>
          <p:cNvSpPr/>
          <p:nvPr/>
        </p:nvSpPr>
        <p:spPr>
          <a:xfrm flipH="false" flipV="false" rot="0">
            <a:off x="8352589" y="435948"/>
            <a:ext cx="6568288" cy="9008963"/>
          </a:xfrm>
          <a:custGeom>
            <a:avLst/>
            <a:gdLst/>
            <a:ahLst/>
            <a:cxnLst/>
            <a:rect r="r" b="b" t="t" l="l"/>
            <a:pathLst>
              <a:path h="9008963" w="6568288">
                <a:moveTo>
                  <a:pt x="0" y="0"/>
                </a:moveTo>
                <a:lnTo>
                  <a:pt x="6568288" y="0"/>
                </a:lnTo>
                <a:lnTo>
                  <a:pt x="6568288" y="9008963"/>
                </a:lnTo>
                <a:lnTo>
                  <a:pt x="0" y="9008963"/>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8135410" y="952429"/>
            <a:ext cx="8723658" cy="6073847"/>
          </a:xfrm>
          <a:custGeom>
            <a:avLst/>
            <a:gdLst/>
            <a:ahLst/>
            <a:cxnLst/>
            <a:rect r="r" b="b" t="t" l="l"/>
            <a:pathLst>
              <a:path h="6073847" w="8723658">
                <a:moveTo>
                  <a:pt x="0" y="0"/>
                </a:moveTo>
                <a:lnTo>
                  <a:pt x="8723658" y="0"/>
                </a:lnTo>
                <a:lnTo>
                  <a:pt x="8723658" y="6073847"/>
                </a:lnTo>
                <a:lnTo>
                  <a:pt x="0" y="6073847"/>
                </a:lnTo>
                <a:lnTo>
                  <a:pt x="0" y="0"/>
                </a:lnTo>
                <a:close/>
              </a:path>
            </a:pathLst>
          </a:custGeom>
          <a:blipFill>
            <a:blip r:embed="rId2"/>
            <a:stretch>
              <a:fillRect l="0" t="0" r="0" b="0"/>
            </a:stretch>
          </a:blipFill>
        </p:spPr>
      </p:sp>
      <p:sp>
        <p:nvSpPr>
          <p:cNvPr name="Freeform 3" id="3"/>
          <p:cNvSpPr/>
          <p:nvPr/>
        </p:nvSpPr>
        <p:spPr>
          <a:xfrm flipH="false" flipV="false" rot="0">
            <a:off x="363323" y="4247186"/>
            <a:ext cx="7423873" cy="5011114"/>
          </a:xfrm>
          <a:custGeom>
            <a:avLst/>
            <a:gdLst/>
            <a:ahLst/>
            <a:cxnLst/>
            <a:rect r="r" b="b" t="t" l="l"/>
            <a:pathLst>
              <a:path h="5011114" w="7423873">
                <a:moveTo>
                  <a:pt x="0" y="0"/>
                </a:moveTo>
                <a:lnTo>
                  <a:pt x="7423873" y="0"/>
                </a:lnTo>
                <a:lnTo>
                  <a:pt x="7423873" y="5011114"/>
                </a:lnTo>
                <a:lnTo>
                  <a:pt x="0" y="5011114"/>
                </a:lnTo>
                <a:lnTo>
                  <a:pt x="0" y="0"/>
                </a:lnTo>
                <a:close/>
              </a:path>
            </a:pathLst>
          </a:custGeom>
          <a:blipFill>
            <a:blip r:embed="rId3"/>
            <a:stretch>
              <a:fillRect l="0" t="0" r="0" b="0"/>
            </a:stretch>
          </a:blipFill>
        </p:spPr>
      </p:sp>
      <p:sp>
        <p:nvSpPr>
          <p:cNvPr name="TextBox 4" id="4"/>
          <p:cNvSpPr txBox="true"/>
          <p:nvPr/>
        </p:nvSpPr>
        <p:spPr>
          <a:xfrm rot="-60000">
            <a:off x="570244" y="1569318"/>
            <a:ext cx="6430909" cy="2108199"/>
          </a:xfrm>
          <a:prstGeom prst="rect">
            <a:avLst/>
          </a:prstGeom>
        </p:spPr>
        <p:txBody>
          <a:bodyPr anchor="t" rtlCol="false" tIns="0" lIns="0" bIns="0" rIns="0">
            <a:spAutoFit/>
          </a:bodyPr>
          <a:lstStyle/>
          <a:p>
            <a:pPr algn="ctr">
              <a:lnSpc>
                <a:spcPts val="5600"/>
              </a:lnSpc>
            </a:pPr>
            <a:r>
              <a:rPr lang="en-US" sz="4000" b="true">
                <a:solidFill>
                  <a:srgbClr val="000000"/>
                </a:solidFill>
                <a:latin typeface="Arimo Bold"/>
                <a:ea typeface="Arimo Bold"/>
                <a:cs typeface="Arimo Bold"/>
                <a:sym typeface="Arimo Bold"/>
              </a:rPr>
              <a:t>Ex. 5:</a:t>
            </a:r>
          </a:p>
          <a:p>
            <a:pPr algn="ctr">
              <a:lnSpc>
                <a:spcPts val="5600"/>
              </a:lnSpc>
              <a:spcBef>
                <a:spcPct val="0"/>
              </a:spcBef>
            </a:pPr>
            <a:r>
              <a:rPr lang="en-US" b="true" sz="4000">
                <a:solidFill>
                  <a:srgbClr val="000000"/>
                </a:solidFill>
                <a:latin typeface="Arimo Bold"/>
                <a:ea typeface="Arimo Bold"/>
                <a:cs typeface="Arimo Bold"/>
                <a:sym typeface="Arimo Bold"/>
              </a:rPr>
              <a:t>CodeForces R874 Div3 Problem E Round Dance</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5 Solution</a:t>
            </a:r>
          </a:p>
        </p:txBody>
      </p:sp>
      <p:sp>
        <p:nvSpPr>
          <p:cNvPr name="TextBox 3" id="3"/>
          <p:cNvSpPr txBox="true"/>
          <p:nvPr/>
        </p:nvSpPr>
        <p:spPr>
          <a:xfrm rot="0">
            <a:off x="895226" y="2294761"/>
            <a:ext cx="16230600" cy="6165214"/>
          </a:xfrm>
          <a:prstGeom prst="rect">
            <a:avLst/>
          </a:prstGeom>
        </p:spPr>
        <p:txBody>
          <a:bodyPr anchor="t" rtlCol="false" tIns="0" lIns="0" bIns="0" rIns="0">
            <a:spAutoFit/>
          </a:bodyPr>
          <a:lstStyle/>
          <a:p>
            <a:pPr algn="l">
              <a:lnSpc>
                <a:spcPts val="4060"/>
              </a:lnSpc>
            </a:pPr>
            <a:r>
              <a:rPr lang="en-US" sz="2900">
                <a:solidFill>
                  <a:srgbClr val="000000"/>
                </a:solidFill>
                <a:latin typeface="Arimo"/>
                <a:ea typeface="Arimo"/>
                <a:cs typeface="Arimo"/>
                <a:sym typeface="Arimo"/>
              </a:rPr>
              <a:t>Consider the undirected graph that has edges i to a_i</a:t>
            </a:r>
          </a:p>
          <a:p>
            <a:pPr algn="l">
              <a:lnSpc>
                <a:spcPts val="4060"/>
              </a:lnSpc>
            </a:pPr>
          </a:p>
          <a:p>
            <a:pPr algn="l">
              <a:lnSpc>
                <a:spcPts val="4060"/>
              </a:lnSpc>
            </a:pPr>
            <a:r>
              <a:rPr lang="en-US" sz="2900">
                <a:solidFill>
                  <a:srgbClr val="000000"/>
                </a:solidFill>
                <a:latin typeface="Arimo"/>
                <a:ea typeface="Arimo"/>
                <a:cs typeface="Arimo"/>
                <a:sym typeface="Arimo"/>
              </a:rPr>
              <a:t>Since the </a:t>
            </a:r>
            <a:r>
              <a:rPr lang="en-US" sz="2900" b="true">
                <a:solidFill>
                  <a:srgbClr val="000000"/>
                </a:solidFill>
                <a:latin typeface="Arimo Bold"/>
                <a:ea typeface="Arimo Bold"/>
                <a:cs typeface="Arimo Bold"/>
                <a:sym typeface="Arimo Bold"/>
              </a:rPr>
              <a:t>degree</a:t>
            </a:r>
            <a:r>
              <a:rPr lang="en-US" sz="2900">
                <a:solidFill>
                  <a:srgbClr val="000000"/>
                </a:solidFill>
                <a:latin typeface="Arimo"/>
                <a:ea typeface="Arimo"/>
                <a:cs typeface="Arimo"/>
                <a:sym typeface="Arimo"/>
              </a:rPr>
              <a:t> of all nodes is at most 2, we have the following two possible connected components:</a:t>
            </a:r>
          </a:p>
          <a:p>
            <a:pPr algn="l" marL="626122" indent="-313061" lvl="1">
              <a:lnSpc>
                <a:spcPts val="4060"/>
              </a:lnSpc>
              <a:buFont typeface="Arial"/>
              <a:buChar char="•"/>
            </a:pPr>
            <a:r>
              <a:rPr lang="en-US" sz="2900">
                <a:solidFill>
                  <a:srgbClr val="000000"/>
                </a:solidFill>
                <a:latin typeface="Arimo"/>
                <a:ea typeface="Arimo"/>
                <a:cs typeface="Arimo"/>
                <a:sym typeface="Arimo"/>
              </a:rPr>
              <a:t>a cycle: this cannot be modified anymore</a:t>
            </a:r>
          </a:p>
          <a:p>
            <a:pPr algn="l" marL="626122" indent="-313061" lvl="1">
              <a:lnSpc>
                <a:spcPts val="4060"/>
              </a:lnSpc>
              <a:buFont typeface="Arial"/>
              <a:buChar char="•"/>
            </a:pPr>
            <a:r>
              <a:rPr lang="en-US" sz="2900">
                <a:solidFill>
                  <a:srgbClr val="000000"/>
                </a:solidFill>
                <a:latin typeface="Arimo"/>
                <a:ea typeface="Arimo"/>
                <a:cs typeface="Arimo"/>
                <a:sym typeface="Arimo"/>
              </a:rPr>
              <a:t>a line: the endpoints have degree 1 (this case includes single-node-islands)</a:t>
            </a:r>
          </a:p>
          <a:p>
            <a:pPr algn="l">
              <a:lnSpc>
                <a:spcPts val="4060"/>
              </a:lnSpc>
            </a:pPr>
          </a:p>
          <a:p>
            <a:pPr algn="l">
              <a:lnSpc>
                <a:spcPts val="4060"/>
              </a:lnSpc>
            </a:pPr>
            <a:r>
              <a:rPr lang="en-US" sz="2900">
                <a:solidFill>
                  <a:srgbClr val="000000"/>
                </a:solidFill>
                <a:latin typeface="Arimo"/>
                <a:ea typeface="Arimo"/>
                <a:cs typeface="Arimo"/>
                <a:sym typeface="Arimo"/>
              </a:rPr>
              <a:t>Let there be C cycles and L lines. We can identify these using dfs easily.</a:t>
            </a:r>
          </a:p>
          <a:p>
            <a:pPr algn="l">
              <a:lnSpc>
                <a:spcPts val="4060"/>
              </a:lnSpc>
            </a:pPr>
          </a:p>
          <a:p>
            <a:pPr algn="l">
              <a:lnSpc>
                <a:spcPts val="4060"/>
              </a:lnSpc>
              <a:spcBef>
                <a:spcPct val="0"/>
              </a:spcBef>
            </a:pPr>
            <a:r>
              <a:rPr lang="en-US" sz="2900">
                <a:solidFill>
                  <a:srgbClr val="000000"/>
                </a:solidFill>
                <a:latin typeface="Arimo"/>
                <a:ea typeface="Arimo"/>
                <a:cs typeface="Arimo"/>
                <a:sym typeface="Arimo"/>
              </a:rPr>
              <a:t>For the minimum number of round dances, we can choose to combine all lines into a single cycle (the construction is easy to think of): C + min(1, L); for the maximum number of rounds, we can link each line back to itself, giving an answer of C + 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965519" y="1458488"/>
            <a:ext cx="6784983" cy="7255617"/>
          </a:xfrm>
          <a:custGeom>
            <a:avLst/>
            <a:gdLst/>
            <a:ahLst/>
            <a:cxnLst/>
            <a:rect r="r" b="b" t="t" l="l"/>
            <a:pathLst>
              <a:path h="7255617" w="6784983">
                <a:moveTo>
                  <a:pt x="0" y="0"/>
                </a:moveTo>
                <a:lnTo>
                  <a:pt x="6784982" y="0"/>
                </a:lnTo>
                <a:lnTo>
                  <a:pt x="6784982" y="7255618"/>
                </a:lnTo>
                <a:lnTo>
                  <a:pt x="0" y="7255618"/>
                </a:lnTo>
                <a:lnTo>
                  <a:pt x="0" y="0"/>
                </a:lnTo>
                <a:close/>
              </a:path>
            </a:pathLst>
          </a:custGeom>
          <a:blipFill>
            <a:blip r:embed="rId2"/>
            <a:stretch>
              <a:fillRect l="0" t="0" r="0" b="0"/>
            </a:stretch>
          </a:blipFill>
        </p:spPr>
      </p:sp>
      <p:sp>
        <p:nvSpPr>
          <p:cNvPr name="Freeform 3" id="3"/>
          <p:cNvSpPr/>
          <p:nvPr/>
        </p:nvSpPr>
        <p:spPr>
          <a:xfrm flipH="false" flipV="false" rot="0">
            <a:off x="8352589" y="435948"/>
            <a:ext cx="6568288" cy="9008963"/>
          </a:xfrm>
          <a:custGeom>
            <a:avLst/>
            <a:gdLst/>
            <a:ahLst/>
            <a:cxnLst/>
            <a:rect r="r" b="b" t="t" l="l"/>
            <a:pathLst>
              <a:path h="9008963" w="6568288">
                <a:moveTo>
                  <a:pt x="0" y="0"/>
                </a:moveTo>
                <a:lnTo>
                  <a:pt x="6568288" y="0"/>
                </a:lnTo>
                <a:lnTo>
                  <a:pt x="6568288" y="9008963"/>
                </a:lnTo>
                <a:lnTo>
                  <a:pt x="0" y="9008963"/>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6524190" y="1625364"/>
            <a:ext cx="10105956" cy="7036272"/>
          </a:xfrm>
          <a:custGeom>
            <a:avLst/>
            <a:gdLst/>
            <a:ahLst/>
            <a:cxnLst/>
            <a:rect r="r" b="b" t="t" l="l"/>
            <a:pathLst>
              <a:path h="7036272" w="10105956">
                <a:moveTo>
                  <a:pt x="0" y="0"/>
                </a:moveTo>
                <a:lnTo>
                  <a:pt x="10105957" y="0"/>
                </a:lnTo>
                <a:lnTo>
                  <a:pt x="10105957" y="7036272"/>
                </a:lnTo>
                <a:lnTo>
                  <a:pt x="0" y="7036272"/>
                </a:lnTo>
                <a:lnTo>
                  <a:pt x="0" y="0"/>
                </a:lnTo>
                <a:close/>
              </a:path>
            </a:pathLst>
          </a:custGeom>
          <a:blipFill>
            <a:blip r:embed="rId2"/>
            <a:stretch>
              <a:fillRect l="0" t="0" r="0" b="0"/>
            </a:stretch>
          </a:blipFill>
        </p:spPr>
      </p:sp>
      <p:sp>
        <p:nvSpPr>
          <p:cNvPr name="TextBox 3" id="3"/>
          <p:cNvSpPr txBox="true"/>
          <p:nvPr/>
        </p:nvSpPr>
        <p:spPr>
          <a:xfrm rot="-60000">
            <a:off x="417150" y="2425245"/>
            <a:ext cx="5609459" cy="4222749"/>
          </a:xfrm>
          <a:prstGeom prst="rect">
            <a:avLst/>
          </a:prstGeom>
        </p:spPr>
        <p:txBody>
          <a:bodyPr anchor="t" rtlCol="false" tIns="0" lIns="0" bIns="0" rIns="0">
            <a:spAutoFit/>
          </a:bodyPr>
          <a:lstStyle/>
          <a:p>
            <a:pPr algn="ctr">
              <a:lnSpc>
                <a:spcPts val="5600"/>
              </a:lnSpc>
            </a:pPr>
            <a:r>
              <a:rPr lang="en-US" sz="4000" b="true">
                <a:solidFill>
                  <a:srgbClr val="000000"/>
                </a:solidFill>
                <a:latin typeface="Arimo Bold"/>
                <a:ea typeface="Arimo Bold"/>
                <a:cs typeface="Arimo Bold"/>
                <a:sym typeface="Arimo Bold"/>
              </a:rPr>
              <a:t>Ex. 6:</a:t>
            </a:r>
          </a:p>
          <a:p>
            <a:pPr algn="ctr">
              <a:lnSpc>
                <a:spcPts val="5600"/>
              </a:lnSpc>
              <a:spcBef>
                <a:spcPct val="0"/>
              </a:spcBef>
            </a:pPr>
            <a:r>
              <a:rPr lang="en-US" b="true" sz="4000">
                <a:solidFill>
                  <a:srgbClr val="000000"/>
                </a:solidFill>
                <a:latin typeface="Arimo Bold"/>
                <a:ea typeface="Arimo Bold"/>
                <a:cs typeface="Arimo Bold"/>
                <a:sym typeface="Arimo Bold"/>
              </a:rPr>
              <a:t>Educational Codeforces Round 37 (Rated for Div. 2)</a:t>
            </a:r>
          </a:p>
          <a:p>
            <a:pPr algn="ctr">
              <a:lnSpc>
                <a:spcPts val="5600"/>
              </a:lnSpc>
              <a:spcBef>
                <a:spcPct val="0"/>
              </a:spcBef>
            </a:pPr>
            <a:r>
              <a:rPr lang="en-US" b="true" sz="4000">
                <a:solidFill>
                  <a:srgbClr val="000000"/>
                </a:solidFill>
                <a:latin typeface="Arimo Bold"/>
                <a:ea typeface="Arimo Bold"/>
                <a:cs typeface="Arimo Bold"/>
                <a:sym typeface="Arimo Bold"/>
              </a:rPr>
              <a:t>Problem E: Connected Components?</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4952919"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6 Solution</a:t>
            </a:r>
          </a:p>
        </p:txBody>
      </p:sp>
      <p:sp>
        <p:nvSpPr>
          <p:cNvPr name="TextBox 3" id="3"/>
          <p:cNvSpPr txBox="true"/>
          <p:nvPr/>
        </p:nvSpPr>
        <p:spPr>
          <a:xfrm rot="0">
            <a:off x="895226" y="2294761"/>
            <a:ext cx="16230600" cy="5650864"/>
          </a:xfrm>
          <a:prstGeom prst="rect">
            <a:avLst/>
          </a:prstGeom>
        </p:spPr>
        <p:txBody>
          <a:bodyPr anchor="t" rtlCol="false" tIns="0" lIns="0" bIns="0" rIns="0">
            <a:spAutoFit/>
          </a:bodyPr>
          <a:lstStyle/>
          <a:p>
            <a:pPr algn="l">
              <a:lnSpc>
                <a:spcPts val="4060"/>
              </a:lnSpc>
              <a:spcBef>
                <a:spcPct val="0"/>
              </a:spcBef>
            </a:pPr>
            <a:r>
              <a:rPr lang="en-US" sz="2900">
                <a:solidFill>
                  <a:srgbClr val="000000"/>
                </a:solidFill>
                <a:latin typeface="Arimo"/>
                <a:ea typeface="Arimo"/>
                <a:cs typeface="Arimo"/>
                <a:sym typeface="Arimo"/>
              </a:rPr>
              <a:t>The graphs given are </a:t>
            </a:r>
            <a:r>
              <a:rPr lang="en-US" b="true" sz="2900">
                <a:solidFill>
                  <a:srgbClr val="000000"/>
                </a:solidFill>
                <a:latin typeface="Arimo Bold"/>
                <a:ea typeface="Arimo Bold"/>
                <a:cs typeface="Arimo Bold"/>
                <a:sym typeface="Arimo Bold"/>
              </a:rPr>
              <a:t>super super dense</a:t>
            </a:r>
            <a:r>
              <a:rPr lang="en-US" sz="2900">
                <a:solidFill>
                  <a:srgbClr val="000000"/>
                </a:solidFill>
                <a:latin typeface="Arimo"/>
                <a:ea typeface="Arimo"/>
                <a:cs typeface="Arimo"/>
                <a:sym typeface="Arimo"/>
              </a:rPr>
              <a:t>. We could simply store which nodes a node is </a:t>
            </a:r>
            <a:r>
              <a:rPr lang="en-US" b="true" sz="2900">
                <a:solidFill>
                  <a:srgbClr val="000000"/>
                </a:solidFill>
                <a:latin typeface="Arimo Bold"/>
                <a:ea typeface="Arimo Bold"/>
                <a:cs typeface="Arimo Bold"/>
                <a:sym typeface="Arimo Bold"/>
              </a:rPr>
              <a:t>not</a:t>
            </a:r>
            <a:r>
              <a:rPr lang="en-US" sz="2900">
                <a:solidFill>
                  <a:srgbClr val="000000"/>
                </a:solidFill>
                <a:latin typeface="Arimo"/>
                <a:ea typeface="Arimo"/>
                <a:cs typeface="Arimo"/>
                <a:sym typeface="Arimo"/>
              </a:rPr>
              <a:t> connected to. Notice that a classic dfs solution gives O(V+E), approximately N^2.</a:t>
            </a:r>
          </a:p>
          <a:p>
            <a:pPr algn="l">
              <a:lnSpc>
                <a:spcPts val="4060"/>
              </a:lnSpc>
              <a:spcBef>
                <a:spcPct val="0"/>
              </a:spcBef>
            </a:pPr>
          </a:p>
          <a:p>
            <a:pPr algn="l">
              <a:lnSpc>
                <a:spcPts val="4060"/>
              </a:lnSpc>
              <a:spcBef>
                <a:spcPct val="0"/>
              </a:spcBef>
            </a:pPr>
            <a:r>
              <a:rPr lang="en-US" sz="2900">
                <a:solidFill>
                  <a:srgbClr val="000000"/>
                </a:solidFill>
                <a:latin typeface="Arimo"/>
                <a:ea typeface="Arimo"/>
                <a:cs typeface="Arimo"/>
                <a:sym typeface="Arimo"/>
              </a:rPr>
              <a:t>Firstly, we can use hashsets (unordered_set) to store these no-connections, so that each query takes O(1). Then, we maintain a set of unvisited nodes, removing any node whenever traversed in the dfs; then, for that node, we consider its neighbors by going up the set of unvisited nodes: if there is a connection, dfs down that neighbor and then jump to upper_bound(neighbor).</a:t>
            </a:r>
          </a:p>
          <a:p>
            <a:pPr algn="l">
              <a:lnSpc>
                <a:spcPts val="4060"/>
              </a:lnSpc>
              <a:spcBef>
                <a:spcPct val="0"/>
              </a:spcBef>
            </a:pPr>
          </a:p>
          <a:p>
            <a:pPr algn="l">
              <a:lnSpc>
                <a:spcPts val="4060"/>
              </a:lnSpc>
              <a:spcBef>
                <a:spcPct val="0"/>
              </a:spcBef>
            </a:pPr>
            <a:r>
              <a:rPr lang="en-US" sz="2900">
                <a:solidFill>
                  <a:srgbClr val="000000"/>
                </a:solidFill>
                <a:latin typeface="Arimo"/>
                <a:ea typeface="Arimo"/>
                <a:cs typeface="Arimo"/>
                <a:sym typeface="Arimo"/>
              </a:rPr>
              <a:t>Consider time complexity on next page.</a:t>
            </a:r>
          </a:p>
          <a:p>
            <a:pPr algn="l">
              <a:lnSpc>
                <a:spcPts val="4060"/>
              </a:lnSpc>
              <a:spcBef>
                <a:spcPct val="0"/>
              </a:spcBef>
            </a:pPr>
          </a:p>
          <a:p>
            <a:pPr algn="l">
              <a:lnSpc>
                <a:spcPts val="4060"/>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545733" y="632101"/>
            <a:ext cx="8161237" cy="9157522"/>
          </a:xfrm>
          <a:custGeom>
            <a:avLst/>
            <a:gdLst/>
            <a:ahLst/>
            <a:cxnLst/>
            <a:rect r="r" b="b" t="t" l="l"/>
            <a:pathLst>
              <a:path h="9157522" w="8161237">
                <a:moveTo>
                  <a:pt x="0" y="0"/>
                </a:moveTo>
                <a:lnTo>
                  <a:pt x="8161237" y="0"/>
                </a:lnTo>
                <a:lnTo>
                  <a:pt x="8161237" y="9157522"/>
                </a:lnTo>
                <a:lnTo>
                  <a:pt x="0" y="9157522"/>
                </a:lnTo>
                <a:lnTo>
                  <a:pt x="0" y="0"/>
                </a:lnTo>
                <a:close/>
              </a:path>
            </a:pathLst>
          </a:custGeom>
          <a:blipFill>
            <a:blip r:embed="rId2"/>
            <a:stretch>
              <a:fillRect l="0" t="0" r="0" b="0"/>
            </a:stretch>
          </a:blipFill>
        </p:spPr>
      </p:sp>
      <p:sp>
        <p:nvSpPr>
          <p:cNvPr name="Freeform 3" id="3"/>
          <p:cNvSpPr/>
          <p:nvPr/>
        </p:nvSpPr>
        <p:spPr>
          <a:xfrm flipH="false" flipV="false" rot="0">
            <a:off x="8830365" y="1028700"/>
            <a:ext cx="8692427" cy="8029445"/>
          </a:xfrm>
          <a:custGeom>
            <a:avLst/>
            <a:gdLst/>
            <a:ahLst/>
            <a:cxnLst/>
            <a:rect r="r" b="b" t="t" l="l"/>
            <a:pathLst>
              <a:path h="8029445" w="8692427">
                <a:moveTo>
                  <a:pt x="0" y="0"/>
                </a:moveTo>
                <a:lnTo>
                  <a:pt x="8692427" y="0"/>
                </a:lnTo>
                <a:lnTo>
                  <a:pt x="8692427" y="8029445"/>
                </a:lnTo>
                <a:lnTo>
                  <a:pt x="0" y="8029445"/>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4862006" y="0"/>
            <a:ext cx="7783527" cy="10287000"/>
          </a:xfrm>
          <a:custGeom>
            <a:avLst/>
            <a:gdLst/>
            <a:ahLst/>
            <a:cxnLst/>
            <a:rect r="r" b="b" t="t" l="l"/>
            <a:pathLst>
              <a:path h="10287000" w="7783527">
                <a:moveTo>
                  <a:pt x="0" y="0"/>
                </a:moveTo>
                <a:lnTo>
                  <a:pt x="7783527" y="0"/>
                </a:lnTo>
                <a:lnTo>
                  <a:pt x="7783527" y="10287000"/>
                </a:lnTo>
                <a:lnTo>
                  <a:pt x="0" y="10287000"/>
                </a:lnTo>
                <a:lnTo>
                  <a:pt x="0" y="0"/>
                </a:lnTo>
                <a:close/>
              </a:path>
            </a:pathLst>
          </a:custGeom>
          <a:blipFill>
            <a:blip r:embed="rId2">
              <a:alphaModFix amt="28000"/>
            </a:blip>
            <a:stretch>
              <a:fillRect l="0" t="0" r="0" b="0"/>
            </a:stretch>
          </a:blipFill>
        </p:spPr>
      </p:sp>
      <p:sp>
        <p:nvSpPr>
          <p:cNvPr name="Freeform 3" id="3"/>
          <p:cNvSpPr/>
          <p:nvPr/>
        </p:nvSpPr>
        <p:spPr>
          <a:xfrm flipH="false" flipV="false" rot="0">
            <a:off x="0" y="0"/>
            <a:ext cx="7435552" cy="6822119"/>
          </a:xfrm>
          <a:custGeom>
            <a:avLst/>
            <a:gdLst/>
            <a:ahLst/>
            <a:cxnLst/>
            <a:rect r="r" b="b" t="t" l="l"/>
            <a:pathLst>
              <a:path h="6822119" w="7435552">
                <a:moveTo>
                  <a:pt x="0" y="0"/>
                </a:moveTo>
                <a:lnTo>
                  <a:pt x="7435552" y="0"/>
                </a:lnTo>
                <a:lnTo>
                  <a:pt x="7435552" y="6822119"/>
                </a:lnTo>
                <a:lnTo>
                  <a:pt x="0" y="6822119"/>
                </a:lnTo>
                <a:lnTo>
                  <a:pt x="0" y="0"/>
                </a:lnTo>
                <a:close/>
              </a:path>
            </a:pathLst>
          </a:custGeom>
          <a:blipFill>
            <a:blip r:embed="rId3"/>
            <a:stretch>
              <a:fillRect l="0" t="0" r="0" b="0"/>
            </a:stretch>
          </a:blipFill>
        </p:spPr>
      </p:sp>
      <p:sp>
        <p:nvSpPr>
          <p:cNvPr name="Freeform 4" id="4"/>
          <p:cNvSpPr/>
          <p:nvPr/>
        </p:nvSpPr>
        <p:spPr>
          <a:xfrm flipH="false" flipV="false" rot="0">
            <a:off x="7435552" y="3396934"/>
            <a:ext cx="10852448" cy="6986263"/>
          </a:xfrm>
          <a:custGeom>
            <a:avLst/>
            <a:gdLst/>
            <a:ahLst/>
            <a:cxnLst/>
            <a:rect r="r" b="b" t="t" l="l"/>
            <a:pathLst>
              <a:path h="6986263" w="10852448">
                <a:moveTo>
                  <a:pt x="0" y="0"/>
                </a:moveTo>
                <a:lnTo>
                  <a:pt x="10852448" y="0"/>
                </a:lnTo>
                <a:lnTo>
                  <a:pt x="10852448" y="6986264"/>
                </a:lnTo>
                <a:lnTo>
                  <a:pt x="0" y="6986264"/>
                </a:lnTo>
                <a:lnTo>
                  <a:pt x="0" y="0"/>
                </a:lnTo>
                <a:close/>
              </a:path>
            </a:pathLst>
          </a:custGeom>
          <a:blipFill>
            <a:blip r:embed="rId4"/>
            <a:stretch>
              <a:fillRect l="0" t="0" r="0" b="0"/>
            </a:stretch>
          </a:blipFill>
        </p:spPr>
      </p:sp>
      <p:sp>
        <p:nvSpPr>
          <p:cNvPr name="TextBox 5" id="5"/>
          <p:cNvSpPr txBox="true"/>
          <p:nvPr/>
        </p:nvSpPr>
        <p:spPr>
          <a:xfrm rot="0">
            <a:off x="12858750" y="-95250"/>
            <a:ext cx="5429250" cy="3517899"/>
          </a:xfrm>
          <a:prstGeom prst="rect">
            <a:avLst/>
          </a:prstGeom>
        </p:spPr>
        <p:txBody>
          <a:bodyPr anchor="t" rtlCol="false" tIns="0" lIns="0" bIns="0" rIns="0">
            <a:spAutoFit/>
          </a:bodyPr>
          <a:lstStyle/>
          <a:p>
            <a:pPr algn="r">
              <a:lnSpc>
                <a:spcPts val="5600"/>
              </a:lnSpc>
            </a:pPr>
            <a:r>
              <a:rPr lang="en-US" sz="4000" b="true">
                <a:solidFill>
                  <a:srgbClr val="000000"/>
                </a:solidFill>
                <a:latin typeface="Arimo Bold"/>
                <a:ea typeface="Arimo Bold"/>
                <a:cs typeface="Arimo Bold"/>
                <a:sym typeface="Arimo Bold"/>
              </a:rPr>
              <a:t>Ex. 7: Lane Switching</a:t>
            </a:r>
          </a:p>
          <a:p>
            <a:pPr algn="r">
              <a:lnSpc>
                <a:spcPts val="5600"/>
              </a:lnSpc>
              <a:spcBef>
                <a:spcPct val="0"/>
              </a:spcBef>
            </a:pPr>
            <a:r>
              <a:rPr lang="en-US" b="true" sz="4000">
                <a:solidFill>
                  <a:srgbClr val="000000"/>
                </a:solidFill>
                <a:latin typeface="Arimo Bold"/>
                <a:ea typeface="Arimo Bold"/>
                <a:cs typeface="Arimo Bold"/>
                <a:sym typeface="Arimo Bold"/>
              </a:rPr>
              <a:t>2017 Africa and Arab Collegiate Programming Championship</a:t>
            </a:r>
          </a:p>
        </p:txBody>
      </p:sp>
      <p:sp>
        <p:nvSpPr>
          <p:cNvPr name="TextBox 6" id="6"/>
          <p:cNvSpPr txBox="true"/>
          <p:nvPr/>
        </p:nvSpPr>
        <p:spPr>
          <a:xfrm rot="0">
            <a:off x="209860" y="7042855"/>
            <a:ext cx="7225692" cy="1771897"/>
          </a:xfrm>
          <a:prstGeom prst="rect">
            <a:avLst/>
          </a:prstGeom>
        </p:spPr>
        <p:txBody>
          <a:bodyPr anchor="t" rtlCol="false" tIns="0" lIns="0" bIns="0" rIns="0">
            <a:spAutoFit/>
          </a:bodyPr>
          <a:lstStyle/>
          <a:p>
            <a:pPr algn="l">
              <a:lnSpc>
                <a:spcPts val="4711"/>
              </a:lnSpc>
            </a:pPr>
            <a:r>
              <a:rPr lang="en-US" sz="3365">
                <a:solidFill>
                  <a:srgbClr val="000000"/>
                </a:solidFill>
                <a:latin typeface="Arimo"/>
                <a:ea typeface="Arimo"/>
                <a:cs typeface="Arimo"/>
                <a:sym typeface="Arimo"/>
              </a:rPr>
              <a:t>Here we need to find out how to receive the maximum safety factor for our cars</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2178329"/>
            <a:ext cx="16731787" cy="5315197"/>
          </a:xfrm>
          <a:prstGeom prst="rect">
            <a:avLst/>
          </a:prstGeom>
        </p:spPr>
        <p:txBody>
          <a:bodyPr anchor="t" rtlCol="false" tIns="0" lIns="0" bIns="0" rIns="0">
            <a:spAutoFit/>
          </a:bodyPr>
          <a:lstStyle/>
          <a:p>
            <a:pPr algn="just">
              <a:lnSpc>
                <a:spcPts val="4711"/>
              </a:lnSpc>
            </a:pPr>
            <a:r>
              <a:rPr lang="en-US" sz="3365">
                <a:solidFill>
                  <a:srgbClr val="000000"/>
                </a:solidFill>
                <a:latin typeface="Arimo"/>
                <a:ea typeface="Arimo"/>
                <a:cs typeface="Arimo"/>
                <a:sym typeface="Arimo"/>
              </a:rPr>
              <a:t>What we wish to do here is to see that we do binary search</a:t>
            </a:r>
          </a:p>
          <a:p>
            <a:pPr algn="just">
              <a:lnSpc>
                <a:spcPts val="4711"/>
              </a:lnSpc>
            </a:pPr>
            <a:r>
              <a:rPr lang="en-US" sz="3365">
                <a:solidFill>
                  <a:srgbClr val="000000"/>
                </a:solidFill>
                <a:latin typeface="Arimo"/>
                <a:ea typeface="Arimo"/>
                <a:cs typeface="Arimo"/>
                <a:sym typeface="Arimo"/>
              </a:rPr>
              <a:t>We could first simply build a graph to store everything:</a:t>
            </a:r>
          </a:p>
          <a:p>
            <a:pPr algn="just">
              <a:lnSpc>
                <a:spcPts val="4711"/>
              </a:lnSpc>
            </a:pPr>
            <a:r>
              <a:rPr lang="en-US" sz="3365">
                <a:solidFill>
                  <a:srgbClr val="000000"/>
                </a:solidFill>
                <a:latin typeface="Arimo"/>
                <a:ea typeface="Arimo"/>
                <a:cs typeface="Arimo"/>
                <a:sym typeface="Arimo"/>
              </a:rPr>
              <a:t>Vertexes: Unoccupied space on the road (so places where the sensors can’t sense don’t have vertices)</a:t>
            </a:r>
          </a:p>
          <a:p>
            <a:pPr algn="just">
              <a:lnSpc>
                <a:spcPts val="4711"/>
              </a:lnSpc>
            </a:pPr>
            <a:r>
              <a:rPr lang="en-US" sz="3365">
                <a:solidFill>
                  <a:srgbClr val="000000"/>
                </a:solidFill>
                <a:latin typeface="Arimo"/>
                <a:ea typeface="Arimo"/>
                <a:cs typeface="Arimo"/>
                <a:sym typeface="Arimo"/>
              </a:rPr>
              <a:t>Edges exists between vertices if the car is able to pass</a:t>
            </a:r>
          </a:p>
          <a:p>
            <a:pPr algn="just">
              <a:lnSpc>
                <a:spcPts val="4711"/>
              </a:lnSpc>
            </a:pPr>
          </a:p>
          <a:p>
            <a:pPr algn="just">
              <a:lnSpc>
                <a:spcPts val="4711"/>
              </a:lnSpc>
            </a:pPr>
            <a:r>
              <a:rPr lang="en-US" sz="3365">
                <a:solidFill>
                  <a:srgbClr val="000000"/>
                </a:solidFill>
                <a:latin typeface="Arimo"/>
                <a:ea typeface="Arimo"/>
                <a:cs typeface="Arimo"/>
                <a:sym typeface="Arimo"/>
              </a:rPr>
              <a:t>We then do a binary search through if the number is ok for the maximum safety factor</a:t>
            </a:r>
          </a:p>
          <a:p>
            <a:pPr algn="just">
              <a:lnSpc>
                <a:spcPts val="4711"/>
              </a:lnSpc>
            </a:pPr>
            <a:r>
              <a:rPr lang="en-US" sz="3365">
                <a:solidFill>
                  <a:srgbClr val="000000"/>
                </a:solidFill>
                <a:latin typeface="Arimo"/>
                <a:ea typeface="Arimo"/>
                <a:cs typeface="Arimo"/>
                <a:sym typeface="Arimo"/>
              </a:rPr>
              <a:t>Use DFS go through the entire graph to check if a path exists from the ACM car's initial gap to any gap in the rightmost lane</a:t>
            </a:r>
          </a:p>
        </p:txBody>
      </p:sp>
      <p:sp>
        <p:nvSpPr>
          <p:cNvPr name="TextBox 3" id="3"/>
          <p:cNvSpPr txBox="true"/>
          <p:nvPr/>
        </p:nvSpPr>
        <p:spPr>
          <a:xfrm rot="0">
            <a:off x="759719" y="600591"/>
            <a:ext cx="10506018" cy="1390014"/>
          </a:xfrm>
          <a:prstGeom prst="rect">
            <a:avLst/>
          </a:prstGeom>
        </p:spPr>
        <p:txBody>
          <a:bodyPr anchor="t" rtlCol="false" tIns="0" lIns="0" bIns="0" rIns="0">
            <a:spAutoFit/>
          </a:bodyPr>
          <a:lstStyle/>
          <a:p>
            <a:pPr algn="l">
              <a:lnSpc>
                <a:spcPts val="11060"/>
              </a:lnSpc>
            </a:pPr>
            <a:r>
              <a:rPr lang="en-US" sz="7900" b="true">
                <a:solidFill>
                  <a:srgbClr val="000000"/>
                </a:solidFill>
                <a:latin typeface="Arimo Bold"/>
                <a:ea typeface="Arimo Bold"/>
                <a:cs typeface="Arimo Bold"/>
                <a:sym typeface="Arimo Bold"/>
              </a:rPr>
              <a:t>Ex 7. Solution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439705" y="2243343"/>
            <a:ext cx="14304087" cy="7438125"/>
          </a:xfrm>
          <a:custGeom>
            <a:avLst/>
            <a:gdLst/>
            <a:ahLst/>
            <a:cxnLst/>
            <a:rect r="r" b="b" t="t" l="l"/>
            <a:pathLst>
              <a:path h="7438125" w="14304087">
                <a:moveTo>
                  <a:pt x="0" y="0"/>
                </a:moveTo>
                <a:lnTo>
                  <a:pt x="14304086" y="0"/>
                </a:lnTo>
                <a:lnTo>
                  <a:pt x="14304086" y="7438126"/>
                </a:lnTo>
                <a:lnTo>
                  <a:pt x="0" y="7438126"/>
                </a:lnTo>
                <a:lnTo>
                  <a:pt x="0" y="0"/>
                </a:lnTo>
                <a:close/>
              </a:path>
            </a:pathLst>
          </a:custGeom>
          <a:blipFill>
            <a:blip r:embed="rId2"/>
            <a:stretch>
              <a:fillRect l="0" t="0" r="0" b="0"/>
            </a:stretch>
          </a:blipFill>
        </p:spPr>
      </p:sp>
      <p:sp>
        <p:nvSpPr>
          <p:cNvPr name="Freeform 3" id="3"/>
          <p:cNvSpPr/>
          <p:nvPr/>
        </p:nvSpPr>
        <p:spPr>
          <a:xfrm flipH="false" flipV="false" rot="0">
            <a:off x="14896474" y="2556669"/>
            <a:ext cx="3170533" cy="6356958"/>
          </a:xfrm>
          <a:custGeom>
            <a:avLst/>
            <a:gdLst/>
            <a:ahLst/>
            <a:cxnLst/>
            <a:rect r="r" b="b" t="t" l="l"/>
            <a:pathLst>
              <a:path h="6356958" w="3170533">
                <a:moveTo>
                  <a:pt x="0" y="0"/>
                </a:moveTo>
                <a:lnTo>
                  <a:pt x="3170533" y="0"/>
                </a:lnTo>
                <a:lnTo>
                  <a:pt x="3170533" y="6356958"/>
                </a:lnTo>
                <a:lnTo>
                  <a:pt x="0" y="6356958"/>
                </a:lnTo>
                <a:lnTo>
                  <a:pt x="0" y="0"/>
                </a:lnTo>
                <a:close/>
              </a:path>
            </a:pathLst>
          </a:custGeom>
          <a:blipFill>
            <a:blip r:embed="rId3"/>
            <a:stretch>
              <a:fillRect l="0" t="0" r="0" b="0"/>
            </a:stretch>
          </a:blipFill>
        </p:spPr>
      </p:sp>
      <p:sp>
        <p:nvSpPr>
          <p:cNvPr name="TextBox 4" id="4"/>
          <p:cNvSpPr txBox="true"/>
          <p:nvPr/>
        </p:nvSpPr>
        <p:spPr>
          <a:xfrm rot="0">
            <a:off x="759719" y="648216"/>
            <a:ext cx="14952919" cy="1040760"/>
          </a:xfrm>
          <a:prstGeom prst="rect">
            <a:avLst/>
          </a:prstGeom>
        </p:spPr>
        <p:txBody>
          <a:bodyPr anchor="t" rtlCol="false" tIns="0" lIns="0" bIns="0" rIns="0">
            <a:spAutoFit/>
          </a:bodyPr>
          <a:lstStyle/>
          <a:p>
            <a:pPr algn="l">
              <a:lnSpc>
                <a:spcPts val="8260"/>
              </a:lnSpc>
            </a:pPr>
            <a:r>
              <a:rPr lang="en-US" sz="5900" b="true">
                <a:solidFill>
                  <a:srgbClr val="000000"/>
                </a:solidFill>
                <a:latin typeface="Arimo Bold"/>
                <a:ea typeface="Arimo Bold"/>
                <a:cs typeface="Arimo Bold"/>
                <a:sym typeface="Arimo Bold"/>
              </a:rPr>
              <a:t>Ex. 8 2022 Jan Silver 3: Cereal 2</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390014"/>
          </a:xfrm>
          <a:prstGeom prst="rect">
            <a:avLst/>
          </a:prstGeom>
        </p:spPr>
        <p:txBody>
          <a:bodyPr anchor="t" rtlCol="false" tIns="0" lIns="0" bIns="0" rIns="0">
            <a:spAutoFit/>
          </a:bodyPr>
          <a:lstStyle/>
          <a:p>
            <a:pPr algn="l">
              <a:lnSpc>
                <a:spcPts val="11060"/>
              </a:lnSpc>
            </a:pPr>
            <a:r>
              <a:rPr lang="en-US" sz="7900" b="true">
                <a:solidFill>
                  <a:srgbClr val="000000"/>
                </a:solidFill>
                <a:latin typeface="Arimo Bold"/>
                <a:ea typeface="Arimo Bold"/>
                <a:cs typeface="Arimo Bold"/>
                <a:sym typeface="Arimo Bold"/>
              </a:rPr>
              <a:t>Ex 8. Solution</a:t>
            </a:r>
          </a:p>
        </p:txBody>
      </p:sp>
      <p:sp>
        <p:nvSpPr>
          <p:cNvPr name="TextBox 3" id="3"/>
          <p:cNvSpPr txBox="true"/>
          <p:nvPr/>
        </p:nvSpPr>
        <p:spPr>
          <a:xfrm rot="0">
            <a:off x="759719" y="2178329"/>
            <a:ext cx="16731787" cy="3543547"/>
          </a:xfrm>
          <a:prstGeom prst="rect">
            <a:avLst/>
          </a:prstGeom>
        </p:spPr>
        <p:txBody>
          <a:bodyPr anchor="t" rtlCol="false" tIns="0" lIns="0" bIns="0" rIns="0">
            <a:spAutoFit/>
          </a:bodyPr>
          <a:lstStyle/>
          <a:p>
            <a:pPr algn="just">
              <a:lnSpc>
                <a:spcPts val="4711"/>
              </a:lnSpc>
            </a:pPr>
            <a:r>
              <a:rPr lang="en-US" sz="3365">
                <a:solidFill>
                  <a:srgbClr val="000000"/>
                </a:solidFill>
                <a:latin typeface="Arimo"/>
                <a:ea typeface="Arimo"/>
                <a:cs typeface="Arimo"/>
                <a:sym typeface="Arimo"/>
              </a:rPr>
              <a:t>The cereals are nodes, cows are directed edges pointing from first to second. From the test case, we see that each connected component is independent. For a CC with V,E:</a:t>
            </a:r>
          </a:p>
          <a:p>
            <a:pPr algn="just" marL="726561" indent="-363280" lvl="1">
              <a:lnSpc>
                <a:spcPts val="4711"/>
              </a:lnSpc>
              <a:buFont typeface="Arial"/>
              <a:buChar char="•"/>
            </a:pPr>
            <a:r>
              <a:rPr lang="en-US" sz="3365">
                <a:solidFill>
                  <a:srgbClr val="000000"/>
                </a:solidFill>
                <a:latin typeface="Arimo"/>
                <a:ea typeface="Arimo"/>
                <a:cs typeface="Arimo"/>
                <a:sym typeface="Arimo"/>
              </a:rPr>
              <a:t>If E = V-1: a tree, arbitrarily choose a root, then select from top to bottom.</a:t>
            </a:r>
          </a:p>
          <a:p>
            <a:pPr algn="just" marL="726561" indent="-363280" lvl="1">
              <a:lnSpc>
                <a:spcPts val="4711"/>
              </a:lnSpc>
              <a:buFont typeface="Arial"/>
              <a:buChar char="•"/>
            </a:pPr>
            <a:r>
              <a:rPr lang="en-US" sz="3365">
                <a:solidFill>
                  <a:srgbClr val="000000"/>
                </a:solidFill>
                <a:latin typeface="Arimo"/>
                <a:ea typeface="Arimo"/>
                <a:cs typeface="Arimo"/>
                <a:sym typeface="Arimo"/>
              </a:rPr>
              <a:t>If E &gt; V-1, then exactly V cows get satisfied, we select a tree and then an arbitrary edge outside the tree. Let the edge cow go first, then take the taken node as the root...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966902" y="2545952"/>
            <a:ext cx="11301259" cy="5481111"/>
          </a:xfrm>
          <a:custGeom>
            <a:avLst/>
            <a:gdLst/>
            <a:ahLst/>
            <a:cxnLst/>
            <a:rect r="r" b="b" t="t" l="l"/>
            <a:pathLst>
              <a:path h="5481111" w="11301259">
                <a:moveTo>
                  <a:pt x="0" y="0"/>
                </a:moveTo>
                <a:lnTo>
                  <a:pt x="11301259" y="0"/>
                </a:lnTo>
                <a:lnTo>
                  <a:pt x="11301259" y="5481111"/>
                </a:lnTo>
                <a:lnTo>
                  <a:pt x="0" y="5481111"/>
                </a:lnTo>
                <a:lnTo>
                  <a:pt x="0" y="0"/>
                </a:lnTo>
                <a:close/>
              </a:path>
            </a:pathLst>
          </a:custGeom>
          <a:blipFill>
            <a:blip r:embed="rId2"/>
            <a:stretch>
              <a:fillRect l="0" t="0" r="0" b="0"/>
            </a:stretch>
          </a:blipFill>
        </p:spPr>
      </p:sp>
      <p:sp>
        <p:nvSpPr>
          <p:cNvPr name="TextBox 3" id="3"/>
          <p:cNvSpPr txBox="true"/>
          <p:nvPr/>
        </p:nvSpPr>
        <p:spPr>
          <a:xfrm rot="0">
            <a:off x="759719" y="600591"/>
            <a:ext cx="15062234"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Two-coloring Problems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2296536"/>
            <a:ext cx="9955881" cy="7703003"/>
          </a:xfrm>
          <a:custGeom>
            <a:avLst/>
            <a:gdLst/>
            <a:ahLst/>
            <a:cxnLst/>
            <a:rect r="r" b="b" t="t" l="l"/>
            <a:pathLst>
              <a:path h="7703003" w="9955881">
                <a:moveTo>
                  <a:pt x="0" y="0"/>
                </a:moveTo>
                <a:lnTo>
                  <a:pt x="9955881" y="0"/>
                </a:lnTo>
                <a:lnTo>
                  <a:pt x="9955881" y="7703003"/>
                </a:lnTo>
                <a:lnTo>
                  <a:pt x="0" y="7703003"/>
                </a:lnTo>
                <a:lnTo>
                  <a:pt x="0" y="0"/>
                </a:lnTo>
                <a:close/>
              </a:path>
            </a:pathLst>
          </a:custGeom>
          <a:blipFill>
            <a:blip r:embed="rId2"/>
            <a:stretch>
              <a:fillRect l="0" t="-5659" r="0" b="0"/>
            </a:stretch>
          </a:blipFill>
        </p:spPr>
      </p:sp>
      <p:sp>
        <p:nvSpPr>
          <p:cNvPr name="TextBox 3" id="3"/>
          <p:cNvSpPr txBox="true"/>
          <p:nvPr/>
        </p:nvSpPr>
        <p:spPr>
          <a:xfrm rot="0">
            <a:off x="759719" y="600591"/>
            <a:ext cx="15062234"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9 CF-1176E Cover It!</a:t>
            </a:r>
          </a:p>
        </p:txBody>
      </p:sp>
      <p:sp>
        <p:nvSpPr>
          <p:cNvPr name="TextBox 4" id="4"/>
          <p:cNvSpPr txBox="true"/>
          <p:nvPr/>
        </p:nvSpPr>
        <p:spPr>
          <a:xfrm rot="0">
            <a:off x="11074096" y="3928110"/>
            <a:ext cx="7213904" cy="3497580"/>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In this problem you are supposed to choose n/2 points such that all points which aren’t chosen are connected to at least one point that is chosen. </a:t>
            </a:r>
          </a:p>
          <a:p>
            <a:pPr algn="l">
              <a:lnSpc>
                <a:spcPts val="4620"/>
              </a:lnSpc>
            </a:pPr>
          </a:p>
          <a:p>
            <a:pPr algn="l">
              <a:lnSpc>
                <a:spcPts val="4620"/>
              </a:lnSpc>
            </a:pPr>
            <a:r>
              <a:rPr lang="en-US" sz="3300">
                <a:solidFill>
                  <a:srgbClr val="000000"/>
                </a:solidFill>
                <a:latin typeface="Arimo"/>
                <a:ea typeface="Arimo"/>
                <a:cs typeface="Arimo"/>
                <a:sym typeface="Arimo"/>
              </a:rPr>
              <a:t>Hint: Construct a graph and DFS</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9 Solution</a:t>
            </a:r>
          </a:p>
        </p:txBody>
      </p:sp>
      <p:sp>
        <p:nvSpPr>
          <p:cNvPr name="TextBox 3" id="3"/>
          <p:cNvSpPr txBox="true"/>
          <p:nvPr/>
        </p:nvSpPr>
        <p:spPr>
          <a:xfrm rot="0">
            <a:off x="1464683" y="2564894"/>
            <a:ext cx="15794617" cy="7083425"/>
          </a:xfrm>
          <a:prstGeom prst="rect">
            <a:avLst/>
          </a:prstGeom>
        </p:spPr>
        <p:txBody>
          <a:bodyPr anchor="t" rtlCol="false" tIns="0" lIns="0" bIns="0" rIns="0">
            <a:spAutoFit/>
          </a:bodyPr>
          <a:lstStyle/>
          <a:p>
            <a:pPr algn="l">
              <a:lnSpc>
                <a:spcPts val="7000"/>
              </a:lnSpc>
            </a:pPr>
            <a:r>
              <a:rPr lang="en-US" sz="5000">
                <a:solidFill>
                  <a:srgbClr val="000000"/>
                </a:solidFill>
                <a:latin typeface="Arimo"/>
                <a:ea typeface="Arimo"/>
                <a:cs typeface="Arimo"/>
                <a:sym typeface="Arimo"/>
              </a:rPr>
              <a:t>DFS the entire graph. For each vertex, we set its value as 1 or 2 (the opposite of its “father” or the last vertex that we reached. Ex. if last vertex was 1 we set it as 2, if last one was 2 we set it as 1). </a:t>
            </a:r>
          </a:p>
          <a:p>
            <a:pPr algn="l">
              <a:lnSpc>
                <a:spcPts val="7000"/>
              </a:lnSpc>
            </a:pPr>
            <a:r>
              <a:rPr lang="en-US" sz="5000">
                <a:solidFill>
                  <a:srgbClr val="000000"/>
                </a:solidFill>
                <a:latin typeface="Arimo"/>
                <a:ea typeface="Arimo"/>
                <a:cs typeface="Arimo"/>
                <a:sym typeface="Arimo"/>
              </a:rPr>
              <a:t>Then after we finish, we check if each vertex satisfies the problem’s conditions. If so, we sum the number of the two conditions up and return the smaller one (less than a half).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1711353"/>
            <a:ext cx="8761627" cy="8126409"/>
          </a:xfrm>
          <a:custGeom>
            <a:avLst/>
            <a:gdLst/>
            <a:ahLst/>
            <a:cxnLst/>
            <a:rect r="r" b="b" t="t" l="l"/>
            <a:pathLst>
              <a:path h="8126409" w="8761627">
                <a:moveTo>
                  <a:pt x="0" y="0"/>
                </a:moveTo>
                <a:lnTo>
                  <a:pt x="8761626" y="0"/>
                </a:lnTo>
                <a:lnTo>
                  <a:pt x="8761626" y="8126408"/>
                </a:lnTo>
                <a:lnTo>
                  <a:pt x="0" y="8126408"/>
                </a:lnTo>
                <a:lnTo>
                  <a:pt x="0" y="0"/>
                </a:lnTo>
                <a:close/>
              </a:path>
            </a:pathLst>
          </a:custGeom>
          <a:blipFill>
            <a:blip r:embed="rId2"/>
            <a:stretch>
              <a:fillRect l="0" t="0" r="0" b="0"/>
            </a:stretch>
          </a:blipFill>
        </p:spPr>
      </p:sp>
      <p:sp>
        <p:nvSpPr>
          <p:cNvPr name="TextBox 3" id="3"/>
          <p:cNvSpPr txBox="true"/>
          <p:nvPr/>
        </p:nvSpPr>
        <p:spPr>
          <a:xfrm rot="0">
            <a:off x="759719" y="676791"/>
            <a:ext cx="16975286" cy="840086"/>
          </a:xfrm>
          <a:prstGeom prst="rect">
            <a:avLst/>
          </a:prstGeom>
        </p:spPr>
        <p:txBody>
          <a:bodyPr anchor="t" rtlCol="false" tIns="0" lIns="0" bIns="0" rIns="0">
            <a:spAutoFit/>
          </a:bodyPr>
          <a:lstStyle/>
          <a:p>
            <a:pPr algn="l">
              <a:lnSpc>
                <a:spcPts val="6720"/>
              </a:lnSpc>
            </a:pPr>
            <a:r>
              <a:rPr lang="en-US" sz="4800" b="true">
                <a:solidFill>
                  <a:srgbClr val="000000"/>
                </a:solidFill>
                <a:latin typeface="Arimo Bold"/>
                <a:ea typeface="Arimo Bold"/>
                <a:cs typeface="Arimo Bold"/>
                <a:sym typeface="Arimo Bold"/>
              </a:rPr>
              <a:t>Ex. 10 CF-435B Mahmoud and Ehab and the bipartiteness</a:t>
            </a:r>
          </a:p>
        </p:txBody>
      </p:sp>
      <p:sp>
        <p:nvSpPr>
          <p:cNvPr name="TextBox 4" id="4"/>
          <p:cNvSpPr txBox="true"/>
          <p:nvPr/>
        </p:nvSpPr>
        <p:spPr>
          <a:xfrm rot="0">
            <a:off x="10045396" y="1645920"/>
            <a:ext cx="7213904" cy="5240777"/>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This problem asks for the minimum number of edges that can be added to a given tree such that the resulting graph contains no loops (an edge connecting a node to itself) nor any multiple edges (&gt;1 edge between two nodes), and remains bipartite.</a:t>
            </a:r>
          </a:p>
          <a:p>
            <a:pPr algn="l">
              <a:lnSpc>
                <a:spcPts val="4620"/>
              </a:lnSpc>
            </a:pPr>
          </a:p>
          <a:p>
            <a:pPr algn="l">
              <a:lnSpc>
                <a:spcPts val="4620"/>
              </a:lnSpc>
            </a:pPr>
            <a:r>
              <a:rPr lang="en-US" sz="3300">
                <a:solidFill>
                  <a:srgbClr val="000000"/>
                </a:solidFill>
                <a:latin typeface="Arimo"/>
                <a:ea typeface="Arimo"/>
                <a:cs typeface="Arimo"/>
                <a:sym typeface="Arimo"/>
              </a:rPr>
              <a:t>Hint: two-coloring of the graph</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11"/>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10 Solution</a:t>
            </a:r>
          </a:p>
        </p:txBody>
      </p:sp>
      <p:sp>
        <p:nvSpPr>
          <p:cNvPr name="TextBox 3" id="3"/>
          <p:cNvSpPr txBox="true"/>
          <p:nvPr/>
        </p:nvSpPr>
        <p:spPr>
          <a:xfrm rot="0">
            <a:off x="1464683" y="2564894"/>
            <a:ext cx="15794617" cy="6197410"/>
          </a:xfrm>
          <a:prstGeom prst="rect">
            <a:avLst/>
          </a:prstGeom>
        </p:spPr>
        <p:txBody>
          <a:bodyPr anchor="t" rtlCol="false" tIns="0" lIns="0" bIns="0" rIns="0">
            <a:spAutoFit/>
          </a:bodyPr>
          <a:lstStyle/>
          <a:p>
            <a:pPr algn="l">
              <a:lnSpc>
                <a:spcPts val="7000"/>
              </a:lnSpc>
            </a:pPr>
            <a:r>
              <a:rPr lang="en-US" sz="5000">
                <a:solidFill>
                  <a:srgbClr val="000000"/>
                </a:solidFill>
                <a:latin typeface="Arimo"/>
                <a:ea typeface="Arimo"/>
                <a:cs typeface="Arimo"/>
                <a:sym typeface="Arimo"/>
              </a:rPr>
              <a:t>First, DFS the entire tree and do a two-coloring on it. Then, for each pair of nodes, we check whether: </a:t>
            </a:r>
          </a:p>
          <a:p>
            <a:pPr algn="l" marL="1079501" indent="-539750" lvl="1">
              <a:lnSpc>
                <a:spcPts val="7000"/>
              </a:lnSpc>
              <a:buAutoNum type="arabicPeriod" startAt="1"/>
            </a:pPr>
            <a:r>
              <a:rPr lang="en-US" sz="5000">
                <a:solidFill>
                  <a:srgbClr val="000000"/>
                </a:solidFill>
                <a:latin typeface="Arimo"/>
                <a:ea typeface="Arimo"/>
                <a:cs typeface="Arimo"/>
                <a:sym typeface="Arimo"/>
              </a:rPr>
              <a:t>They are connected</a:t>
            </a:r>
          </a:p>
          <a:p>
            <a:pPr algn="l" marL="1079501" indent="-539750" lvl="1">
              <a:lnSpc>
                <a:spcPts val="7000"/>
              </a:lnSpc>
              <a:buAutoNum type="arabicPeriod" startAt="1"/>
            </a:pPr>
            <a:r>
              <a:rPr lang="en-US" sz="5000">
                <a:solidFill>
                  <a:srgbClr val="000000"/>
                </a:solidFill>
                <a:latin typeface="Arimo"/>
                <a:ea typeface="Arimo"/>
                <a:cs typeface="Arimo"/>
                <a:sym typeface="Arimo"/>
              </a:rPr>
              <a:t>They are of the same color.</a:t>
            </a:r>
          </a:p>
          <a:p>
            <a:pPr algn="l">
              <a:lnSpc>
                <a:spcPts val="7000"/>
              </a:lnSpc>
            </a:pPr>
            <a:r>
              <a:rPr lang="en-US" sz="5000">
                <a:solidFill>
                  <a:srgbClr val="000000"/>
                </a:solidFill>
                <a:latin typeface="Arimo"/>
                <a:ea typeface="Arimo"/>
                <a:cs typeface="Arimo"/>
                <a:sym typeface="Arimo"/>
              </a:rPr>
              <a:t>If both are false, then we add an edge between the nodes.</a:t>
            </a:r>
          </a:p>
          <a:p>
            <a:pPr algn="l">
              <a:lnSpc>
                <a:spcPts val="7000"/>
              </a:lnSpc>
            </a:pPr>
            <a:r>
              <a:rPr lang="en-US" sz="5000">
                <a:solidFill>
                  <a:srgbClr val="000000"/>
                </a:solidFill>
                <a:latin typeface="Arimo"/>
                <a:ea typeface="Arimo"/>
                <a:cs typeface="Arimo"/>
                <a:sym typeface="Arimo"/>
              </a:rPr>
              <a:t>Time complexity: O(n</a:t>
            </a:r>
            <a:r>
              <a:rPr lang="en-US" sz="5000">
                <a:solidFill>
                  <a:srgbClr val="000000"/>
                </a:solidFill>
                <a:latin typeface="Arimo"/>
                <a:ea typeface="Arimo"/>
                <a:cs typeface="Arimo"/>
                <a:sym typeface="Arimo"/>
              </a:rPr>
              <a:t>2</a:t>
            </a:r>
            <a:r>
              <a:rPr lang="en-US" sz="5000">
                <a:solidFill>
                  <a:srgbClr val="000000"/>
                </a:solidFill>
                <a:latin typeface="Arimo"/>
                <a:ea typeface="Arimo"/>
                <a:cs typeface="Arimo"/>
                <a:sym typeface="Arimo"/>
              </a:rPr>
              <a: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207383" y="3341400"/>
            <a:ext cx="5967254" cy="6379255"/>
          </a:xfrm>
          <a:custGeom>
            <a:avLst/>
            <a:gdLst/>
            <a:ahLst/>
            <a:cxnLst/>
            <a:rect r="r" b="b" t="t" l="l"/>
            <a:pathLst>
              <a:path h="6379255" w="5967254">
                <a:moveTo>
                  <a:pt x="0" y="0"/>
                </a:moveTo>
                <a:lnTo>
                  <a:pt x="5967253" y="0"/>
                </a:lnTo>
                <a:lnTo>
                  <a:pt x="5967253" y="6379255"/>
                </a:lnTo>
                <a:lnTo>
                  <a:pt x="0" y="6379255"/>
                </a:lnTo>
                <a:lnTo>
                  <a:pt x="0" y="0"/>
                </a:lnTo>
                <a:close/>
              </a:path>
            </a:pathLst>
          </a:custGeom>
          <a:blipFill>
            <a:blip r:embed="rId2"/>
            <a:stretch>
              <a:fillRect l="0" t="0" r="0" b="-74436"/>
            </a:stretch>
          </a:blipFill>
        </p:spPr>
      </p:sp>
      <p:sp>
        <p:nvSpPr>
          <p:cNvPr name="Freeform 3" id="3"/>
          <p:cNvSpPr/>
          <p:nvPr/>
        </p:nvSpPr>
        <p:spPr>
          <a:xfrm flipH="false" flipV="false" rot="0">
            <a:off x="5002792" y="1801430"/>
            <a:ext cx="6865784" cy="5454545"/>
          </a:xfrm>
          <a:custGeom>
            <a:avLst/>
            <a:gdLst/>
            <a:ahLst/>
            <a:cxnLst/>
            <a:rect r="r" b="b" t="t" l="l"/>
            <a:pathLst>
              <a:path h="5454545" w="6865784">
                <a:moveTo>
                  <a:pt x="0" y="0"/>
                </a:moveTo>
                <a:lnTo>
                  <a:pt x="6865784" y="0"/>
                </a:lnTo>
                <a:lnTo>
                  <a:pt x="6865784" y="5454545"/>
                </a:lnTo>
                <a:lnTo>
                  <a:pt x="0" y="5454545"/>
                </a:lnTo>
                <a:lnTo>
                  <a:pt x="0" y="0"/>
                </a:lnTo>
                <a:close/>
              </a:path>
            </a:pathLst>
          </a:custGeom>
          <a:blipFill>
            <a:blip r:embed="rId2"/>
            <a:stretch>
              <a:fillRect l="0" t="-134727" r="0" b="0"/>
            </a:stretch>
          </a:blipFill>
        </p:spPr>
      </p:sp>
      <p:sp>
        <p:nvSpPr>
          <p:cNvPr name="Freeform 4" id="4"/>
          <p:cNvSpPr/>
          <p:nvPr/>
        </p:nvSpPr>
        <p:spPr>
          <a:xfrm flipH="false" flipV="false" rot="0">
            <a:off x="11770877" y="3212196"/>
            <a:ext cx="6705363" cy="7074804"/>
          </a:xfrm>
          <a:custGeom>
            <a:avLst/>
            <a:gdLst/>
            <a:ahLst/>
            <a:cxnLst/>
            <a:rect r="r" b="b" t="t" l="l"/>
            <a:pathLst>
              <a:path h="7074804" w="6705363">
                <a:moveTo>
                  <a:pt x="0" y="0"/>
                </a:moveTo>
                <a:lnTo>
                  <a:pt x="6705363" y="0"/>
                </a:lnTo>
                <a:lnTo>
                  <a:pt x="6705363" y="7074804"/>
                </a:lnTo>
                <a:lnTo>
                  <a:pt x="0" y="7074804"/>
                </a:lnTo>
                <a:lnTo>
                  <a:pt x="0" y="0"/>
                </a:lnTo>
                <a:close/>
              </a:path>
            </a:pathLst>
          </a:custGeom>
          <a:blipFill>
            <a:blip r:embed="rId3"/>
            <a:stretch>
              <a:fillRect l="0" t="0" r="0" b="0"/>
            </a:stretch>
          </a:blipFill>
        </p:spPr>
      </p:sp>
      <p:sp>
        <p:nvSpPr>
          <p:cNvPr name="TextBox 5" id="5"/>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10 Solution Code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2311870"/>
            <a:ext cx="16642990" cy="7530953"/>
          </a:xfrm>
          <a:custGeom>
            <a:avLst/>
            <a:gdLst/>
            <a:ahLst/>
            <a:cxnLst/>
            <a:rect r="r" b="b" t="t" l="l"/>
            <a:pathLst>
              <a:path h="7530953" w="16642990">
                <a:moveTo>
                  <a:pt x="0" y="0"/>
                </a:moveTo>
                <a:lnTo>
                  <a:pt x="16642989" y="0"/>
                </a:lnTo>
                <a:lnTo>
                  <a:pt x="16642989" y="7530953"/>
                </a:lnTo>
                <a:lnTo>
                  <a:pt x="0" y="7530953"/>
                </a:lnTo>
                <a:lnTo>
                  <a:pt x="0" y="0"/>
                </a:lnTo>
                <a:close/>
              </a:path>
            </a:pathLst>
          </a:custGeom>
          <a:blipFill>
            <a:blip r:embed="rId2"/>
            <a:stretch>
              <a:fillRect l="0" t="0" r="0" b="0"/>
            </a:stretch>
          </a:blipFill>
        </p:spPr>
      </p:sp>
      <p:sp>
        <p:nvSpPr>
          <p:cNvPr name="TextBox 3" id="3"/>
          <p:cNvSpPr txBox="true"/>
          <p:nvPr/>
        </p:nvSpPr>
        <p:spPr>
          <a:xfrm rot="0">
            <a:off x="759719" y="600591"/>
            <a:ext cx="15062234" cy="1406511"/>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11 The Great Revegetation</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11"/>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11 Solution</a:t>
            </a:r>
          </a:p>
        </p:txBody>
      </p:sp>
      <p:sp>
        <p:nvSpPr>
          <p:cNvPr name="TextBox 3" id="3"/>
          <p:cNvSpPr txBox="true"/>
          <p:nvPr/>
        </p:nvSpPr>
        <p:spPr>
          <a:xfrm rot="0">
            <a:off x="1028700" y="2324100"/>
            <a:ext cx="14610875" cy="6934200"/>
          </a:xfrm>
          <a:prstGeom prst="rect">
            <a:avLst/>
          </a:prstGeom>
        </p:spPr>
        <p:txBody>
          <a:bodyPr anchor="t" rtlCol="false" tIns="0" lIns="0" bIns="0" rIns="0">
            <a:spAutoFit/>
          </a:bodyPr>
          <a:lstStyle/>
          <a:p>
            <a:pPr algn="l">
              <a:lnSpc>
                <a:spcPts val="4200"/>
              </a:lnSpc>
            </a:pPr>
            <a:r>
              <a:rPr lang="en-US" sz="3000">
                <a:solidFill>
                  <a:srgbClr val="000000"/>
                </a:solidFill>
                <a:latin typeface="Arimo"/>
                <a:ea typeface="Arimo"/>
                <a:cs typeface="Arimo"/>
                <a:sym typeface="Arimo"/>
              </a:rPr>
              <a:t>We see that we can create a graph with the pastures as the vertices and the cows (S or D) as the edges. Each cow represents a link/connection between the pastures. We set one type of grass in a pasture as condition 0 (value 0 for the pasture) and the other type as condition 1 (value 1 for the pasture)</a:t>
            </a:r>
          </a:p>
          <a:p>
            <a:pPr algn="l">
              <a:lnSpc>
                <a:spcPts val="4200"/>
              </a:lnSpc>
            </a:pPr>
            <a:r>
              <a:rPr lang="en-US" sz="3000">
                <a:solidFill>
                  <a:srgbClr val="000000"/>
                </a:solidFill>
                <a:latin typeface="Arimo"/>
                <a:ea typeface="Arimo"/>
                <a:cs typeface="Arimo"/>
                <a:sym typeface="Arimo"/>
              </a:rPr>
              <a:t>Each two pastures connected by a S has to have similar conditions (same type of grass), and vice versa for pastures connected by a D.</a:t>
            </a:r>
          </a:p>
          <a:p>
            <a:pPr algn="l">
              <a:lnSpc>
                <a:spcPts val="4200"/>
              </a:lnSpc>
            </a:pPr>
            <a:r>
              <a:rPr lang="en-US" sz="3000">
                <a:solidFill>
                  <a:srgbClr val="000000"/>
                </a:solidFill>
                <a:latin typeface="Arimo"/>
                <a:ea typeface="Arimo"/>
                <a:cs typeface="Arimo"/>
                <a:sym typeface="Arimo"/>
              </a:rPr>
              <a:t>We then find the connected components (连通块）in the graph, and then check if everything is good with them (ex. a pasture can’t be required by two connections to have 0 and 1 at the same time). </a:t>
            </a:r>
          </a:p>
          <a:p>
            <a:pPr algn="l">
              <a:lnSpc>
                <a:spcPts val="4200"/>
              </a:lnSpc>
            </a:pPr>
            <a:r>
              <a:rPr lang="en-US" sz="3000">
                <a:solidFill>
                  <a:srgbClr val="000000"/>
                </a:solidFill>
                <a:latin typeface="Arimo"/>
                <a:ea typeface="Arimo"/>
                <a:cs typeface="Arimo"/>
                <a:sym typeface="Arimo"/>
              </a:rPr>
              <a:t>If everything is good, we can find the total number of connected components (set as num) and print out 1 followed by num 0s (ex. num=3 then print out 1000). This is since the question give the total number in binary format and the total number of possible solutions is 2^num.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392104" y="2774151"/>
            <a:ext cx="10481528" cy="5231488"/>
          </a:xfrm>
          <a:custGeom>
            <a:avLst/>
            <a:gdLst/>
            <a:ahLst/>
            <a:cxnLst/>
            <a:rect r="r" b="b" t="t" l="l"/>
            <a:pathLst>
              <a:path h="5231488" w="10481528">
                <a:moveTo>
                  <a:pt x="0" y="0"/>
                </a:moveTo>
                <a:lnTo>
                  <a:pt x="10481528" y="0"/>
                </a:lnTo>
                <a:lnTo>
                  <a:pt x="10481528" y="5231488"/>
                </a:lnTo>
                <a:lnTo>
                  <a:pt x="0" y="5231488"/>
                </a:lnTo>
                <a:lnTo>
                  <a:pt x="0" y="0"/>
                </a:lnTo>
                <a:close/>
              </a:path>
            </a:pathLst>
          </a:custGeom>
          <a:blipFill>
            <a:blip r:embed="rId2"/>
            <a:stretch>
              <a:fillRect l="0" t="0" r="0" b="0"/>
            </a:stretch>
          </a:blipFill>
        </p:spPr>
      </p:sp>
      <p:sp>
        <p:nvSpPr>
          <p:cNvPr name="TextBox 3" id="3"/>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11 Solution Code</a:t>
            </a:r>
          </a:p>
        </p:txBody>
      </p:sp>
      <p:sp>
        <p:nvSpPr>
          <p:cNvPr name="Freeform 4" id="4"/>
          <p:cNvSpPr/>
          <p:nvPr/>
        </p:nvSpPr>
        <p:spPr>
          <a:xfrm flipH="false" flipV="false" rot="0">
            <a:off x="11104823" y="560720"/>
            <a:ext cx="6865006" cy="8184806"/>
          </a:xfrm>
          <a:custGeom>
            <a:avLst/>
            <a:gdLst/>
            <a:ahLst/>
            <a:cxnLst/>
            <a:rect r="r" b="b" t="t" l="l"/>
            <a:pathLst>
              <a:path h="8184806" w="6865006">
                <a:moveTo>
                  <a:pt x="0" y="0"/>
                </a:moveTo>
                <a:lnTo>
                  <a:pt x="6865006" y="0"/>
                </a:lnTo>
                <a:lnTo>
                  <a:pt x="6865006" y="8184806"/>
                </a:lnTo>
                <a:lnTo>
                  <a:pt x="0" y="8184806"/>
                </a:lnTo>
                <a:lnTo>
                  <a:pt x="0" y="0"/>
                </a:lnTo>
                <a:close/>
              </a:path>
            </a:pathLst>
          </a:custGeom>
          <a:blipFill>
            <a:blip r:embed="rId3"/>
            <a:stretch>
              <a:fillRect l="0" t="0" r="0" b="0"/>
            </a:stretch>
          </a:blipFill>
        </p:spPr>
      </p:sp>
      <p:sp>
        <p:nvSpPr>
          <p:cNvPr name="Freeform 5" id="5"/>
          <p:cNvSpPr/>
          <p:nvPr/>
        </p:nvSpPr>
        <p:spPr>
          <a:xfrm flipH="false" flipV="false" rot="0">
            <a:off x="6012728" y="733045"/>
            <a:ext cx="6935441" cy="8820910"/>
          </a:xfrm>
          <a:custGeom>
            <a:avLst/>
            <a:gdLst/>
            <a:ahLst/>
            <a:cxnLst/>
            <a:rect r="r" b="b" t="t" l="l"/>
            <a:pathLst>
              <a:path h="8820910" w="6935441">
                <a:moveTo>
                  <a:pt x="0" y="0"/>
                </a:moveTo>
                <a:lnTo>
                  <a:pt x="6935440" y="0"/>
                </a:lnTo>
                <a:lnTo>
                  <a:pt x="6935440" y="8820910"/>
                </a:lnTo>
                <a:lnTo>
                  <a:pt x="0" y="8820910"/>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3864474" y="1086145"/>
            <a:ext cx="11389067" cy="8114710"/>
          </a:xfrm>
          <a:custGeom>
            <a:avLst/>
            <a:gdLst/>
            <a:ahLst/>
            <a:cxnLst/>
            <a:rect r="r" b="b" t="t" l="l"/>
            <a:pathLst>
              <a:path h="8114710" w="11389067">
                <a:moveTo>
                  <a:pt x="0" y="0"/>
                </a:moveTo>
                <a:lnTo>
                  <a:pt x="11389066" y="0"/>
                </a:lnTo>
                <a:lnTo>
                  <a:pt x="11389066" y="8114710"/>
                </a:lnTo>
                <a:lnTo>
                  <a:pt x="0" y="8114710"/>
                </a:lnTo>
                <a:lnTo>
                  <a:pt x="0" y="0"/>
                </a:lnTo>
                <a:close/>
              </a:path>
            </a:pathLst>
          </a:custGeom>
          <a:blipFill>
            <a:blip r:embed="rId2"/>
            <a:stretch>
              <a:fillRect l="0" t="0" r="0" b="0"/>
            </a:stretch>
          </a:blipFill>
        </p:spPr>
      </p:sp>
      <p:sp>
        <p:nvSpPr>
          <p:cNvPr name="Freeform 3" id="3"/>
          <p:cNvSpPr/>
          <p:nvPr/>
        </p:nvSpPr>
        <p:spPr>
          <a:xfrm flipH="false" flipV="false" rot="0">
            <a:off x="15070190" y="1028700"/>
            <a:ext cx="2931795" cy="8229600"/>
          </a:xfrm>
          <a:custGeom>
            <a:avLst/>
            <a:gdLst/>
            <a:ahLst/>
            <a:cxnLst/>
            <a:rect r="r" b="b" t="t" l="l"/>
            <a:pathLst>
              <a:path h="8229600" w="2931795">
                <a:moveTo>
                  <a:pt x="0" y="0"/>
                </a:moveTo>
                <a:lnTo>
                  <a:pt x="2931795" y="0"/>
                </a:lnTo>
                <a:lnTo>
                  <a:pt x="2931795" y="8229600"/>
                </a:lnTo>
                <a:lnTo>
                  <a:pt x="0" y="8229600"/>
                </a:lnTo>
                <a:lnTo>
                  <a:pt x="0" y="0"/>
                </a:lnTo>
                <a:close/>
              </a:path>
            </a:pathLst>
          </a:custGeom>
          <a:blipFill>
            <a:blip r:embed="rId3"/>
            <a:stretch>
              <a:fillRect l="0" t="0" r="0" b="0"/>
            </a:stretch>
          </a:blipFill>
        </p:spPr>
      </p:sp>
      <p:sp>
        <p:nvSpPr>
          <p:cNvPr name="TextBox 4" id="4"/>
          <p:cNvSpPr txBox="true"/>
          <p:nvPr/>
        </p:nvSpPr>
        <p:spPr>
          <a:xfrm rot="-60000">
            <a:off x="34885" y="2218075"/>
            <a:ext cx="3954134" cy="4222749"/>
          </a:xfrm>
          <a:prstGeom prst="rect">
            <a:avLst/>
          </a:prstGeom>
        </p:spPr>
        <p:txBody>
          <a:bodyPr anchor="t" rtlCol="false" tIns="0" lIns="0" bIns="0" rIns="0">
            <a:spAutoFit/>
          </a:bodyPr>
          <a:lstStyle/>
          <a:p>
            <a:pPr algn="ctr">
              <a:lnSpc>
                <a:spcPts val="5600"/>
              </a:lnSpc>
            </a:pPr>
            <a:r>
              <a:rPr lang="en-US" sz="4000" b="true">
                <a:solidFill>
                  <a:srgbClr val="000000"/>
                </a:solidFill>
                <a:latin typeface="Arimo Bold"/>
                <a:ea typeface="Arimo Bold"/>
                <a:cs typeface="Arimo Bold"/>
                <a:sym typeface="Arimo Bold"/>
              </a:rPr>
              <a:t>Ex. 12:</a:t>
            </a:r>
          </a:p>
          <a:p>
            <a:pPr algn="ctr">
              <a:lnSpc>
                <a:spcPts val="5600"/>
              </a:lnSpc>
              <a:spcBef>
                <a:spcPct val="0"/>
              </a:spcBef>
            </a:pPr>
            <a:r>
              <a:rPr lang="en-US" b="true" sz="4000">
                <a:solidFill>
                  <a:srgbClr val="000000"/>
                </a:solidFill>
                <a:latin typeface="Arimo Bold"/>
                <a:ea typeface="Arimo Bold"/>
                <a:cs typeface="Arimo Bold"/>
                <a:sym typeface="Arimo Bold"/>
                <a:hlinkClick r:id="rId4" tooltip="https://codeforces.com/contest/1387"/>
              </a:rPr>
              <a:t>Baltic Olympiad in Informatics 2020, </a:t>
            </a:r>
            <a:r>
              <a:rPr lang="en-US" sz="4000">
                <a:solidFill>
                  <a:srgbClr val="000000"/>
                </a:solidFill>
                <a:latin typeface="Arimo"/>
                <a:ea typeface="Arimo"/>
                <a:cs typeface="Arimo"/>
                <a:sym typeface="Arimo"/>
              </a:rPr>
              <a:t>D2</a:t>
            </a:r>
          </a:p>
          <a:p>
            <a:pPr algn="ctr">
              <a:lnSpc>
                <a:spcPts val="5600"/>
              </a:lnSpc>
              <a:spcBef>
                <a:spcPct val="0"/>
              </a:spcBef>
            </a:pPr>
            <a:r>
              <a:rPr lang="en-US" b="true" sz="4000">
                <a:solidFill>
                  <a:srgbClr val="000000"/>
                </a:solidFill>
                <a:latin typeface="Arimo Bold"/>
                <a:ea typeface="Arimo Bold"/>
                <a:cs typeface="Arimo Bold"/>
                <a:sym typeface="Arimo Bold"/>
              </a:rPr>
              <a:t>Problem A: Graph.</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Ex. 12 Solution</a:t>
            </a:r>
          </a:p>
        </p:txBody>
      </p:sp>
      <p:sp>
        <p:nvSpPr>
          <p:cNvPr name="TextBox 3" id="3"/>
          <p:cNvSpPr txBox="true"/>
          <p:nvPr/>
        </p:nvSpPr>
        <p:spPr>
          <a:xfrm rot="0">
            <a:off x="1028700" y="2314575"/>
            <a:ext cx="14610875" cy="7310120"/>
          </a:xfrm>
          <a:prstGeom prst="rect">
            <a:avLst/>
          </a:prstGeom>
        </p:spPr>
        <p:txBody>
          <a:bodyPr anchor="t" rtlCol="false" tIns="0" lIns="0" bIns="0" rIns="0">
            <a:spAutoFit/>
          </a:bodyPr>
          <a:lstStyle/>
          <a:p>
            <a:pPr algn="l">
              <a:lnSpc>
                <a:spcPts val="4479"/>
              </a:lnSpc>
            </a:pPr>
            <a:r>
              <a:rPr lang="en-US" sz="3199">
                <a:solidFill>
                  <a:srgbClr val="000000"/>
                </a:solidFill>
                <a:latin typeface="Arimo"/>
                <a:ea typeface="Arimo"/>
                <a:cs typeface="Arimo"/>
                <a:sym typeface="Arimo"/>
              </a:rPr>
              <a:t>Each connected component is independent. We can represent all nodes’ values as c[i] x + d[i] for some c[i], d[i] for that node and x for its connected component. Then, we can easily transition between nodes:</a:t>
            </a:r>
          </a:p>
          <a:p>
            <a:pPr algn="l">
              <a:lnSpc>
                <a:spcPts val="4479"/>
              </a:lnSpc>
            </a:pPr>
            <a:r>
              <a:rPr lang="en-US" sz="3199">
                <a:solidFill>
                  <a:srgbClr val="000000"/>
                </a:solidFill>
                <a:latin typeface="Arimo"/>
                <a:ea typeface="Arimo"/>
                <a:cs typeface="Arimo"/>
                <a:sym typeface="Arimo"/>
              </a:rPr>
              <a:t>If black edge: c[neighbor] = -c[i], d[neighbor] = 1-d[i]</a:t>
            </a:r>
          </a:p>
          <a:p>
            <a:pPr algn="l">
              <a:lnSpc>
                <a:spcPts val="4479"/>
              </a:lnSpc>
            </a:pPr>
            <a:r>
              <a:rPr lang="en-US" sz="3199">
                <a:solidFill>
                  <a:srgbClr val="000000"/>
                </a:solidFill>
                <a:latin typeface="Arimo"/>
                <a:ea typeface="Arimo"/>
                <a:cs typeface="Arimo"/>
                <a:sym typeface="Arimo"/>
              </a:rPr>
              <a:t>If red edge: c[neighbor] = -c[i], d[neighbor] = 2-d[i]</a:t>
            </a:r>
          </a:p>
          <a:p>
            <a:pPr algn="l">
              <a:lnSpc>
                <a:spcPts val="4479"/>
              </a:lnSpc>
            </a:pPr>
            <a:r>
              <a:rPr lang="en-US" sz="3199">
                <a:solidFill>
                  <a:srgbClr val="000000"/>
                </a:solidFill>
                <a:latin typeface="Arimo"/>
                <a:ea typeface="Arimo"/>
                <a:cs typeface="Arimo"/>
                <a:sym typeface="Arimo"/>
              </a:rPr>
              <a:t>Whenever we first enter a CC at a node, c[i] = 1, d[i] = 0</a:t>
            </a:r>
          </a:p>
          <a:p>
            <a:pPr algn="l">
              <a:lnSpc>
                <a:spcPts val="4479"/>
              </a:lnSpc>
            </a:pPr>
          </a:p>
          <a:p>
            <a:pPr algn="l">
              <a:lnSpc>
                <a:spcPts val="4479"/>
              </a:lnSpc>
            </a:pPr>
            <a:r>
              <a:rPr lang="en-US" sz="3199">
                <a:solidFill>
                  <a:srgbClr val="000000"/>
                </a:solidFill>
                <a:latin typeface="Arimo"/>
                <a:ea typeface="Arimo"/>
                <a:cs typeface="Arimo"/>
                <a:sym typeface="Arimo"/>
              </a:rPr>
              <a:t>If the neighbor has been visited before, casework:</a:t>
            </a:r>
          </a:p>
          <a:p>
            <a:pPr algn="l">
              <a:lnSpc>
                <a:spcPts val="4479"/>
              </a:lnSpc>
            </a:pPr>
            <a:r>
              <a:rPr lang="en-US" sz="3199">
                <a:solidFill>
                  <a:srgbClr val="000000"/>
                </a:solidFill>
                <a:latin typeface="Arimo"/>
                <a:ea typeface="Arimo"/>
                <a:cs typeface="Arimo"/>
                <a:sym typeface="Arimo"/>
              </a:rPr>
              <a:t>1) if c[i] and c[neighbor] are opposite, either N.S. or ignore</a:t>
            </a:r>
          </a:p>
          <a:p>
            <a:pPr algn="l">
              <a:lnSpc>
                <a:spcPts val="4479"/>
              </a:lnSpc>
            </a:pPr>
            <a:r>
              <a:rPr lang="en-US" sz="3199">
                <a:solidFill>
                  <a:srgbClr val="000000"/>
                </a:solidFill>
                <a:latin typeface="Arimo"/>
                <a:ea typeface="Arimo"/>
                <a:cs typeface="Arimo"/>
                <a:sym typeface="Arimo"/>
              </a:rPr>
              <a:t>2) if c[i] and c[neighbor] are same, then x can be determined (if it has been determined at a disagreeing value, N.S.)</a:t>
            </a:r>
          </a:p>
          <a:p>
            <a:pPr algn="l">
              <a:lnSpc>
                <a:spcPts val="4479"/>
              </a:lnSpc>
            </a:pPr>
          </a:p>
          <a:p>
            <a:pPr algn="l">
              <a:lnSpc>
                <a:spcPts val="4479"/>
              </a:lnSpc>
            </a:pPr>
            <a:r>
              <a:rPr lang="en-US" sz="3199">
                <a:solidFill>
                  <a:srgbClr val="000000"/>
                </a:solidFill>
                <a:latin typeface="Arimo"/>
                <a:ea typeface="Arimo"/>
                <a:cs typeface="Arimo"/>
                <a:sym typeface="Arimo"/>
              </a:rPr>
              <a:t>If x is not determined at the end of dfs, use a ternary search...</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207288" y="2911142"/>
            <a:ext cx="10927197" cy="7375858"/>
          </a:xfrm>
          <a:custGeom>
            <a:avLst/>
            <a:gdLst/>
            <a:ahLst/>
            <a:cxnLst/>
            <a:rect r="r" b="b" t="t" l="l"/>
            <a:pathLst>
              <a:path h="7375858" w="10927197">
                <a:moveTo>
                  <a:pt x="0" y="0"/>
                </a:moveTo>
                <a:lnTo>
                  <a:pt x="10927196" y="0"/>
                </a:lnTo>
                <a:lnTo>
                  <a:pt x="10927196" y="7375858"/>
                </a:lnTo>
                <a:lnTo>
                  <a:pt x="0" y="7375858"/>
                </a:lnTo>
                <a:lnTo>
                  <a:pt x="0" y="0"/>
                </a:lnTo>
                <a:close/>
              </a:path>
            </a:pathLst>
          </a:custGeom>
          <a:blipFill>
            <a:blip r:embed="rId2"/>
            <a:stretch>
              <a:fillRect l="0" t="0" r="0" b="0"/>
            </a:stretch>
          </a:blipFill>
        </p:spPr>
      </p:sp>
      <p:sp>
        <p:nvSpPr>
          <p:cNvPr name="Freeform 3" id="3"/>
          <p:cNvSpPr/>
          <p:nvPr/>
        </p:nvSpPr>
        <p:spPr>
          <a:xfrm flipH="false" flipV="false" rot="0">
            <a:off x="4027022" y="-317275"/>
            <a:ext cx="6808006" cy="5460775"/>
          </a:xfrm>
          <a:custGeom>
            <a:avLst/>
            <a:gdLst/>
            <a:ahLst/>
            <a:cxnLst/>
            <a:rect r="r" b="b" t="t" l="l"/>
            <a:pathLst>
              <a:path h="5460775" w="6808006">
                <a:moveTo>
                  <a:pt x="0" y="0"/>
                </a:moveTo>
                <a:lnTo>
                  <a:pt x="6808006" y="0"/>
                </a:lnTo>
                <a:lnTo>
                  <a:pt x="6808006" y="5460775"/>
                </a:lnTo>
                <a:lnTo>
                  <a:pt x="0" y="5460775"/>
                </a:lnTo>
                <a:lnTo>
                  <a:pt x="0" y="0"/>
                </a:lnTo>
                <a:close/>
              </a:path>
            </a:pathLst>
          </a:custGeom>
          <a:blipFill>
            <a:blip r:embed="rId3"/>
            <a:stretch>
              <a:fillRect l="0" t="0" r="0" b="0"/>
            </a:stretch>
          </a:blipFill>
        </p:spPr>
      </p:sp>
      <p:sp>
        <p:nvSpPr>
          <p:cNvPr name="Freeform 4" id="4"/>
          <p:cNvSpPr/>
          <p:nvPr/>
        </p:nvSpPr>
        <p:spPr>
          <a:xfrm flipH="false" flipV="false" rot="0">
            <a:off x="10719908" y="0"/>
            <a:ext cx="5477827" cy="10287000"/>
          </a:xfrm>
          <a:custGeom>
            <a:avLst/>
            <a:gdLst/>
            <a:ahLst/>
            <a:cxnLst/>
            <a:rect r="r" b="b" t="t" l="l"/>
            <a:pathLst>
              <a:path h="10287000" w="5477827">
                <a:moveTo>
                  <a:pt x="0" y="0"/>
                </a:moveTo>
                <a:lnTo>
                  <a:pt x="5477828" y="0"/>
                </a:lnTo>
                <a:lnTo>
                  <a:pt x="5477828" y="10287000"/>
                </a:lnTo>
                <a:lnTo>
                  <a:pt x="0" y="10287000"/>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568864" y="1655956"/>
            <a:ext cx="10020633" cy="8166960"/>
          </a:xfrm>
          <a:custGeom>
            <a:avLst/>
            <a:gdLst/>
            <a:ahLst/>
            <a:cxnLst/>
            <a:rect r="r" b="b" t="t" l="l"/>
            <a:pathLst>
              <a:path h="8166960" w="10020633">
                <a:moveTo>
                  <a:pt x="0" y="0"/>
                </a:moveTo>
                <a:lnTo>
                  <a:pt x="10020633" y="0"/>
                </a:lnTo>
                <a:lnTo>
                  <a:pt x="10020633" y="8166960"/>
                </a:lnTo>
                <a:lnTo>
                  <a:pt x="0" y="8166960"/>
                </a:lnTo>
                <a:lnTo>
                  <a:pt x="0" y="0"/>
                </a:lnTo>
                <a:close/>
              </a:path>
            </a:pathLst>
          </a:custGeom>
          <a:blipFill>
            <a:blip r:embed="rId2"/>
            <a:stretch>
              <a:fillRect l="0" t="-7513" r="0" b="0"/>
            </a:stretch>
          </a:blipFill>
        </p:spPr>
      </p:sp>
      <p:sp>
        <p:nvSpPr>
          <p:cNvPr name="TextBox 3" id="3"/>
          <p:cNvSpPr txBox="true"/>
          <p:nvPr/>
        </p:nvSpPr>
        <p:spPr>
          <a:xfrm rot="0">
            <a:off x="759719" y="462917"/>
            <a:ext cx="17528281" cy="998229"/>
          </a:xfrm>
          <a:prstGeom prst="rect">
            <a:avLst/>
          </a:prstGeom>
        </p:spPr>
        <p:txBody>
          <a:bodyPr anchor="t" rtlCol="false" tIns="0" lIns="0" bIns="0" rIns="0">
            <a:spAutoFit/>
          </a:bodyPr>
          <a:lstStyle/>
          <a:p>
            <a:pPr algn="l">
              <a:lnSpc>
                <a:spcPts val="7980"/>
              </a:lnSpc>
            </a:pPr>
            <a:r>
              <a:rPr lang="en-US" sz="5700" b="true">
                <a:solidFill>
                  <a:srgbClr val="000000"/>
                </a:solidFill>
                <a:latin typeface="Arimo Bold"/>
                <a:ea typeface="Arimo Bold"/>
                <a:cs typeface="Arimo Bold"/>
                <a:sym typeface="Arimo Bold"/>
              </a:rPr>
              <a:t>Ex. 13 INOI (India) 2021 - Among Us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2120040"/>
            <a:ext cx="10020633" cy="8166960"/>
          </a:xfrm>
          <a:custGeom>
            <a:avLst/>
            <a:gdLst/>
            <a:ahLst/>
            <a:cxnLst/>
            <a:rect r="r" b="b" t="t" l="l"/>
            <a:pathLst>
              <a:path h="8166960" w="10020633">
                <a:moveTo>
                  <a:pt x="0" y="0"/>
                </a:moveTo>
                <a:lnTo>
                  <a:pt x="10020632" y="0"/>
                </a:lnTo>
                <a:lnTo>
                  <a:pt x="10020632" y="8166960"/>
                </a:lnTo>
                <a:lnTo>
                  <a:pt x="0" y="8166960"/>
                </a:lnTo>
                <a:lnTo>
                  <a:pt x="0" y="0"/>
                </a:lnTo>
                <a:close/>
              </a:path>
            </a:pathLst>
          </a:custGeom>
          <a:blipFill>
            <a:blip r:embed="rId2"/>
            <a:stretch>
              <a:fillRect l="0" t="-7513" r="0" b="0"/>
            </a:stretch>
          </a:blipFill>
        </p:spPr>
      </p:sp>
      <p:sp>
        <p:nvSpPr>
          <p:cNvPr name="TextBox 3" id="3"/>
          <p:cNvSpPr txBox="true"/>
          <p:nvPr/>
        </p:nvSpPr>
        <p:spPr>
          <a:xfrm rot="0">
            <a:off x="759719" y="600591"/>
            <a:ext cx="14160880"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INOI (India) 2021 - Among Us</a:t>
            </a:r>
          </a:p>
        </p:txBody>
      </p:sp>
      <p:sp>
        <p:nvSpPr>
          <p:cNvPr name="Freeform 4" id="4"/>
          <p:cNvSpPr/>
          <p:nvPr/>
        </p:nvSpPr>
        <p:spPr>
          <a:xfrm flipH="false" flipV="false" rot="0">
            <a:off x="0" y="0"/>
            <a:ext cx="18288000" cy="10262886"/>
          </a:xfrm>
          <a:custGeom>
            <a:avLst/>
            <a:gdLst/>
            <a:ahLst/>
            <a:cxnLst/>
            <a:rect r="r" b="b" t="t" l="l"/>
            <a:pathLst>
              <a:path h="10262886" w="18288000">
                <a:moveTo>
                  <a:pt x="0" y="0"/>
                </a:moveTo>
                <a:lnTo>
                  <a:pt x="18288000" y="0"/>
                </a:lnTo>
                <a:lnTo>
                  <a:pt x="18288000" y="10262886"/>
                </a:lnTo>
                <a:lnTo>
                  <a:pt x="0" y="10262886"/>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59719" y="2120040"/>
            <a:ext cx="10020633" cy="8166960"/>
          </a:xfrm>
          <a:custGeom>
            <a:avLst/>
            <a:gdLst/>
            <a:ahLst/>
            <a:cxnLst/>
            <a:rect r="r" b="b" t="t" l="l"/>
            <a:pathLst>
              <a:path h="8166960" w="10020633">
                <a:moveTo>
                  <a:pt x="0" y="0"/>
                </a:moveTo>
                <a:lnTo>
                  <a:pt x="10020632" y="0"/>
                </a:lnTo>
                <a:lnTo>
                  <a:pt x="10020632" y="8166960"/>
                </a:lnTo>
                <a:lnTo>
                  <a:pt x="0" y="8166960"/>
                </a:lnTo>
                <a:lnTo>
                  <a:pt x="0" y="0"/>
                </a:lnTo>
                <a:close/>
              </a:path>
            </a:pathLst>
          </a:custGeom>
          <a:blipFill>
            <a:blip r:embed="rId2"/>
            <a:stretch>
              <a:fillRect l="0" t="-7513" r="0" b="0"/>
            </a:stretch>
          </a:blipFill>
        </p:spPr>
      </p:sp>
      <p:sp>
        <p:nvSpPr>
          <p:cNvPr name="TextBox 3" id="3"/>
          <p:cNvSpPr txBox="true"/>
          <p:nvPr/>
        </p:nvSpPr>
        <p:spPr>
          <a:xfrm rot="0">
            <a:off x="759719" y="230188"/>
            <a:ext cx="1638929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INOI/ZCO (India) 2021 - Among Us</a:t>
            </a:r>
          </a:p>
        </p:txBody>
      </p:sp>
      <p:sp>
        <p:nvSpPr>
          <p:cNvPr name="TextBox 4" id="4"/>
          <p:cNvSpPr txBox="true"/>
          <p:nvPr/>
        </p:nvSpPr>
        <p:spPr>
          <a:xfrm rot="0">
            <a:off x="11033030" y="2843823"/>
            <a:ext cx="6883324" cy="5821680"/>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In this problem, we have impostas. </a:t>
            </a:r>
          </a:p>
          <a:p>
            <a:pPr algn="l">
              <a:lnSpc>
                <a:spcPts val="4620"/>
              </a:lnSpc>
            </a:pPr>
            <a:r>
              <a:rPr lang="en-US" sz="3300">
                <a:solidFill>
                  <a:srgbClr val="000000"/>
                </a:solidFill>
                <a:latin typeface="Arimo"/>
                <a:ea typeface="Arimo"/>
                <a:cs typeface="Arimo"/>
                <a:sym typeface="Arimo"/>
              </a:rPr>
              <a:t>What you need to do is to find all the impostas out. </a:t>
            </a:r>
          </a:p>
          <a:p>
            <a:pPr algn="l">
              <a:lnSpc>
                <a:spcPts val="4620"/>
              </a:lnSpc>
            </a:pPr>
            <a:r>
              <a:rPr lang="en-US" sz="3300">
                <a:solidFill>
                  <a:srgbClr val="000000"/>
                </a:solidFill>
                <a:latin typeface="Arimo"/>
                <a:ea typeface="Arimo"/>
                <a:cs typeface="Arimo"/>
                <a:sym typeface="Arimo"/>
              </a:rPr>
              <a:t>Crewmates and impostas would accuse/vouch for other astronauts. </a:t>
            </a:r>
          </a:p>
          <a:p>
            <a:pPr algn="l">
              <a:lnSpc>
                <a:spcPts val="4620"/>
              </a:lnSpc>
            </a:pPr>
            <a:r>
              <a:rPr lang="en-US" sz="3300">
                <a:solidFill>
                  <a:srgbClr val="000000"/>
                </a:solidFill>
                <a:latin typeface="Arimo"/>
                <a:ea typeface="Arimo"/>
                <a:cs typeface="Arimo"/>
                <a:sym typeface="Arimo"/>
              </a:rPr>
              <a:t>Crewmates always tell the truth, and the impostas always tell lies. </a:t>
            </a:r>
          </a:p>
          <a:p>
            <a:pPr algn="l">
              <a:lnSpc>
                <a:spcPts val="4620"/>
              </a:lnSpc>
            </a:pPr>
            <a:r>
              <a:rPr lang="en-US" sz="3300">
                <a:solidFill>
                  <a:srgbClr val="000000"/>
                </a:solidFill>
                <a:latin typeface="Arimo"/>
                <a:ea typeface="Arimo"/>
                <a:cs typeface="Arimo"/>
                <a:sym typeface="Arimo"/>
              </a:rPr>
              <a:t>All astronauts know if another astronaut is a parasite or not. </a:t>
            </a:r>
          </a:p>
          <a:p>
            <a:pPr algn="l">
              <a:lnSpc>
                <a:spcPts val="4620"/>
              </a:lnSpc>
            </a:pPr>
          </a:p>
        </p:txBody>
      </p:sp>
    </p:spTree>
  </p:cSld>
  <p:clrMapOvr>
    <a:masterClrMapping/>
  </p:clrMapOvr>
</p:sld>
</file>

<file path=ppt/slides/slide42.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824963" y="7001822"/>
          <a:ext cx="7315200" cy="3095625"/>
        </p:xfrm>
        <a:graphic>
          <a:graphicData uri="http://schemas.openxmlformats.org/drawingml/2006/table">
            <a:tbl>
              <a:tblPr/>
              <a:tblGrid>
                <a:gridCol w="2438400"/>
                <a:gridCol w="2438400"/>
                <a:gridCol w="2438400"/>
              </a:tblGrid>
              <a:tr h="103187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Crewmate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Imposta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1875">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Crewmate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Vouch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Accuse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1875">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Imposta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Accuse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Vouch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Solution</a:t>
            </a:r>
          </a:p>
        </p:txBody>
      </p:sp>
      <p:sp>
        <p:nvSpPr>
          <p:cNvPr name="TextBox 4" id="4"/>
          <p:cNvSpPr txBox="true"/>
          <p:nvPr/>
        </p:nvSpPr>
        <p:spPr>
          <a:xfrm rot="0">
            <a:off x="759719" y="2843823"/>
            <a:ext cx="17074504" cy="6402705"/>
          </a:xfrm>
          <a:prstGeom prst="rect">
            <a:avLst/>
          </a:prstGeom>
        </p:spPr>
        <p:txBody>
          <a:bodyPr anchor="t" rtlCol="false" tIns="0" lIns="0" bIns="0" rIns="0">
            <a:spAutoFit/>
          </a:bodyPr>
          <a:lstStyle/>
          <a:p>
            <a:pPr algn="l">
              <a:lnSpc>
                <a:spcPts val="4620"/>
              </a:lnSpc>
            </a:pPr>
            <a:r>
              <a:rPr lang="en-US" sz="3300" strike="sngStrike">
                <a:solidFill>
                  <a:srgbClr val="000000"/>
                </a:solidFill>
                <a:latin typeface="Arimo"/>
                <a:ea typeface="Arimo"/>
                <a:cs typeface="Arimo"/>
                <a:sym typeface="Arimo"/>
              </a:rPr>
              <a:t>Disjoint set union (最喜欢并查集了)</a:t>
            </a:r>
            <a:r>
              <a:rPr lang="en-US" sz="3300">
                <a:solidFill>
                  <a:srgbClr val="000000"/>
                </a:solidFill>
                <a:latin typeface="Arimo"/>
                <a:ea typeface="Arimo"/>
                <a:cs typeface="Arimo"/>
                <a:sym typeface="Arimo"/>
              </a:rPr>
              <a:t> Sadly it isn’t today’s 主角</a:t>
            </a:r>
          </a:p>
          <a:p>
            <a:pPr algn="l">
              <a:lnSpc>
                <a:spcPts val="4620"/>
              </a:lnSpc>
            </a:pPr>
            <a:r>
              <a:rPr lang="en-US" sz="3300">
                <a:solidFill>
                  <a:srgbClr val="000000"/>
                </a:solidFill>
                <a:latin typeface="Arimo"/>
                <a:ea typeface="Arimo"/>
                <a:cs typeface="Arimo"/>
                <a:sym typeface="Arimo"/>
              </a:rPr>
              <a:t>We do a DFS! (BFS is also fine I think)</a:t>
            </a:r>
          </a:p>
          <a:p>
            <a:pPr algn="l">
              <a:lnSpc>
                <a:spcPts val="4620"/>
              </a:lnSpc>
            </a:pPr>
            <a:r>
              <a:rPr lang="en-US" sz="3300">
                <a:solidFill>
                  <a:srgbClr val="000000"/>
                </a:solidFill>
                <a:latin typeface="Arimo"/>
                <a:ea typeface="Arimo"/>
                <a:cs typeface="Arimo"/>
                <a:sym typeface="Arimo"/>
              </a:rPr>
              <a:t>We see that we can create a graph with the astronauts as vertices. Connect each astronaut with an edge: Type 1 connects vertices that are of opposite sides, Type 2 connects vertices that are of same sides. (Look at table for explanation)</a:t>
            </a:r>
          </a:p>
          <a:p>
            <a:pPr algn="l">
              <a:lnSpc>
                <a:spcPts val="4620"/>
              </a:lnSpc>
            </a:pPr>
            <a:r>
              <a:rPr lang="en-US" sz="3300">
                <a:solidFill>
                  <a:srgbClr val="000000"/>
                </a:solidFill>
                <a:latin typeface="Arimo"/>
                <a:ea typeface="Arimo"/>
                <a:cs typeface="Arimo"/>
                <a:sym typeface="Arimo"/>
              </a:rPr>
              <a:t>We then can give the edges a weight and then we can assign a specific node a value (ex. 0 for crewmate). Then go on through the entire graph and see if there are contradictions (print -1 in this case)</a:t>
            </a:r>
          </a:p>
          <a:p>
            <a:pPr algn="l">
              <a:lnSpc>
                <a:spcPts val="4620"/>
              </a:lnSpc>
            </a:pPr>
            <a:r>
              <a:rPr lang="en-US" sz="3300">
                <a:solidFill>
                  <a:srgbClr val="000000"/>
                </a:solidFill>
                <a:latin typeface="Arimo"/>
                <a:ea typeface="Arimo"/>
                <a:cs typeface="Arimo"/>
                <a:sym typeface="Arimo"/>
              </a:rPr>
              <a:t>We then count the number of parasites &amp; humans</a:t>
            </a:r>
          </a:p>
          <a:p>
            <a:pPr algn="l">
              <a:lnSpc>
                <a:spcPts val="4620"/>
              </a:lnSpc>
            </a:pPr>
            <a:r>
              <a:rPr lang="en-US" sz="3300">
                <a:solidFill>
                  <a:srgbClr val="000000"/>
                </a:solidFill>
                <a:latin typeface="Arimo"/>
                <a:ea typeface="Arimo"/>
                <a:cs typeface="Arimo"/>
                <a:sym typeface="Arimo"/>
              </a:rPr>
              <a:t>Print out the bigger ones (since parasites and humans</a:t>
            </a:r>
          </a:p>
          <a:p>
            <a:pPr algn="l">
              <a:lnSpc>
                <a:spcPts val="4620"/>
              </a:lnSpc>
            </a:pPr>
            <a:r>
              <a:rPr lang="en-US" sz="3300">
                <a:solidFill>
                  <a:srgbClr val="000000"/>
                </a:solidFill>
                <a:latin typeface="Arimo"/>
                <a:ea typeface="Arimo"/>
                <a:cs typeface="Arimo"/>
                <a:sym typeface="Arimo"/>
              </a:rPr>
              <a:t>can be swapped)</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628088" y="1671440"/>
            <a:ext cx="7765993" cy="8261695"/>
          </a:xfrm>
          <a:custGeom>
            <a:avLst/>
            <a:gdLst/>
            <a:ahLst/>
            <a:cxnLst/>
            <a:rect r="r" b="b" t="t" l="l"/>
            <a:pathLst>
              <a:path h="8261695" w="7765993">
                <a:moveTo>
                  <a:pt x="0" y="0"/>
                </a:moveTo>
                <a:lnTo>
                  <a:pt x="7765994" y="0"/>
                </a:lnTo>
                <a:lnTo>
                  <a:pt x="7765994" y="8261695"/>
                </a:lnTo>
                <a:lnTo>
                  <a:pt x="0" y="8261695"/>
                </a:lnTo>
                <a:lnTo>
                  <a:pt x="0" y="0"/>
                </a:lnTo>
                <a:close/>
              </a:path>
            </a:pathLst>
          </a:custGeom>
          <a:blipFill>
            <a:blip r:embed="rId2"/>
            <a:stretch>
              <a:fillRect l="0" t="0" r="0" b="0"/>
            </a:stretch>
          </a:blipFill>
        </p:spPr>
      </p:sp>
      <p:sp>
        <p:nvSpPr>
          <p:cNvPr name="TextBox 3" id="3"/>
          <p:cNvSpPr txBox="true"/>
          <p:nvPr/>
        </p:nvSpPr>
        <p:spPr>
          <a:xfrm rot="0">
            <a:off x="671964" y="264929"/>
            <a:ext cx="16389298" cy="1406511"/>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APIO '11 P1 - Table Coloring</a:t>
            </a:r>
          </a:p>
        </p:txBody>
      </p:sp>
      <p:sp>
        <p:nvSpPr>
          <p:cNvPr name="TextBox 4" id="4"/>
          <p:cNvSpPr txBox="true"/>
          <p:nvPr/>
        </p:nvSpPr>
        <p:spPr>
          <a:xfrm rot="0">
            <a:off x="10611807" y="2843823"/>
            <a:ext cx="6883324" cy="4078699"/>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In this problem, we want to know the number of ways to color an n*m table s.t. each cell is either blue or red and each 2x2 grid contains an odd number of blue cells.</a:t>
            </a:r>
          </a:p>
          <a:p>
            <a:pPr algn="l">
              <a:lnSpc>
                <a:spcPts val="4620"/>
              </a:lnSpc>
            </a:pPr>
          </a:p>
          <a:p>
            <a:pPr algn="l">
              <a:lnSpc>
                <a:spcPts val="4620"/>
              </a:lnSpc>
            </a:pPr>
            <a:r>
              <a:rPr lang="en-US" sz="3300">
                <a:solidFill>
                  <a:srgbClr val="000000"/>
                </a:solidFill>
                <a:latin typeface="Arimo"/>
                <a:ea typeface="Arimo"/>
                <a:cs typeface="Arimo"/>
                <a:sym typeface="Arimo"/>
              </a:rPr>
              <a:t>Hint: math</a:t>
            </a: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Solution</a:t>
            </a:r>
          </a:p>
        </p:txBody>
      </p:sp>
      <p:sp>
        <p:nvSpPr>
          <p:cNvPr name="TextBox 3" id="3"/>
          <p:cNvSpPr txBox="true"/>
          <p:nvPr/>
        </p:nvSpPr>
        <p:spPr>
          <a:xfrm rot="0">
            <a:off x="759719" y="2964921"/>
            <a:ext cx="17074504" cy="4659738"/>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Step 1: Observation as any normal human being does(</a:t>
            </a:r>
          </a:p>
          <a:p>
            <a:pPr algn="l">
              <a:lnSpc>
                <a:spcPts val="4620"/>
              </a:lnSpc>
            </a:pPr>
            <a:r>
              <a:rPr lang="en-US" sz="3300">
                <a:solidFill>
                  <a:srgbClr val="000000"/>
                </a:solidFill>
                <a:latin typeface="Arimo"/>
                <a:ea typeface="Arimo"/>
                <a:cs typeface="Arimo"/>
                <a:sym typeface="Arimo"/>
              </a:rPr>
              <a:t>Let’s create an imaginary 0th row and column</a:t>
            </a:r>
          </a:p>
          <a:p>
            <a:pPr algn="l">
              <a:lnSpc>
                <a:spcPts val="4620"/>
              </a:lnSpc>
            </a:pPr>
            <a:r>
              <a:rPr lang="en-US" sz="3300">
                <a:solidFill>
                  <a:srgbClr val="000000"/>
                </a:solidFill>
                <a:latin typeface="Arimo"/>
                <a:ea typeface="Arimo"/>
                <a:cs typeface="Arimo"/>
                <a:sym typeface="Arimo"/>
              </a:rPr>
              <a:t>Let f(x,y) = whether cell (x,y) is blue or not</a:t>
            </a:r>
          </a:p>
          <a:p>
            <a:pPr algn="l">
              <a:lnSpc>
                <a:spcPts val="4620"/>
              </a:lnSpc>
            </a:pPr>
            <a:r>
              <a:rPr lang="en-US" sz="3300">
                <a:solidFill>
                  <a:srgbClr val="000000"/>
                </a:solidFill>
                <a:latin typeface="Arimo"/>
                <a:ea typeface="Arimo"/>
                <a:cs typeface="Arimo"/>
                <a:sym typeface="Arimo"/>
              </a:rPr>
              <a:t>We see that f(x,y) = !(f(x-1,y-1)^f(x-1,y)^f(x,y-1))</a:t>
            </a:r>
          </a:p>
          <a:p>
            <a:pPr algn="l">
              <a:lnSpc>
                <a:spcPts val="4620"/>
              </a:lnSpc>
            </a:pPr>
            <a:r>
              <a:rPr lang="en-US" sz="3300">
                <a:solidFill>
                  <a:srgbClr val="000000"/>
                </a:solidFill>
                <a:latin typeface="Arimo"/>
                <a:ea typeface="Arimo"/>
                <a:cs typeface="Arimo"/>
                <a:sym typeface="Arimo"/>
              </a:rPr>
              <a:t>Then, by analysis, we have f(x,y) = (f(0,0)^f(0,y)^f(x,0)^((x*y)%2))</a:t>
            </a:r>
          </a:p>
          <a:p>
            <a:pPr algn="l">
              <a:lnSpc>
                <a:spcPts val="4620"/>
              </a:lnSpc>
            </a:pPr>
            <a:r>
              <a:rPr lang="en-US" sz="3300">
                <a:solidFill>
                  <a:srgbClr val="000000"/>
                </a:solidFill>
                <a:latin typeface="Arimo"/>
                <a:ea typeface="Arimo"/>
                <a:cs typeface="Arimo"/>
                <a:sym typeface="Arimo"/>
              </a:rPr>
              <a:t>WLOG set f(0,0) to 0</a:t>
            </a:r>
          </a:p>
          <a:p>
            <a:pPr algn="l">
              <a:lnSpc>
                <a:spcPts val="4620"/>
              </a:lnSpc>
            </a:pPr>
            <a:r>
              <a:rPr lang="en-US" sz="3300">
                <a:solidFill>
                  <a:srgbClr val="000000"/>
                </a:solidFill>
                <a:latin typeface="Arimo"/>
                <a:ea typeface="Arimo"/>
                <a:cs typeface="Arimo"/>
                <a:sym typeface="Arimo"/>
              </a:rPr>
              <a:t>⟶ all cells with x or y = 0 are independent except when f(x,y) is determined (in which case f(0,y) and f(x,0) are dependent)</a:t>
            </a: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Solution</a:t>
            </a:r>
          </a:p>
        </p:txBody>
      </p:sp>
      <p:sp>
        <p:nvSpPr>
          <p:cNvPr name="TextBox 3" id="3"/>
          <p:cNvSpPr txBox="true"/>
          <p:nvPr/>
        </p:nvSpPr>
        <p:spPr>
          <a:xfrm rot="0">
            <a:off x="759719" y="2964921"/>
            <a:ext cx="17074504" cy="4078699"/>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Step 2: Create a graph</a:t>
            </a:r>
          </a:p>
          <a:p>
            <a:pPr algn="l" marL="712470" indent="-356235" lvl="1">
              <a:lnSpc>
                <a:spcPts val="4620"/>
              </a:lnSpc>
              <a:buFont typeface="Arial"/>
              <a:buChar char="•"/>
            </a:pPr>
            <a:r>
              <a:rPr lang="en-US" sz="3300">
                <a:solidFill>
                  <a:srgbClr val="000000"/>
                </a:solidFill>
                <a:latin typeface="Arimo"/>
                <a:ea typeface="Arimo"/>
                <a:cs typeface="Arimo"/>
                <a:sym typeface="Arimo"/>
              </a:rPr>
              <a:t>All (x,0),(0,y) are nodes</a:t>
            </a:r>
          </a:p>
          <a:p>
            <a:pPr algn="l" marL="712470" indent="-356235" lvl="1">
              <a:lnSpc>
                <a:spcPts val="4620"/>
              </a:lnSpc>
              <a:buFont typeface="Arial"/>
              <a:buChar char="•"/>
            </a:pPr>
            <a:r>
              <a:rPr lang="en-US" sz="3300">
                <a:solidFill>
                  <a:srgbClr val="000000"/>
                </a:solidFill>
                <a:latin typeface="Arimo"/>
                <a:ea typeface="Arimo"/>
                <a:cs typeface="Arimo"/>
                <a:sym typeface="Arimo"/>
              </a:rPr>
              <a:t>Each colored cell (x,y) is an edge connecting (x,0) and (0,y)</a:t>
            </a:r>
          </a:p>
          <a:p>
            <a:pPr algn="l">
              <a:lnSpc>
                <a:spcPts val="4620"/>
              </a:lnSpc>
            </a:pPr>
            <a:r>
              <a:rPr lang="en-US" sz="3300">
                <a:solidFill>
                  <a:srgbClr val="000000"/>
                </a:solidFill>
                <a:latin typeface="Arimo"/>
                <a:ea typeface="Arimo"/>
                <a:cs typeface="Arimo"/>
                <a:sym typeface="Arimo"/>
              </a:rPr>
              <a:t>Now there exists K connected components, so answer is 2</a:t>
            </a:r>
            <a:r>
              <a:rPr lang="en-US" sz="3300">
                <a:solidFill>
                  <a:srgbClr val="000000"/>
                </a:solidFill>
                <a:latin typeface="Arimo"/>
                <a:ea typeface="Arimo"/>
                <a:cs typeface="Arimo"/>
                <a:sym typeface="Arimo"/>
              </a:rPr>
              <a:t>K-1</a:t>
            </a:r>
            <a:r>
              <a:rPr lang="en-US" sz="3300">
                <a:solidFill>
                  <a:srgbClr val="000000"/>
                </a:solidFill>
                <a:latin typeface="Arimo"/>
                <a:ea typeface="Arimo"/>
                <a:cs typeface="Arimo"/>
                <a:sym typeface="Arimo"/>
              </a:rPr>
              <a:t> or 0.</a:t>
            </a:r>
          </a:p>
          <a:p>
            <a:pPr algn="l">
              <a:lnSpc>
                <a:spcPts val="4620"/>
              </a:lnSpc>
            </a:pPr>
            <a:r>
              <a:rPr lang="en-US" sz="3300">
                <a:solidFill>
                  <a:srgbClr val="000000"/>
                </a:solidFill>
                <a:latin typeface="Arimo"/>
                <a:ea typeface="Arimo"/>
                <a:cs typeface="Arimo"/>
                <a:sym typeface="Arimo"/>
              </a:rPr>
              <a:t>Now, we split each node into two, and connect nodes with consistent colors</a:t>
            </a:r>
          </a:p>
          <a:p>
            <a:pPr algn="l">
              <a:lnSpc>
                <a:spcPts val="4620"/>
              </a:lnSpc>
            </a:pPr>
            <a:r>
              <a:rPr lang="en-US" sz="3300">
                <a:solidFill>
                  <a:srgbClr val="000000"/>
                </a:solidFill>
                <a:latin typeface="Arimo"/>
                <a:ea typeface="Arimo"/>
                <a:cs typeface="Arimo"/>
                <a:sym typeface="Arimo"/>
              </a:rPr>
              <a:t>If any two nodes of the same origin are in the same connected component, answer is 0; otherwise, it is 2</a:t>
            </a:r>
            <a:r>
              <a:rPr lang="en-US" sz="3300">
                <a:solidFill>
                  <a:srgbClr val="000000"/>
                </a:solidFill>
                <a:latin typeface="Arimo"/>
                <a:ea typeface="Arimo"/>
                <a:cs typeface="Arimo"/>
                <a:sym typeface="Arimo"/>
              </a:rPr>
              <a:t>K-1</a:t>
            </a:r>
            <a:r>
              <a:rPr lang="en-US" sz="3300">
                <a:solidFill>
                  <a:srgbClr val="000000"/>
                </a:solidFill>
                <a:latin typeface="Arimo"/>
                <a:ea typeface="Arimo"/>
                <a:cs typeface="Arimo"/>
                <a:sym typeface="Arimo"/>
              </a:rPr>
              <a:t>.</a:t>
            </a: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3679416" y="4640263"/>
            <a:ext cx="10929168" cy="882650"/>
          </a:xfrm>
          <a:prstGeom prst="rect">
            <a:avLst/>
          </a:prstGeom>
        </p:spPr>
        <p:txBody>
          <a:bodyPr anchor="t" rtlCol="false" tIns="0" lIns="0" bIns="0" rIns="0">
            <a:spAutoFit/>
          </a:bodyPr>
          <a:lstStyle/>
          <a:p>
            <a:pPr algn="l">
              <a:lnSpc>
                <a:spcPts val="7000"/>
              </a:lnSpc>
            </a:pPr>
            <a:r>
              <a:rPr lang="en-US" sz="5000" b="true">
                <a:solidFill>
                  <a:srgbClr val="000000"/>
                </a:solidFill>
                <a:latin typeface="Arimo Bold"/>
                <a:ea typeface="Arimo Bold"/>
                <a:cs typeface="Arimo Bold"/>
                <a:sym typeface="Arimo Bold"/>
              </a:rPr>
              <a:t>Да здравствует заливка! Ура! Ура!</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018246"/>
            <a:ext cx="6556322" cy="6320295"/>
          </a:xfrm>
          <a:custGeom>
            <a:avLst/>
            <a:gdLst/>
            <a:ahLst/>
            <a:cxnLst/>
            <a:rect r="r" b="b" t="t" l="l"/>
            <a:pathLst>
              <a:path h="6320295" w="6556322">
                <a:moveTo>
                  <a:pt x="0" y="0"/>
                </a:moveTo>
                <a:lnTo>
                  <a:pt x="6556322" y="0"/>
                </a:lnTo>
                <a:lnTo>
                  <a:pt x="6556322" y="6320295"/>
                </a:lnTo>
                <a:lnTo>
                  <a:pt x="0" y="6320295"/>
                </a:lnTo>
                <a:lnTo>
                  <a:pt x="0" y="0"/>
                </a:lnTo>
                <a:close/>
              </a:path>
            </a:pathLst>
          </a:custGeom>
          <a:blipFill>
            <a:blip r:embed="rId2"/>
            <a:stretch>
              <a:fillRect l="0" t="0" r="0" b="0"/>
            </a:stretch>
          </a:blipFill>
        </p:spPr>
      </p:sp>
      <p:sp>
        <p:nvSpPr>
          <p:cNvPr name="Freeform 3" id="3"/>
          <p:cNvSpPr/>
          <p:nvPr/>
        </p:nvSpPr>
        <p:spPr>
          <a:xfrm flipH="false" flipV="false" rot="0">
            <a:off x="7967667" y="1983353"/>
            <a:ext cx="5354488" cy="6151965"/>
          </a:xfrm>
          <a:custGeom>
            <a:avLst/>
            <a:gdLst/>
            <a:ahLst/>
            <a:cxnLst/>
            <a:rect r="r" b="b" t="t" l="l"/>
            <a:pathLst>
              <a:path h="6151965" w="5354488">
                <a:moveTo>
                  <a:pt x="0" y="0"/>
                </a:moveTo>
                <a:lnTo>
                  <a:pt x="5354489" y="0"/>
                </a:lnTo>
                <a:lnTo>
                  <a:pt x="5354489" y="6151965"/>
                </a:lnTo>
                <a:lnTo>
                  <a:pt x="0" y="6151965"/>
                </a:lnTo>
                <a:lnTo>
                  <a:pt x="0" y="0"/>
                </a:lnTo>
                <a:close/>
              </a:path>
            </a:pathLst>
          </a:custGeom>
          <a:blipFill>
            <a:blip r:embed="rId3"/>
            <a:stretch>
              <a:fillRect l="0" t="0" r="0" b="0"/>
            </a:stretch>
          </a:blipFill>
        </p:spPr>
      </p:sp>
      <p:sp>
        <p:nvSpPr>
          <p:cNvPr name="Freeform 4" id="4"/>
          <p:cNvSpPr/>
          <p:nvPr/>
        </p:nvSpPr>
        <p:spPr>
          <a:xfrm flipH="false" flipV="false" rot="0">
            <a:off x="11632940" y="1965906"/>
            <a:ext cx="6363143" cy="6355189"/>
          </a:xfrm>
          <a:custGeom>
            <a:avLst/>
            <a:gdLst/>
            <a:ahLst/>
            <a:cxnLst/>
            <a:rect r="r" b="b" t="t" l="l"/>
            <a:pathLst>
              <a:path h="6355189" w="6363143">
                <a:moveTo>
                  <a:pt x="0" y="0"/>
                </a:moveTo>
                <a:lnTo>
                  <a:pt x="6363142" y="0"/>
                </a:lnTo>
                <a:lnTo>
                  <a:pt x="6363142" y="6355188"/>
                </a:lnTo>
                <a:lnTo>
                  <a:pt x="0" y="6355188"/>
                </a:lnTo>
                <a:lnTo>
                  <a:pt x="0" y="0"/>
                </a:lnTo>
                <a:close/>
              </a:path>
            </a:pathLst>
          </a:custGeom>
          <a:blipFill>
            <a:blip r:embed="rId4"/>
            <a:stretch>
              <a:fillRect l="0" t="0" r="0" b="0"/>
            </a:stretch>
          </a:blipFill>
        </p:spPr>
      </p:sp>
      <p:sp>
        <p:nvSpPr>
          <p:cNvPr name="TextBox 5" id="5"/>
          <p:cNvSpPr txBox="true"/>
          <p:nvPr/>
        </p:nvSpPr>
        <p:spPr>
          <a:xfrm rot="0">
            <a:off x="3077866" y="642271"/>
            <a:ext cx="13017582" cy="882650"/>
          </a:xfrm>
          <a:prstGeom prst="rect">
            <a:avLst/>
          </a:prstGeom>
        </p:spPr>
        <p:txBody>
          <a:bodyPr anchor="t" rtlCol="false" tIns="0" lIns="0" bIns="0" rIns="0">
            <a:spAutoFit/>
          </a:bodyPr>
          <a:lstStyle/>
          <a:p>
            <a:pPr algn="l">
              <a:lnSpc>
                <a:spcPts val="7000"/>
              </a:lnSpc>
            </a:pPr>
            <a:r>
              <a:rPr lang="en-US" sz="5000" b="true">
                <a:solidFill>
                  <a:srgbClr val="000000"/>
                </a:solidFill>
                <a:latin typeface="Arimo Bold"/>
                <a:ea typeface="Arimo Bold"/>
                <a:cs typeface="Arimo Bold"/>
                <a:sym typeface="Arimo Bold"/>
              </a:rPr>
              <a:t>USACO Silver 2024 Dec. 2D Conveyer Belt </a:t>
            </a:r>
          </a:p>
        </p:txBody>
      </p:sp>
      <p:sp>
        <p:nvSpPr>
          <p:cNvPr name="TextBox 6" id="6"/>
          <p:cNvSpPr txBox="true"/>
          <p:nvPr/>
        </p:nvSpPr>
        <p:spPr>
          <a:xfrm rot="0">
            <a:off x="606748" y="8225844"/>
            <a:ext cx="17074504" cy="1754505"/>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Farmer John invests in industry and starts building conveyer belts; for each time period find the min number of unusable cells (cells whose objects cannot escape the 2D conveyer belt grid </a:t>
            </a: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098639" y="2512805"/>
          <a:ext cx="5710220" cy="5715274"/>
        </p:xfrm>
        <a:graphic>
          <a:graphicData uri="http://schemas.openxmlformats.org/drawingml/2006/table">
            <a:tbl>
              <a:tblPr/>
              <a:tblGrid>
                <a:gridCol w="951703"/>
                <a:gridCol w="951703"/>
                <a:gridCol w="951703"/>
                <a:gridCol w="951703"/>
                <a:gridCol w="951703"/>
                <a:gridCol w="951703"/>
              </a:tblGrid>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95254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sp>
        <p:nvSpPr>
          <p:cNvPr name="TextBox 3" id="3"/>
          <p:cNvSpPr txBox="true"/>
          <p:nvPr/>
        </p:nvSpPr>
        <p:spPr>
          <a:xfrm rot="0">
            <a:off x="759719" y="600591"/>
            <a:ext cx="10506018" cy="1406524"/>
          </a:xfrm>
          <a:prstGeom prst="rect">
            <a:avLst/>
          </a:prstGeom>
        </p:spPr>
        <p:txBody>
          <a:bodyPr anchor="t" rtlCol="false" tIns="0" lIns="0" bIns="0" rIns="0">
            <a:spAutoFit/>
          </a:bodyPr>
          <a:lstStyle/>
          <a:p>
            <a:pPr algn="l">
              <a:lnSpc>
                <a:spcPts val="11200"/>
              </a:lnSpc>
            </a:pPr>
            <a:r>
              <a:rPr lang="en-US" sz="8000" b="true">
                <a:solidFill>
                  <a:srgbClr val="000000"/>
                </a:solidFill>
                <a:latin typeface="Arimo Bold"/>
                <a:ea typeface="Arimo Bold"/>
                <a:cs typeface="Arimo Bold"/>
                <a:sym typeface="Arimo Bold"/>
              </a:rPr>
              <a:t>Solution</a:t>
            </a:r>
          </a:p>
        </p:txBody>
      </p:sp>
      <p:sp>
        <p:nvSpPr>
          <p:cNvPr name="TextBox 4" id="4"/>
          <p:cNvSpPr txBox="true"/>
          <p:nvPr/>
        </p:nvSpPr>
        <p:spPr>
          <a:xfrm rot="0">
            <a:off x="759719" y="2843823"/>
            <a:ext cx="7935240" cy="3497580"/>
          </a:xfrm>
          <a:prstGeom prst="rect">
            <a:avLst/>
          </a:prstGeom>
        </p:spPr>
        <p:txBody>
          <a:bodyPr anchor="t" rtlCol="false" tIns="0" lIns="0" bIns="0" rIns="0">
            <a:spAutoFit/>
          </a:bodyPr>
          <a:lstStyle/>
          <a:p>
            <a:pPr algn="l">
              <a:lnSpc>
                <a:spcPts val="4620"/>
              </a:lnSpc>
            </a:pPr>
            <a:r>
              <a:rPr lang="en-US" sz="3300">
                <a:solidFill>
                  <a:srgbClr val="000000"/>
                </a:solidFill>
                <a:latin typeface="Arimo"/>
                <a:ea typeface="Arimo"/>
                <a:cs typeface="Arimo"/>
                <a:sym typeface="Arimo"/>
              </a:rPr>
              <a:t>First fast-forward to after FJ has built all of his conveyer belts, and then do a flooding of the perimeter (every cell that can reach the outside of the border); we remember to include a “padding” denoting the outside of the grid</a:t>
            </a:r>
          </a:p>
        </p:txBody>
      </p:sp>
    </p:spTree>
  </p:cSld>
  <p:clrMapOvr>
    <a:masterClrMapping/>
  </p:clrMapOvr>
</p:sld>
</file>

<file path=ppt/slides/slide49.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613016" y="361950"/>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graphicFrame>
        <p:nvGraphicFramePr>
          <p:cNvPr name="Table 3" id="3"/>
          <p:cNvGraphicFramePr>
            <a:graphicFrameLocks noGrp="true"/>
          </p:cNvGraphicFramePr>
          <p:nvPr/>
        </p:nvGraphicFramePr>
        <p:xfrm>
          <a:off x="6615737" y="361950"/>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graphicFrame>
        <p:nvGraphicFramePr>
          <p:cNvPr name="Table 4" id="4"/>
          <p:cNvGraphicFramePr>
            <a:graphicFrameLocks noGrp="true"/>
          </p:cNvGraphicFramePr>
          <p:nvPr/>
        </p:nvGraphicFramePr>
        <p:xfrm>
          <a:off x="11619316" y="361950"/>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graphicFrame>
        <p:nvGraphicFramePr>
          <p:cNvPr name="Table 5" id="5"/>
          <p:cNvGraphicFramePr>
            <a:graphicFrameLocks noGrp="true"/>
          </p:cNvGraphicFramePr>
          <p:nvPr/>
        </p:nvGraphicFramePr>
        <p:xfrm>
          <a:off x="1612588" y="5319761"/>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graphicFrame>
        <p:nvGraphicFramePr>
          <p:cNvPr name="Table 6" id="6"/>
          <p:cNvGraphicFramePr>
            <a:graphicFrameLocks noGrp="true"/>
          </p:cNvGraphicFramePr>
          <p:nvPr/>
        </p:nvGraphicFramePr>
        <p:xfrm>
          <a:off x="6615309" y="5319761"/>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graphicFrame>
        <p:nvGraphicFramePr>
          <p:cNvPr name="Table 7" id="7"/>
          <p:cNvGraphicFramePr>
            <a:graphicFrameLocks noGrp="true"/>
          </p:cNvGraphicFramePr>
          <p:nvPr/>
        </p:nvGraphicFramePr>
        <p:xfrm>
          <a:off x="11618887" y="5319761"/>
          <a:ext cx="4765453" cy="4781550"/>
        </p:xfrm>
        <a:graphic>
          <a:graphicData uri="http://schemas.openxmlformats.org/drawingml/2006/table">
            <a:tbl>
              <a:tblPr/>
              <a:tblGrid>
                <a:gridCol w="794242"/>
                <a:gridCol w="794242"/>
                <a:gridCol w="794242"/>
                <a:gridCol w="794242"/>
                <a:gridCol w="794242"/>
                <a:gridCol w="794242"/>
              </a:tblGrid>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r>
                        <a:rPr lang="en-US" sz="1800">
                          <a:solidFill>
                            <a:srgbClr val="000000"/>
                          </a:solidFill>
                          <a:latin typeface="Arimo"/>
                          <a:ea typeface="Arimo"/>
                          <a:cs typeface="Arimo"/>
                          <a:sym typeface="Arimo"/>
                        </a:rPr>
                        <a:t>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r h="79692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BD59"/>
                    </a:solidFill>
                  </a:tcPr>
                </a:tc>
              </a:tr>
            </a:tbl>
          </a:graphicData>
        </a:graphic>
      </p:graphicFrame>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820128" y="147470"/>
            <a:ext cx="6019313" cy="4996030"/>
          </a:xfrm>
          <a:custGeom>
            <a:avLst/>
            <a:gdLst/>
            <a:ahLst/>
            <a:cxnLst/>
            <a:rect r="r" b="b" t="t" l="l"/>
            <a:pathLst>
              <a:path h="4996030" w="6019313">
                <a:moveTo>
                  <a:pt x="0" y="0"/>
                </a:moveTo>
                <a:lnTo>
                  <a:pt x="6019313" y="0"/>
                </a:lnTo>
                <a:lnTo>
                  <a:pt x="6019313" y="4996030"/>
                </a:lnTo>
                <a:lnTo>
                  <a:pt x="0" y="4996030"/>
                </a:lnTo>
                <a:lnTo>
                  <a:pt x="0" y="0"/>
                </a:lnTo>
                <a:close/>
              </a:path>
            </a:pathLst>
          </a:custGeom>
          <a:blipFill>
            <a:blip r:embed="rId2"/>
            <a:stretch>
              <a:fillRect l="0" t="0" r="0" b="0"/>
            </a:stretch>
          </a:blipFill>
        </p:spPr>
      </p:sp>
      <p:sp>
        <p:nvSpPr>
          <p:cNvPr name="Freeform 3" id="3"/>
          <p:cNvSpPr/>
          <p:nvPr/>
        </p:nvSpPr>
        <p:spPr>
          <a:xfrm flipH="false" flipV="false" rot="0">
            <a:off x="1820128" y="5329918"/>
            <a:ext cx="6019313" cy="4957082"/>
          </a:xfrm>
          <a:custGeom>
            <a:avLst/>
            <a:gdLst/>
            <a:ahLst/>
            <a:cxnLst/>
            <a:rect r="r" b="b" t="t" l="l"/>
            <a:pathLst>
              <a:path h="4957082" w="6019313">
                <a:moveTo>
                  <a:pt x="0" y="0"/>
                </a:moveTo>
                <a:lnTo>
                  <a:pt x="6019313" y="0"/>
                </a:lnTo>
                <a:lnTo>
                  <a:pt x="6019313" y="4957082"/>
                </a:lnTo>
                <a:lnTo>
                  <a:pt x="0" y="4957082"/>
                </a:lnTo>
                <a:lnTo>
                  <a:pt x="0" y="0"/>
                </a:lnTo>
                <a:close/>
              </a:path>
            </a:pathLst>
          </a:custGeom>
          <a:blipFill>
            <a:blip r:embed="rId3"/>
            <a:stretch>
              <a:fillRect l="0" t="0" r="0" b="0"/>
            </a:stretch>
          </a:blipFill>
        </p:spPr>
      </p:sp>
      <p:sp>
        <p:nvSpPr>
          <p:cNvPr name="Freeform 4" id="4"/>
          <p:cNvSpPr/>
          <p:nvPr/>
        </p:nvSpPr>
        <p:spPr>
          <a:xfrm flipH="false" flipV="false" rot="0">
            <a:off x="9006183" y="2498015"/>
            <a:ext cx="7787598" cy="6006185"/>
          </a:xfrm>
          <a:custGeom>
            <a:avLst/>
            <a:gdLst/>
            <a:ahLst/>
            <a:cxnLst/>
            <a:rect r="r" b="b" t="t" l="l"/>
            <a:pathLst>
              <a:path h="6006185" w="7787598">
                <a:moveTo>
                  <a:pt x="0" y="0"/>
                </a:moveTo>
                <a:lnTo>
                  <a:pt x="7787598" y="0"/>
                </a:lnTo>
                <a:lnTo>
                  <a:pt x="7787598" y="6006185"/>
                </a:lnTo>
                <a:lnTo>
                  <a:pt x="0" y="6006185"/>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DAGimGbBlg4</dc:identifier>
  <dcterms:modified xsi:type="dcterms:W3CDTF">2011-08-01T06:04:30Z</dcterms:modified>
  <cp:revision>1</cp:revision>
  <dc:title>MeinKampfPt2</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AIGC">
    <vt:lpwstr>{"Label":"1","ContentProducer":"001191110105MA01AN806X00000","ProduceID":"DAGimGbBlg4","ReservedCode1":"","ContentPropagator":"001191110105MA01AN806X00000","PropagateID":"DAGimGbBlg4","ReservedCode2":""}</vt:lpwstr>
  </property>
</Properties>
</file>