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embeddedFontLst>
    <p:embeddedFont>
      <p:font typeface="Roboto"/>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regular.fntdata"/><Relationship Id="rId25" Type="http://schemas.openxmlformats.org/officeDocument/2006/relationships/slide" Target="slides/slide20.xml"/><Relationship Id="rId28" Type="http://schemas.openxmlformats.org/officeDocument/2006/relationships/font" Target="fonts/Roboto-italic.fntdata"/><Relationship Id="rId27" Type="http://schemas.openxmlformats.org/officeDocument/2006/relationships/font" Target="fonts/Robot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boldItalic.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1896eb1a9f_0_30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1896eb1a9f_0_30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189d86bb40_2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189d86bb40_2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1896eb1a9f_0_30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1896eb1a9f_0_30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1896eb1a9f_0_30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1896eb1a9f_0_30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189d86bb40_2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189d86bb40_2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189d86bb40_2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189d86bb40_2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189d86bb40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189d86bb40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189d86bb40_2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189d86bb40_2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18a49e4fd1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18a49e4fd1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18a49e4fd1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18a49e4fd1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18a49e4fd1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18a49e4fd1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18a49e4fd1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18a49e4fd1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18a49e4fd1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18a49e4fd1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1943104f2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1943104f2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1943104f27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1943104f27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1943104f27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1943104f27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1943104f27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1943104f27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189d86bb40_2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189d86bb40_2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18a49e4fd1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18a49e4fd1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1943104f27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1943104f27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9.png"/><Relationship Id="rId4" Type="http://schemas.openxmlformats.org/officeDocument/2006/relationships/image" Target="../media/image11.png"/><Relationship Id="rId5"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3.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8.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7.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0.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usaco.org/index.php?page=viewproblem2&amp;cpid=526" TargetMode="External"/><Relationship Id="rId4" Type="http://schemas.openxmlformats.org/officeDocument/2006/relationships/hyperlink" Target="https://usaco.org/index.php?page=viewproblem2&amp;cpid=616" TargetMode="External"/><Relationship Id="rId5" Type="http://schemas.openxmlformats.org/officeDocument/2006/relationships/hyperlink" Target="https://usaco.org/index.php?page=viewproblem2&amp;cpid=831"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4C2F4"/>
        </a:solidFill>
      </p:bgPr>
    </p:bg>
    <p:spTree>
      <p:nvGrpSpPr>
        <p:cNvPr id="66" name="Shape 66"/>
        <p:cNvGrpSpPr/>
        <p:nvPr/>
      </p:nvGrpSpPr>
      <p:grpSpPr>
        <a:xfrm>
          <a:off x="0" y="0"/>
          <a:ext cx="0" cy="0"/>
          <a:chOff x="0" y="0"/>
          <a:chExt cx="0" cy="0"/>
        </a:xfrm>
      </p:grpSpPr>
      <p:sp>
        <p:nvSpPr>
          <p:cNvPr id="67" name="Google Shape;67;p13"/>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trike="sngStrike"/>
              <a:t>Brute Force</a:t>
            </a:r>
            <a:r>
              <a:rPr lang="en"/>
              <a:t> Basic Simulation</a:t>
            </a:r>
            <a:endParaRPr/>
          </a:p>
        </p:txBody>
      </p:sp>
      <p:sp>
        <p:nvSpPr>
          <p:cNvPr id="68" name="Google Shape;68;p13"/>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By 10-1 Hans Zhu, 10-8 Jingzhe Ai, 9-4 Andrew Wang</a:t>
            </a:r>
            <a:endParaRPr/>
          </a:p>
        </p:txBody>
      </p:sp>
      <p:pic>
        <p:nvPicPr>
          <p:cNvPr id="69" name="Google Shape;69;p13"/>
          <p:cNvPicPr preferRelativeResize="0"/>
          <p:nvPr/>
        </p:nvPicPr>
        <p:blipFill>
          <a:blip r:embed="rId3">
            <a:alphaModFix/>
          </a:blip>
          <a:stretch>
            <a:fillRect/>
          </a:stretch>
        </p:blipFill>
        <p:spPr>
          <a:xfrm>
            <a:off x="460950" y="659025"/>
            <a:ext cx="8222099" cy="886212"/>
          </a:xfrm>
          <a:prstGeom prst="rect">
            <a:avLst/>
          </a:prstGeom>
          <a:noFill/>
          <a:ln>
            <a:noFill/>
          </a:ln>
        </p:spPr>
      </p:pic>
      <p:pic>
        <p:nvPicPr>
          <p:cNvPr id="70" name="Google Shape;70;p13"/>
          <p:cNvPicPr preferRelativeResize="0"/>
          <p:nvPr/>
        </p:nvPicPr>
        <p:blipFill>
          <a:blip r:embed="rId3">
            <a:alphaModFix/>
          </a:blip>
          <a:stretch>
            <a:fillRect/>
          </a:stretch>
        </p:blipFill>
        <p:spPr>
          <a:xfrm>
            <a:off x="562875" y="3461975"/>
            <a:ext cx="8222099" cy="88621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USACO Intro </a:t>
            </a:r>
            <a:endParaRPr/>
          </a:p>
        </p:txBody>
      </p:sp>
      <p:sp>
        <p:nvSpPr>
          <p:cNvPr id="76" name="Google Shape;76;p14"/>
          <p:cNvSpPr txBox="1"/>
          <p:nvPr>
            <p:ph idx="1" type="body"/>
          </p:nvPr>
        </p:nvSpPr>
        <p:spPr>
          <a:xfrm>
            <a:off x="395700" y="1690475"/>
            <a:ext cx="8672100" cy="4378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U</a:t>
            </a:r>
            <a:r>
              <a:rPr lang="en" sz="1700"/>
              <a:t>SACO is one of the biggest CS competitions in the world </a:t>
            </a:r>
            <a:endParaRPr sz="1700"/>
          </a:p>
          <a:p>
            <a:pPr indent="0" lvl="0" marL="0" rtl="0" algn="l">
              <a:spcBef>
                <a:spcPts val="1200"/>
              </a:spcBef>
              <a:spcAft>
                <a:spcPts val="0"/>
              </a:spcAft>
              <a:buNone/>
            </a:pPr>
            <a:r>
              <a:rPr lang="en" sz="1700"/>
              <a:t>It is hosted in the US and faced towards everyone</a:t>
            </a:r>
            <a:endParaRPr sz="1700"/>
          </a:p>
          <a:p>
            <a:pPr indent="0" lvl="0" marL="0" rtl="0" algn="l">
              <a:spcBef>
                <a:spcPts val="1200"/>
              </a:spcBef>
              <a:spcAft>
                <a:spcPts val="0"/>
              </a:spcAft>
              <a:buNone/>
            </a:pPr>
            <a:r>
              <a:rPr lang="en" sz="1700"/>
              <a:t>Split into 4 </a:t>
            </a:r>
            <a:r>
              <a:rPr lang="en" sz="1700"/>
              <a:t>separate</a:t>
            </a:r>
            <a:r>
              <a:rPr lang="en" sz="1700"/>
              <a:t> tests (taking place from Dec. to Mar.), each lasting for 4 or 5 hours</a:t>
            </a:r>
            <a:endParaRPr sz="1700"/>
          </a:p>
          <a:p>
            <a:pPr indent="0" lvl="0" marL="0" rtl="0" algn="l">
              <a:spcBef>
                <a:spcPts val="1200"/>
              </a:spcBef>
              <a:spcAft>
                <a:spcPts val="0"/>
              </a:spcAft>
              <a:buNone/>
            </a:pPr>
            <a:r>
              <a:rPr lang="en" sz="1700"/>
              <a:t>Split into 4 tiers (Bronze, Silver, Gold, </a:t>
            </a:r>
            <a:r>
              <a:rPr lang="en" sz="1700"/>
              <a:t>Platinum</a:t>
            </a:r>
            <a:r>
              <a:rPr lang="en" sz="1700"/>
              <a:t>)</a:t>
            </a:r>
            <a:endParaRPr sz="1700"/>
          </a:p>
          <a:p>
            <a:pPr indent="0" lvl="0" marL="0" rtl="0" algn="l">
              <a:spcBef>
                <a:spcPts val="1200"/>
              </a:spcBef>
              <a:spcAft>
                <a:spcPts val="0"/>
              </a:spcAft>
              <a:buNone/>
            </a:pPr>
            <a:r>
              <a:rPr lang="en" sz="1700"/>
              <a:t>Each time you succeed in a test (Got full marks or got higher than the move-up score) you can move up a tier</a:t>
            </a:r>
            <a:endParaRPr sz="1700"/>
          </a:p>
          <a:p>
            <a:pPr indent="0" lvl="0" marL="0" rtl="0" algn="l">
              <a:spcBef>
                <a:spcPts val="1200"/>
              </a:spcBef>
              <a:spcAft>
                <a:spcPts val="0"/>
              </a:spcAft>
              <a:buNone/>
            </a:pPr>
            <a:r>
              <a:rPr lang="en" sz="1700"/>
              <a:t>If you are good eno</a:t>
            </a:r>
            <a:r>
              <a:rPr lang="en"/>
              <a:t>ugh such that you got full marks, you can move-up and re-test in your current tier</a:t>
            </a:r>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Introduction to </a:t>
            </a:r>
            <a:r>
              <a:rPr lang="en" strike="sngStrike"/>
              <a:t>Brute F</a:t>
            </a:r>
            <a:r>
              <a:rPr lang="en" strike="sngStrike"/>
              <a:t>orce</a:t>
            </a:r>
            <a:r>
              <a:rPr lang="en"/>
              <a:t> </a:t>
            </a:r>
            <a:r>
              <a:rPr lang="en"/>
              <a:t>Basic Simulation</a:t>
            </a:r>
            <a:endParaRPr/>
          </a:p>
        </p:txBody>
      </p:sp>
      <p:sp>
        <p:nvSpPr>
          <p:cNvPr id="82" name="Google Shape;82;p15"/>
          <p:cNvSpPr txBox="1"/>
          <p:nvPr>
            <p:ph idx="1" type="body"/>
          </p:nvPr>
        </p:nvSpPr>
        <p:spPr>
          <a:xfrm>
            <a:off x="460950" y="1946850"/>
            <a:ext cx="8222100" cy="2710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In many problems, we can simply simulate what we’re told to do by the problem statement. </a:t>
            </a:r>
            <a:endParaRPr/>
          </a:p>
          <a:p>
            <a:pPr indent="-342900" lvl="0" marL="457200" rtl="0" algn="l">
              <a:spcBef>
                <a:spcPts val="0"/>
              </a:spcBef>
              <a:spcAft>
                <a:spcPts val="0"/>
              </a:spcAft>
              <a:buSzPts val="1800"/>
              <a:buChar char="-"/>
            </a:pPr>
            <a:r>
              <a:rPr lang="en"/>
              <a:t>The intent of the problem would then be to assess competence with one’s programming language of choice and knowledge of built-in data structures. </a:t>
            </a:r>
            <a:endParaRPr/>
          </a:p>
          <a:p>
            <a:pPr indent="-342900" lvl="0" marL="457200" rtl="0" algn="l">
              <a:spcBef>
                <a:spcPts val="0"/>
              </a:spcBef>
              <a:spcAft>
                <a:spcPts val="0"/>
              </a:spcAft>
              <a:buSzPts val="1800"/>
              <a:buChar char="-"/>
            </a:pPr>
            <a:r>
              <a:rPr lang="en"/>
              <a:t>For </a:t>
            </a:r>
            <a:r>
              <a:rPr b="1" lang="en"/>
              <a:t>USACO Bronze</a:t>
            </a:r>
            <a:r>
              <a:rPr lang="en"/>
              <a:t>, when a problem statement says to find the end result of some process, or to find when something occurs, it’s usually a good way (saves your time for later problems) to simulate the process.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6"/>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Example 1</a:t>
            </a:r>
            <a:endParaRPr/>
          </a:p>
        </p:txBody>
      </p:sp>
      <p:sp>
        <p:nvSpPr>
          <p:cNvPr id="88" name="Google Shape;88;p16"/>
          <p:cNvSpPr txBox="1"/>
          <p:nvPr>
            <p:ph idx="1" type="body"/>
          </p:nvPr>
        </p:nvSpPr>
        <p:spPr>
          <a:xfrm>
            <a:off x="471900" y="1919075"/>
            <a:ext cx="867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600"/>
              <a:t>Bessie has 3 cards, labeled 1, 2, 3, which are initially on positions 1, 2, 3. Guessing a correct card (only one is correct) earns a point (</a:t>
            </a:r>
            <a:r>
              <a:rPr lang="en" sz="1600"/>
              <a:t>it can be any one of them</a:t>
            </a:r>
            <a:r>
              <a:rPr lang="en" sz="1600"/>
              <a:t>). Given N swaps that swap the cards’ locations and Elsie’s guess of position after each swap, find the maximum number of points Elsie could have earned</a:t>
            </a:r>
            <a:endParaRPr sz="1600"/>
          </a:p>
        </p:txBody>
      </p:sp>
      <p:pic>
        <p:nvPicPr>
          <p:cNvPr id="89" name="Google Shape;89;p16"/>
          <p:cNvPicPr preferRelativeResize="0"/>
          <p:nvPr/>
        </p:nvPicPr>
        <p:blipFill>
          <a:blip r:embed="rId3">
            <a:alphaModFix/>
          </a:blip>
          <a:stretch>
            <a:fillRect/>
          </a:stretch>
        </p:blipFill>
        <p:spPr>
          <a:xfrm>
            <a:off x="3010950" y="794213"/>
            <a:ext cx="3900600" cy="656725"/>
          </a:xfrm>
          <a:prstGeom prst="rect">
            <a:avLst/>
          </a:prstGeom>
          <a:noFill/>
          <a:ln>
            <a:noFill/>
          </a:ln>
        </p:spPr>
      </p:pic>
      <p:pic>
        <p:nvPicPr>
          <p:cNvPr id="90" name="Google Shape;90;p16"/>
          <p:cNvPicPr preferRelativeResize="0"/>
          <p:nvPr/>
        </p:nvPicPr>
        <p:blipFill>
          <a:blip r:embed="rId4">
            <a:alphaModFix/>
          </a:blip>
          <a:stretch>
            <a:fillRect/>
          </a:stretch>
        </p:blipFill>
        <p:spPr>
          <a:xfrm>
            <a:off x="490475" y="3172301"/>
            <a:ext cx="8163051" cy="17726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7"/>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Example 1 Solution Idea</a:t>
            </a:r>
            <a:endParaRPr/>
          </a:p>
        </p:txBody>
      </p:sp>
      <p:sp>
        <p:nvSpPr>
          <p:cNvPr id="96" name="Google Shape;96;p17"/>
          <p:cNvSpPr txBox="1"/>
          <p:nvPr>
            <p:ph idx="1" type="body"/>
          </p:nvPr>
        </p:nvSpPr>
        <p:spPr>
          <a:xfrm>
            <a:off x="471900" y="1919075"/>
            <a:ext cx="8672100" cy="3405600"/>
          </a:xfrm>
          <a:prstGeom prst="rect">
            <a:avLst/>
          </a:prstGeom>
          <a:effectLst>
            <a:reflection blurRad="0" dir="5400000" dist="38100" endA="0" fadeDir="5400012" kx="0" rotWithShape="0" algn="bl" stPos="0" sy="-100000" ky="0"/>
          </a:effectLst>
        </p:spPr>
        <p:txBody>
          <a:bodyPr anchorCtr="0" anchor="t" bIns="91425" lIns="91425" spcFirstLastPara="1" rIns="91425" wrap="square" tIns="91425">
            <a:normAutofit/>
          </a:bodyPr>
          <a:lstStyle/>
          <a:p>
            <a:pPr indent="0" lvl="0" marL="0" rtl="0" algn="l">
              <a:spcBef>
                <a:spcPts val="0"/>
              </a:spcBef>
              <a:spcAft>
                <a:spcPts val="0"/>
              </a:spcAft>
              <a:buNone/>
            </a:pPr>
            <a:r>
              <a:rPr lang="en" sz="1600"/>
              <a:t>It is very much obvious that we can simply </a:t>
            </a:r>
            <a:r>
              <a:rPr lang="en" sz="1600" strike="sngStrike"/>
              <a:t>brute force</a:t>
            </a:r>
            <a:r>
              <a:rPr lang="en" sz="1600"/>
              <a:t> simulate this question</a:t>
            </a:r>
            <a:endParaRPr sz="1600"/>
          </a:p>
          <a:p>
            <a:pPr indent="0" lvl="0" marL="0" rtl="0" algn="l">
              <a:spcBef>
                <a:spcPts val="1200"/>
              </a:spcBef>
              <a:spcAft>
                <a:spcPts val="0"/>
              </a:spcAft>
              <a:buNone/>
            </a:pPr>
            <a:r>
              <a:rPr lang="en" sz="1600"/>
              <a:t>For each card, we assume that it is the card which can give out a point</a:t>
            </a:r>
            <a:endParaRPr sz="1600"/>
          </a:p>
          <a:p>
            <a:pPr indent="0" lvl="0" marL="0" rtl="0" algn="l">
              <a:spcBef>
                <a:spcPts val="1200"/>
              </a:spcBef>
              <a:spcAft>
                <a:spcPts val="0"/>
              </a:spcAft>
              <a:buNone/>
            </a:pPr>
            <a:r>
              <a:rPr lang="en" sz="1600"/>
              <a:t>We do a round of simulation for each card, resulting in 3 rounds of simulation</a:t>
            </a:r>
            <a:endParaRPr sz="1600"/>
          </a:p>
          <a:p>
            <a:pPr indent="0" lvl="0" marL="0" rtl="0" algn="l">
              <a:spcBef>
                <a:spcPts val="1200"/>
              </a:spcBef>
              <a:spcAft>
                <a:spcPts val="0"/>
              </a:spcAft>
              <a:buNone/>
            </a:pPr>
            <a:r>
              <a:rPr lang="en" sz="1600"/>
              <a:t>In each simulation, for each swap we make a record of which positions contain which cards, and see if Bessie’s guess is correct or not (if correct add 1 point)</a:t>
            </a:r>
            <a:endParaRPr sz="1600"/>
          </a:p>
          <a:p>
            <a:pPr indent="0" lvl="0" marL="0" rtl="0" algn="l">
              <a:spcBef>
                <a:spcPts val="1200"/>
              </a:spcBef>
              <a:spcAft>
                <a:spcPts val="0"/>
              </a:spcAft>
              <a:buNone/>
            </a:pPr>
            <a:r>
              <a:rPr lang="en" sz="1600"/>
              <a:t>We find the maximum of the points earned for each simulation and that’s our final answer</a:t>
            </a:r>
            <a:endParaRPr sz="1600"/>
          </a:p>
          <a:p>
            <a:pPr indent="0" lvl="0" marL="0" rtl="0" algn="l">
              <a:spcBef>
                <a:spcPts val="1200"/>
              </a:spcBef>
              <a:spcAft>
                <a:spcPts val="0"/>
              </a:spcAft>
              <a:buNone/>
            </a:pPr>
            <a:r>
              <a:rPr lang="en" sz="1600"/>
              <a:t>Time complexity: O(n)</a:t>
            </a:r>
            <a:endParaRPr sz="1600"/>
          </a:p>
          <a:p>
            <a:pPr indent="0" lvl="0" marL="0" rtl="0" algn="l">
              <a:spcBef>
                <a:spcPts val="1200"/>
              </a:spcBef>
              <a:spcAft>
                <a:spcPts val="1200"/>
              </a:spcAft>
              <a:buNone/>
            </a:pPr>
            <a:r>
              <a:rPr lang="en" sz="1600"/>
              <a:t> </a:t>
            </a:r>
            <a:endParaRPr sz="1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8"/>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Example 1 Code</a:t>
            </a:r>
            <a:endParaRPr/>
          </a:p>
        </p:txBody>
      </p:sp>
      <p:sp>
        <p:nvSpPr>
          <p:cNvPr id="102" name="Google Shape;102;p18"/>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Parts of code to note:</a:t>
            </a:r>
            <a:endParaRPr/>
          </a:p>
          <a:p>
            <a:pPr indent="-342900" lvl="0" marL="457200" rtl="0" algn="l">
              <a:spcBef>
                <a:spcPts val="1200"/>
              </a:spcBef>
              <a:spcAft>
                <a:spcPts val="0"/>
              </a:spcAft>
              <a:buSzPts val="1800"/>
              <a:buChar char="-"/>
            </a:pPr>
            <a:r>
              <a:rPr lang="en"/>
              <a:t>105</a:t>
            </a:r>
            <a:endParaRPr/>
          </a:p>
          <a:p>
            <a:pPr indent="-342900" lvl="0" marL="457200" rtl="0" algn="l">
              <a:spcBef>
                <a:spcPts val="0"/>
              </a:spcBef>
              <a:spcAft>
                <a:spcPts val="0"/>
              </a:spcAft>
              <a:buSzPts val="1800"/>
              <a:buChar char="-"/>
            </a:pPr>
            <a:r>
              <a:rPr lang="en"/>
              <a:t>freopen() - no longer necessary</a:t>
            </a:r>
            <a:endParaRPr/>
          </a:p>
          <a:p>
            <a:pPr indent="-342900" lvl="0" marL="457200" rtl="0" algn="l">
              <a:spcBef>
                <a:spcPts val="0"/>
              </a:spcBef>
              <a:spcAft>
                <a:spcPts val="0"/>
              </a:spcAft>
              <a:buSzPts val="1800"/>
              <a:buChar char="-"/>
            </a:pPr>
            <a:r>
              <a:rPr lang="en"/>
              <a:t>Using a function: “simulate”</a:t>
            </a:r>
            <a:endParaRPr/>
          </a:p>
        </p:txBody>
      </p:sp>
      <p:pic>
        <p:nvPicPr>
          <p:cNvPr id="103" name="Google Shape;103;p18"/>
          <p:cNvPicPr preferRelativeResize="0"/>
          <p:nvPr/>
        </p:nvPicPr>
        <p:blipFill>
          <a:blip r:embed="rId3">
            <a:alphaModFix/>
          </a:blip>
          <a:stretch>
            <a:fillRect/>
          </a:stretch>
        </p:blipFill>
        <p:spPr>
          <a:xfrm>
            <a:off x="4572000" y="189988"/>
            <a:ext cx="3411924" cy="48932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19"/>
          <p:cNvPicPr preferRelativeResize="0"/>
          <p:nvPr/>
        </p:nvPicPr>
        <p:blipFill>
          <a:blip r:embed="rId3">
            <a:alphaModFix/>
          </a:blip>
          <a:stretch>
            <a:fillRect/>
          </a:stretch>
        </p:blipFill>
        <p:spPr>
          <a:xfrm>
            <a:off x="490475" y="3019900"/>
            <a:ext cx="8213688" cy="1772675"/>
          </a:xfrm>
          <a:prstGeom prst="rect">
            <a:avLst/>
          </a:prstGeom>
          <a:noFill/>
          <a:ln>
            <a:noFill/>
          </a:ln>
        </p:spPr>
      </p:pic>
      <p:sp>
        <p:nvSpPr>
          <p:cNvPr id="109" name="Google Shape;109;p19"/>
          <p:cNvSpPr txBox="1"/>
          <p:nvPr>
            <p:ph type="title"/>
          </p:nvPr>
        </p:nvSpPr>
        <p:spPr>
          <a:xfrm>
            <a:off x="471900" y="731475"/>
            <a:ext cx="8222100" cy="7752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Example 2</a:t>
            </a:r>
            <a:endParaRPr/>
          </a:p>
        </p:txBody>
      </p:sp>
      <p:sp>
        <p:nvSpPr>
          <p:cNvPr id="110" name="Google Shape;110;p19"/>
          <p:cNvSpPr txBox="1"/>
          <p:nvPr>
            <p:ph idx="1" type="body"/>
          </p:nvPr>
        </p:nvSpPr>
        <p:spPr>
          <a:xfrm>
            <a:off x="471900" y="1919075"/>
            <a:ext cx="8222100" cy="2710200"/>
          </a:xfrm>
          <a:prstGeom prst="rect">
            <a:avLst/>
          </a:prstGeom>
          <a:effectLst>
            <a:reflection blurRad="0" dir="5400000" dist="38100" endA="0" fadeDir="5400012" kx="0" rotWithShape="0" algn="bl" stPos="0" sy="-100000" ky="0"/>
          </a:effectLst>
        </p:spPr>
        <p:txBody>
          <a:bodyPr anchorCtr="0" anchor="t" bIns="91425" lIns="91425" spcFirstLastPara="1" rIns="91425" wrap="square" tIns="91425">
            <a:normAutofit/>
          </a:bodyPr>
          <a:lstStyle/>
          <a:p>
            <a:pPr indent="0" lvl="0" marL="0" rtl="0" algn="l">
              <a:spcBef>
                <a:spcPts val="0"/>
              </a:spcBef>
              <a:spcAft>
                <a:spcPts val="0"/>
              </a:spcAft>
              <a:buNone/>
            </a:pPr>
            <a:r>
              <a:rPr lang="en" sz="1600"/>
              <a:t>Farmer John pours milk from one bucket to another in between three buckets (different sizes &amp; limited space)</a:t>
            </a:r>
            <a:endParaRPr sz="1600"/>
          </a:p>
          <a:p>
            <a:pPr indent="0" lvl="0" marL="0" rtl="0" algn="l">
              <a:spcBef>
                <a:spcPts val="1200"/>
              </a:spcBef>
              <a:spcAft>
                <a:spcPts val="0"/>
              </a:spcAft>
              <a:buNone/>
            </a:pPr>
            <a:r>
              <a:rPr lang="en" sz="1600"/>
              <a:t>Will pour until the </a:t>
            </a:r>
            <a:r>
              <a:rPr lang="en" sz="1600"/>
              <a:t>receiving</a:t>
            </a:r>
            <a:r>
              <a:rPr lang="en" sz="1600"/>
              <a:t> bucket is full of milk or the giving bucket is empty of milk</a:t>
            </a:r>
            <a:endParaRPr sz="1600"/>
          </a:p>
          <a:p>
            <a:pPr indent="0" lvl="0" marL="0" rtl="0" algn="l">
              <a:spcBef>
                <a:spcPts val="1200"/>
              </a:spcBef>
              <a:spcAft>
                <a:spcPts val="0"/>
              </a:spcAft>
              <a:buNone/>
            </a:pPr>
            <a:r>
              <a:t/>
            </a:r>
            <a:endParaRPr sz="1600"/>
          </a:p>
          <a:p>
            <a:pPr indent="0" lvl="0" marL="0" rtl="0" algn="l">
              <a:spcBef>
                <a:spcPts val="1200"/>
              </a:spcBef>
              <a:spcAft>
                <a:spcPts val="1200"/>
              </a:spcAft>
              <a:buNone/>
            </a:pPr>
            <a:r>
              <a:rPr lang="en" sz="1600"/>
              <a:t> </a:t>
            </a:r>
            <a:endParaRPr sz="1600"/>
          </a:p>
        </p:txBody>
      </p:sp>
      <p:pic>
        <p:nvPicPr>
          <p:cNvPr id="111" name="Google Shape;111;p19"/>
          <p:cNvPicPr preferRelativeResize="0"/>
          <p:nvPr/>
        </p:nvPicPr>
        <p:blipFill>
          <a:blip r:embed="rId4">
            <a:alphaModFix/>
          </a:blip>
          <a:stretch>
            <a:fillRect/>
          </a:stretch>
        </p:blipFill>
        <p:spPr>
          <a:xfrm>
            <a:off x="3010950" y="794225"/>
            <a:ext cx="3446288" cy="6567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0"/>
          <p:cNvSpPr txBox="1"/>
          <p:nvPr>
            <p:ph idx="1" type="body"/>
          </p:nvPr>
        </p:nvSpPr>
        <p:spPr>
          <a:xfrm>
            <a:off x="471900" y="1919075"/>
            <a:ext cx="8222100" cy="4048500"/>
          </a:xfrm>
          <a:prstGeom prst="rect">
            <a:avLst/>
          </a:prstGeom>
          <a:effectLst>
            <a:reflection blurRad="0" dir="5400000" dist="38100" endA="0" fadeDir="5400012" kx="0" rotWithShape="0" algn="bl" stPos="0" sy="-100000" ky="0"/>
          </a:effectLst>
        </p:spPr>
        <p:txBody>
          <a:bodyPr anchorCtr="0" anchor="t" bIns="91425" lIns="91425" spcFirstLastPara="1" rIns="91425" wrap="square" tIns="91425">
            <a:normAutofit/>
          </a:bodyPr>
          <a:lstStyle/>
          <a:p>
            <a:pPr indent="0" lvl="0" marL="0" rtl="0" algn="l">
              <a:spcBef>
                <a:spcPts val="0"/>
              </a:spcBef>
              <a:spcAft>
                <a:spcPts val="0"/>
              </a:spcAft>
              <a:buNone/>
            </a:pPr>
            <a:r>
              <a:rPr lang="en" sz="1600"/>
              <a:t>The requirements only asks us to repeat this for a small amount of times </a:t>
            </a:r>
            <a:endParaRPr sz="1600"/>
          </a:p>
          <a:p>
            <a:pPr indent="0" lvl="0" marL="0" rtl="0" algn="l">
              <a:spcBef>
                <a:spcPts val="1200"/>
              </a:spcBef>
              <a:spcAft>
                <a:spcPts val="0"/>
              </a:spcAft>
              <a:buNone/>
            </a:pPr>
            <a:r>
              <a:rPr lang="en" sz="1600"/>
              <a:t>Due to this we can </a:t>
            </a:r>
            <a:r>
              <a:rPr lang="en" sz="1600" strike="sngStrike"/>
              <a:t>brute force</a:t>
            </a:r>
            <a:r>
              <a:rPr lang="en" sz="1600"/>
              <a:t> do a basic sim. </a:t>
            </a:r>
            <a:endParaRPr sz="1600"/>
          </a:p>
          <a:p>
            <a:pPr indent="0" lvl="0" marL="0" rtl="0" algn="l">
              <a:spcBef>
                <a:spcPts val="1200"/>
              </a:spcBef>
              <a:spcAft>
                <a:spcPts val="0"/>
              </a:spcAft>
              <a:buNone/>
            </a:pPr>
            <a:r>
              <a:rPr lang="en" sz="1600"/>
              <a:t>This simply creates three variables, each to model a bucket</a:t>
            </a:r>
            <a:endParaRPr sz="1600"/>
          </a:p>
          <a:p>
            <a:pPr indent="0" lvl="0" marL="0" rtl="0" algn="l">
              <a:spcBef>
                <a:spcPts val="1200"/>
              </a:spcBef>
              <a:spcAft>
                <a:spcPts val="0"/>
              </a:spcAft>
              <a:buNone/>
            </a:pPr>
            <a:r>
              <a:rPr lang="en" sz="1600"/>
              <a:t>Use </a:t>
            </a:r>
            <a:r>
              <a:rPr lang="en" sz="1600" strike="sngStrike"/>
              <a:t>arbitrary precision arithmetic</a:t>
            </a:r>
            <a:r>
              <a:rPr lang="en" sz="1600"/>
              <a:t> long long in case the final number </a:t>
            </a:r>
            <a:endParaRPr sz="1600"/>
          </a:p>
          <a:p>
            <a:pPr indent="0" lvl="0" marL="0" rtl="0" algn="l">
              <a:spcBef>
                <a:spcPts val="1200"/>
              </a:spcBef>
              <a:spcAft>
                <a:spcPts val="0"/>
              </a:spcAft>
              <a:buNone/>
            </a:pPr>
            <a:r>
              <a:rPr lang="en" sz="1600"/>
              <a:t>is out of integer bounds (Just to be careful)</a:t>
            </a:r>
            <a:endParaRPr sz="1600"/>
          </a:p>
          <a:p>
            <a:pPr indent="0" lvl="0" marL="0" rtl="0" algn="l">
              <a:spcBef>
                <a:spcPts val="1200"/>
              </a:spcBef>
              <a:spcAft>
                <a:spcPts val="0"/>
              </a:spcAft>
              <a:buNone/>
            </a:pPr>
            <a:r>
              <a:rPr lang="en" sz="1600"/>
              <a:t>Time Complexity: O(n)</a:t>
            </a:r>
            <a:endParaRPr sz="1600"/>
          </a:p>
          <a:p>
            <a:pPr indent="0" lvl="0" marL="0" rtl="0" algn="l">
              <a:spcBef>
                <a:spcPts val="1200"/>
              </a:spcBef>
              <a:spcAft>
                <a:spcPts val="1200"/>
              </a:spcAft>
              <a:buNone/>
            </a:pPr>
            <a:r>
              <a:t/>
            </a:r>
            <a:endParaRPr sz="1600"/>
          </a:p>
        </p:txBody>
      </p:sp>
      <p:sp>
        <p:nvSpPr>
          <p:cNvPr id="117" name="Google Shape;117;p20"/>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Example 2 Solution Idea</a:t>
            </a:r>
            <a:endParaRPr/>
          </a:p>
        </p:txBody>
      </p:sp>
      <p:grpSp>
        <p:nvGrpSpPr>
          <p:cNvPr id="118" name="Google Shape;118;p20"/>
          <p:cNvGrpSpPr/>
          <p:nvPr/>
        </p:nvGrpSpPr>
        <p:grpSpPr>
          <a:xfrm>
            <a:off x="5830815" y="3095826"/>
            <a:ext cx="4150512" cy="1842931"/>
            <a:chOff x="5848825" y="2437675"/>
            <a:chExt cx="4551000" cy="2151700"/>
          </a:xfrm>
        </p:grpSpPr>
        <p:grpSp>
          <p:nvGrpSpPr>
            <p:cNvPr id="119" name="Google Shape;119;p20"/>
            <p:cNvGrpSpPr/>
            <p:nvPr/>
          </p:nvGrpSpPr>
          <p:grpSpPr>
            <a:xfrm>
              <a:off x="5848825" y="2437675"/>
              <a:ext cx="4551000" cy="2151700"/>
              <a:chOff x="5848825" y="2437675"/>
              <a:chExt cx="4551000" cy="2151700"/>
            </a:xfrm>
          </p:grpSpPr>
          <p:sp>
            <p:nvSpPr>
              <p:cNvPr id="120" name="Google Shape;120;p20"/>
              <p:cNvSpPr/>
              <p:nvPr/>
            </p:nvSpPr>
            <p:spPr>
              <a:xfrm>
                <a:off x="7241975" y="2437675"/>
                <a:ext cx="913500" cy="903600"/>
              </a:xfrm>
              <a:prstGeom prst="ellipse">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121" name="Google Shape;121;p20"/>
              <p:cNvSpPr/>
              <p:nvPr/>
            </p:nvSpPr>
            <p:spPr>
              <a:xfrm>
                <a:off x="8155475" y="3685775"/>
                <a:ext cx="913500" cy="903600"/>
              </a:xfrm>
              <a:prstGeom prst="ellipse">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122" name="Google Shape;122;p20"/>
              <p:cNvSpPr/>
              <p:nvPr/>
            </p:nvSpPr>
            <p:spPr>
              <a:xfrm>
                <a:off x="6328475" y="3685775"/>
                <a:ext cx="913500" cy="903600"/>
              </a:xfrm>
              <a:prstGeom prst="ellipse">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123" name="Google Shape;123;p20"/>
              <p:cNvSpPr/>
              <p:nvPr/>
            </p:nvSpPr>
            <p:spPr>
              <a:xfrm rot="5400000">
                <a:off x="8043600" y="2908550"/>
                <a:ext cx="898800" cy="655500"/>
              </a:xfrm>
              <a:prstGeom prst="bentArrow">
                <a:avLst>
                  <a:gd fmla="val 25000" name="adj1"/>
                  <a:gd fmla="val 25000" name="adj2"/>
                  <a:gd fmla="val 25000" name="adj3"/>
                  <a:gd fmla="val 43750" name="adj4"/>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24" name="Google Shape;124;p20"/>
              <p:cNvSpPr/>
              <p:nvPr/>
            </p:nvSpPr>
            <p:spPr>
              <a:xfrm>
                <a:off x="6755400" y="2754125"/>
                <a:ext cx="486600" cy="931800"/>
              </a:xfrm>
              <a:prstGeom prst="bentArrow">
                <a:avLst>
                  <a:gd fmla="val 25000" name="adj1"/>
                  <a:gd fmla="val 25000" name="adj2"/>
                  <a:gd fmla="val 25000" name="adj3"/>
                  <a:gd fmla="val 43750" name="adj4"/>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25" name="Google Shape;125;p20"/>
              <p:cNvSpPr txBox="1"/>
              <p:nvPr/>
            </p:nvSpPr>
            <p:spPr>
              <a:xfrm>
                <a:off x="7877425" y="3080000"/>
                <a:ext cx="2522400" cy="6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accent2"/>
                    </a:solidFill>
                    <a:latin typeface="Roboto"/>
                    <a:ea typeface="Roboto"/>
                    <a:cs typeface="Roboto"/>
                    <a:sym typeface="Roboto"/>
                  </a:rPr>
                  <a:t>1,4,7…3k+1…94,97,100</a:t>
                </a:r>
                <a:endParaRPr sz="900">
                  <a:solidFill>
                    <a:schemeClr val="accent2"/>
                  </a:solidFill>
                  <a:latin typeface="Roboto"/>
                  <a:ea typeface="Roboto"/>
                  <a:cs typeface="Roboto"/>
                  <a:sym typeface="Roboto"/>
                </a:endParaRPr>
              </a:p>
            </p:txBody>
          </p:sp>
          <p:sp>
            <p:nvSpPr>
              <p:cNvPr id="126" name="Google Shape;126;p20"/>
              <p:cNvSpPr txBox="1"/>
              <p:nvPr/>
            </p:nvSpPr>
            <p:spPr>
              <a:xfrm>
                <a:off x="5848825" y="3080000"/>
                <a:ext cx="2591700" cy="6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accent2"/>
                    </a:solidFill>
                    <a:latin typeface="Roboto"/>
                    <a:ea typeface="Roboto"/>
                    <a:cs typeface="Roboto"/>
                    <a:sym typeface="Roboto"/>
                  </a:rPr>
                  <a:t>3,6,9…3k…96,99</a:t>
                </a:r>
                <a:endParaRPr sz="1100">
                  <a:solidFill>
                    <a:schemeClr val="accent2"/>
                  </a:solidFill>
                  <a:latin typeface="Roboto"/>
                  <a:ea typeface="Roboto"/>
                  <a:cs typeface="Roboto"/>
                  <a:sym typeface="Roboto"/>
                </a:endParaRPr>
              </a:p>
            </p:txBody>
          </p:sp>
        </p:grpSp>
        <p:grpSp>
          <p:nvGrpSpPr>
            <p:cNvPr id="127" name="Google Shape;127;p20"/>
            <p:cNvGrpSpPr/>
            <p:nvPr/>
          </p:nvGrpSpPr>
          <p:grpSpPr>
            <a:xfrm>
              <a:off x="7241975" y="3948650"/>
              <a:ext cx="2694450" cy="362700"/>
              <a:chOff x="7241975" y="3948650"/>
              <a:chExt cx="2694450" cy="362700"/>
            </a:xfrm>
          </p:grpSpPr>
          <p:sp>
            <p:nvSpPr>
              <p:cNvPr id="128" name="Google Shape;128;p20"/>
              <p:cNvSpPr/>
              <p:nvPr/>
            </p:nvSpPr>
            <p:spPr>
              <a:xfrm>
                <a:off x="7241975" y="3948650"/>
                <a:ext cx="913500" cy="362700"/>
              </a:xfrm>
              <a:prstGeom prst="leftArrow">
                <a:avLst>
                  <a:gd fmla="val 50000" name="adj1"/>
                  <a:gd fmla="val 50000" name="adj2"/>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29" name="Google Shape;129;p20"/>
              <p:cNvSpPr txBox="1"/>
              <p:nvPr/>
            </p:nvSpPr>
            <p:spPr>
              <a:xfrm>
                <a:off x="7344725" y="3948650"/>
                <a:ext cx="2591700" cy="36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accent2"/>
                    </a:solidFill>
                    <a:latin typeface="Roboto"/>
                    <a:ea typeface="Roboto"/>
                    <a:cs typeface="Roboto"/>
                    <a:sym typeface="Roboto"/>
                  </a:rPr>
                  <a:t>2,5,8…3k+2…95,98</a:t>
                </a:r>
                <a:endParaRPr sz="1100">
                  <a:solidFill>
                    <a:schemeClr val="accent2"/>
                  </a:solidFill>
                  <a:latin typeface="Roboto"/>
                  <a:ea typeface="Roboto"/>
                  <a:cs typeface="Roboto"/>
                  <a:sym typeface="Roboto"/>
                </a:endParaRPr>
              </a:p>
            </p:txBody>
          </p:sp>
        </p:gr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1"/>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Example 2 Code</a:t>
            </a:r>
            <a:endParaRPr/>
          </a:p>
        </p:txBody>
      </p:sp>
      <p:sp>
        <p:nvSpPr>
          <p:cNvPr id="135" name="Google Shape;135;p21"/>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500"/>
              <a:t>Split into three parts:</a:t>
            </a:r>
            <a:endParaRPr sz="1500"/>
          </a:p>
          <a:p>
            <a:pPr indent="0" lvl="0" marL="0" rtl="0" algn="l">
              <a:spcBef>
                <a:spcPts val="1200"/>
              </a:spcBef>
              <a:spcAft>
                <a:spcPts val="0"/>
              </a:spcAft>
              <a:buNone/>
            </a:pPr>
            <a:r>
              <a:rPr lang="en" sz="1500"/>
              <a:t>INPUT </a:t>
            </a:r>
            <a:endParaRPr sz="1500"/>
          </a:p>
          <a:p>
            <a:pPr indent="0" lvl="0" marL="0" rtl="0" algn="l">
              <a:spcBef>
                <a:spcPts val="1200"/>
              </a:spcBef>
              <a:spcAft>
                <a:spcPts val="0"/>
              </a:spcAft>
              <a:buNone/>
            </a:pPr>
            <a:r>
              <a:rPr lang="en" sz="1500"/>
              <a:t>SIMULATION</a:t>
            </a:r>
            <a:endParaRPr sz="1500"/>
          </a:p>
          <a:p>
            <a:pPr indent="0" lvl="0" marL="0" rtl="0" algn="l">
              <a:spcBef>
                <a:spcPts val="1200"/>
              </a:spcBef>
              <a:spcAft>
                <a:spcPts val="1200"/>
              </a:spcAft>
              <a:buNone/>
            </a:pPr>
            <a:r>
              <a:rPr lang="en" sz="1500"/>
              <a:t>OUTPUT</a:t>
            </a:r>
            <a:endParaRPr sz="1500"/>
          </a:p>
        </p:txBody>
      </p:sp>
      <p:pic>
        <p:nvPicPr>
          <p:cNvPr id="136" name="Google Shape;136;p21"/>
          <p:cNvPicPr preferRelativeResize="0"/>
          <p:nvPr/>
        </p:nvPicPr>
        <p:blipFill>
          <a:blip r:embed="rId3">
            <a:alphaModFix/>
          </a:blip>
          <a:stretch>
            <a:fillRect/>
          </a:stretch>
        </p:blipFill>
        <p:spPr>
          <a:xfrm>
            <a:off x="5199474" y="607088"/>
            <a:ext cx="3734624" cy="3929325"/>
          </a:xfrm>
          <a:prstGeom prst="rect">
            <a:avLst/>
          </a:prstGeom>
          <a:noFill/>
          <a:ln>
            <a:noFill/>
          </a:ln>
        </p:spPr>
      </p:pic>
      <p:cxnSp>
        <p:nvCxnSpPr>
          <p:cNvPr id="137" name="Google Shape;137;p21"/>
          <p:cNvCxnSpPr/>
          <p:nvPr/>
        </p:nvCxnSpPr>
        <p:spPr>
          <a:xfrm flipH="1" rot="10800000">
            <a:off x="1284275" y="1669975"/>
            <a:ext cx="4254300" cy="917700"/>
          </a:xfrm>
          <a:prstGeom prst="straightConnector1">
            <a:avLst/>
          </a:prstGeom>
          <a:noFill/>
          <a:ln cap="flat" cmpd="sng" w="9525">
            <a:solidFill>
              <a:schemeClr val="dk2"/>
            </a:solidFill>
            <a:prstDash val="solid"/>
            <a:round/>
            <a:headEnd len="med" w="med" type="none"/>
            <a:tailEnd len="med" w="med" type="triangle"/>
          </a:ln>
        </p:spPr>
      </p:cxnSp>
      <p:cxnSp>
        <p:nvCxnSpPr>
          <p:cNvPr id="138" name="Google Shape;138;p21"/>
          <p:cNvCxnSpPr/>
          <p:nvPr/>
        </p:nvCxnSpPr>
        <p:spPr>
          <a:xfrm flipH="1" rot="10800000">
            <a:off x="1780850" y="2233925"/>
            <a:ext cx="3738600" cy="735600"/>
          </a:xfrm>
          <a:prstGeom prst="straightConnector1">
            <a:avLst/>
          </a:prstGeom>
          <a:noFill/>
          <a:ln cap="flat" cmpd="sng" w="9525">
            <a:solidFill>
              <a:schemeClr val="dk2"/>
            </a:solidFill>
            <a:prstDash val="solid"/>
            <a:round/>
            <a:headEnd len="med" w="med" type="none"/>
            <a:tailEnd len="med" w="med" type="triangle"/>
          </a:ln>
        </p:spPr>
      </p:cxnSp>
      <p:cxnSp>
        <p:nvCxnSpPr>
          <p:cNvPr id="139" name="Google Shape;139;p21"/>
          <p:cNvCxnSpPr/>
          <p:nvPr/>
        </p:nvCxnSpPr>
        <p:spPr>
          <a:xfrm>
            <a:off x="1800550" y="2989225"/>
            <a:ext cx="4015200" cy="353700"/>
          </a:xfrm>
          <a:prstGeom prst="straightConnector1">
            <a:avLst/>
          </a:prstGeom>
          <a:noFill/>
          <a:ln cap="flat" cmpd="sng" w="9525">
            <a:solidFill>
              <a:schemeClr val="dk2"/>
            </a:solidFill>
            <a:prstDash val="solid"/>
            <a:round/>
            <a:headEnd len="med" w="med" type="none"/>
            <a:tailEnd len="med" w="med" type="triangle"/>
          </a:ln>
        </p:spPr>
      </p:cxnSp>
      <p:cxnSp>
        <p:nvCxnSpPr>
          <p:cNvPr id="140" name="Google Shape;140;p21"/>
          <p:cNvCxnSpPr/>
          <p:nvPr/>
        </p:nvCxnSpPr>
        <p:spPr>
          <a:xfrm>
            <a:off x="1403825" y="3485800"/>
            <a:ext cx="4058400" cy="5742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2"/>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Example 3</a:t>
            </a:r>
            <a:endParaRPr/>
          </a:p>
        </p:txBody>
      </p:sp>
      <p:sp>
        <p:nvSpPr>
          <p:cNvPr id="146" name="Google Shape;146;p22"/>
          <p:cNvSpPr txBox="1"/>
          <p:nvPr>
            <p:ph idx="1" type="body"/>
          </p:nvPr>
        </p:nvSpPr>
        <p:spPr>
          <a:xfrm>
            <a:off x="471900" y="1946875"/>
            <a:ext cx="4857000" cy="18516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lang="en"/>
              <a:t>N (&lt;= 100) cows shuffled according to second line, the i th cow goes to position </a:t>
            </a:r>
            <a:r>
              <a:rPr lang="en"/>
              <a:t>a</a:t>
            </a:r>
            <a:r>
              <a:rPr baseline="-25000" lang="en"/>
              <a:t>i</a:t>
            </a:r>
            <a:r>
              <a:rPr lang="en"/>
              <a:t>. Given final positions (each cow has a 7-digit representation), find initial positions.</a:t>
            </a:r>
            <a:endParaRPr/>
          </a:p>
        </p:txBody>
      </p:sp>
      <p:pic>
        <p:nvPicPr>
          <p:cNvPr id="147" name="Google Shape;147;p22"/>
          <p:cNvPicPr preferRelativeResize="0"/>
          <p:nvPr/>
        </p:nvPicPr>
        <p:blipFill>
          <a:blip r:embed="rId3">
            <a:alphaModFix/>
          </a:blip>
          <a:stretch>
            <a:fillRect/>
          </a:stretch>
        </p:blipFill>
        <p:spPr>
          <a:xfrm>
            <a:off x="471900" y="3637100"/>
            <a:ext cx="6872425" cy="1424175"/>
          </a:xfrm>
          <a:prstGeom prst="rect">
            <a:avLst/>
          </a:prstGeom>
          <a:noFill/>
          <a:ln>
            <a:noFill/>
          </a:ln>
        </p:spPr>
      </p:pic>
      <p:pic>
        <p:nvPicPr>
          <p:cNvPr id="148" name="Google Shape;148;p22"/>
          <p:cNvPicPr preferRelativeResize="0"/>
          <p:nvPr/>
        </p:nvPicPr>
        <p:blipFill>
          <a:blip r:embed="rId4">
            <a:alphaModFix/>
          </a:blip>
          <a:stretch>
            <a:fillRect/>
          </a:stretch>
        </p:blipFill>
        <p:spPr>
          <a:xfrm>
            <a:off x="3309575" y="821888"/>
            <a:ext cx="3283524" cy="537025"/>
          </a:xfrm>
          <a:prstGeom prst="rect">
            <a:avLst/>
          </a:prstGeom>
          <a:noFill/>
          <a:ln>
            <a:noFill/>
          </a:ln>
        </p:spPr>
      </p:pic>
      <p:pic>
        <p:nvPicPr>
          <p:cNvPr id="149" name="Google Shape;149;p22"/>
          <p:cNvPicPr preferRelativeResize="0"/>
          <p:nvPr/>
        </p:nvPicPr>
        <p:blipFill>
          <a:blip r:embed="rId5">
            <a:alphaModFix/>
          </a:blip>
          <a:stretch>
            <a:fillRect/>
          </a:stretch>
        </p:blipFill>
        <p:spPr>
          <a:xfrm>
            <a:off x="5703675" y="1731613"/>
            <a:ext cx="2655674" cy="16802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3"/>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Example 3 Solution</a:t>
            </a:r>
            <a:endParaRPr/>
          </a:p>
        </p:txBody>
      </p:sp>
      <p:sp>
        <p:nvSpPr>
          <p:cNvPr id="155" name="Google Shape;155;p23"/>
          <p:cNvSpPr txBox="1"/>
          <p:nvPr>
            <p:ph idx="1" type="body"/>
          </p:nvPr>
        </p:nvSpPr>
        <p:spPr>
          <a:xfrm>
            <a:off x="471900" y="1919075"/>
            <a:ext cx="3457500" cy="27102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None/>
            </a:pPr>
            <a:r>
              <a:rPr lang="en" sz="1700"/>
              <a:t>Note that we are given the order of shuffling each turn, and want to reverse it </a:t>
            </a:r>
            <a:r>
              <a:rPr lang="en" sz="1700"/>
              <a:t>thrice</a:t>
            </a:r>
            <a:endParaRPr sz="1700"/>
          </a:p>
          <a:p>
            <a:pPr indent="0" lvl="0" marL="0" rtl="0" algn="l">
              <a:lnSpc>
                <a:spcPct val="95000"/>
              </a:lnSpc>
              <a:spcBef>
                <a:spcPts val="1200"/>
              </a:spcBef>
              <a:spcAft>
                <a:spcPts val="0"/>
              </a:spcAft>
              <a:buNone/>
            </a:pPr>
            <a:r>
              <a:rPr lang="en" sz="1700"/>
              <a:t>Important use of alternating arrays (order and original_order)!</a:t>
            </a:r>
            <a:endParaRPr sz="1700"/>
          </a:p>
          <a:p>
            <a:pPr indent="0" lvl="0" marL="0" rtl="0" algn="l">
              <a:lnSpc>
                <a:spcPct val="95000"/>
              </a:lnSpc>
              <a:spcBef>
                <a:spcPts val="1200"/>
              </a:spcBef>
              <a:spcAft>
                <a:spcPts val="0"/>
              </a:spcAft>
              <a:buNone/>
            </a:pPr>
            <a:r>
              <a:rPr lang="en" sz="1700"/>
              <a:t>Again, freopen is unnecessary here and should be removed.</a:t>
            </a:r>
            <a:endParaRPr sz="1700"/>
          </a:p>
          <a:p>
            <a:pPr indent="0" lvl="0" marL="0" rtl="0" algn="l">
              <a:lnSpc>
                <a:spcPct val="95000"/>
              </a:lnSpc>
              <a:spcBef>
                <a:spcPts val="1200"/>
              </a:spcBef>
              <a:spcAft>
                <a:spcPts val="1200"/>
              </a:spcAft>
              <a:buNone/>
            </a:pPr>
            <a:r>
              <a:rPr lang="en" sz="1700"/>
              <a:t>Time Complexity: O(n)</a:t>
            </a:r>
            <a:endParaRPr sz="1700"/>
          </a:p>
        </p:txBody>
      </p:sp>
      <p:pic>
        <p:nvPicPr>
          <p:cNvPr id="156" name="Google Shape;156;p23"/>
          <p:cNvPicPr preferRelativeResize="0"/>
          <p:nvPr/>
        </p:nvPicPr>
        <p:blipFill>
          <a:blip r:embed="rId3">
            <a:alphaModFix/>
          </a:blip>
          <a:stretch>
            <a:fillRect/>
          </a:stretch>
        </p:blipFill>
        <p:spPr>
          <a:xfrm>
            <a:off x="4170675" y="65575"/>
            <a:ext cx="4792073" cy="501236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4"/>
          <p:cNvSpPr txBox="1"/>
          <p:nvPr>
            <p:ph idx="1" type="body"/>
          </p:nvPr>
        </p:nvSpPr>
        <p:spPr>
          <a:xfrm>
            <a:off x="519000" y="1928350"/>
            <a:ext cx="50610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Consider the sample input on the right. There are N (&lt;= 100) pairs of words with length no greater than 10. Farmer John chooses one word of each pair. Find the minimal number of each alphabet block so FJ can always find sufficient blocks to spell all N words.</a:t>
            </a:r>
            <a:endParaRPr/>
          </a:p>
        </p:txBody>
      </p:sp>
      <p:sp>
        <p:nvSpPr>
          <p:cNvPr id="162" name="Google Shape;162;p2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Example 4</a:t>
            </a:r>
            <a:endParaRPr/>
          </a:p>
        </p:txBody>
      </p:sp>
      <p:pic>
        <p:nvPicPr>
          <p:cNvPr id="163" name="Google Shape;163;p24"/>
          <p:cNvPicPr preferRelativeResize="0"/>
          <p:nvPr/>
        </p:nvPicPr>
        <p:blipFill>
          <a:blip r:embed="rId3">
            <a:alphaModFix/>
          </a:blip>
          <a:stretch>
            <a:fillRect/>
          </a:stretch>
        </p:blipFill>
        <p:spPr>
          <a:xfrm>
            <a:off x="6546898" y="301175"/>
            <a:ext cx="1312025" cy="4693576"/>
          </a:xfrm>
          <a:prstGeom prst="rect">
            <a:avLst/>
          </a:prstGeom>
          <a:noFill/>
          <a:ln>
            <a:noFill/>
          </a:ln>
        </p:spPr>
      </p:pic>
      <p:pic>
        <p:nvPicPr>
          <p:cNvPr id="164" name="Google Shape;164;p24"/>
          <p:cNvPicPr preferRelativeResize="0"/>
          <p:nvPr/>
        </p:nvPicPr>
        <p:blipFill>
          <a:blip r:embed="rId4">
            <a:alphaModFix/>
          </a:blip>
          <a:stretch>
            <a:fillRect/>
          </a:stretch>
        </p:blipFill>
        <p:spPr>
          <a:xfrm>
            <a:off x="2804475" y="780700"/>
            <a:ext cx="3535051" cy="6092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Example 4 Solution</a:t>
            </a:r>
            <a:endParaRPr/>
          </a:p>
        </p:txBody>
      </p:sp>
      <p:sp>
        <p:nvSpPr>
          <p:cNvPr id="170" name="Google Shape;170;p25"/>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71" name="Google Shape;171;p25"/>
          <p:cNvPicPr preferRelativeResize="0"/>
          <p:nvPr/>
        </p:nvPicPr>
        <p:blipFill rotWithShape="1">
          <a:blip r:embed="rId3">
            <a:alphaModFix/>
          </a:blip>
          <a:srcRect b="58078" l="0" r="0" t="0"/>
          <a:stretch/>
        </p:blipFill>
        <p:spPr>
          <a:xfrm>
            <a:off x="121900" y="1919075"/>
            <a:ext cx="4640600" cy="3668598"/>
          </a:xfrm>
          <a:prstGeom prst="rect">
            <a:avLst/>
          </a:prstGeom>
          <a:noFill/>
          <a:ln>
            <a:noFill/>
          </a:ln>
        </p:spPr>
      </p:pic>
      <p:pic>
        <p:nvPicPr>
          <p:cNvPr id="172" name="Google Shape;172;p25"/>
          <p:cNvPicPr preferRelativeResize="0"/>
          <p:nvPr/>
        </p:nvPicPr>
        <p:blipFill>
          <a:blip r:embed="rId4">
            <a:alphaModFix/>
          </a:blip>
          <a:stretch>
            <a:fillRect/>
          </a:stretch>
        </p:blipFill>
        <p:spPr>
          <a:xfrm>
            <a:off x="4370277" y="523550"/>
            <a:ext cx="4684446" cy="51435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6"/>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Example 5</a:t>
            </a:r>
            <a:endParaRPr/>
          </a:p>
        </p:txBody>
      </p:sp>
      <p:sp>
        <p:nvSpPr>
          <p:cNvPr id="178" name="Google Shape;178;p26"/>
          <p:cNvSpPr txBox="1"/>
          <p:nvPr>
            <p:ph idx="1" type="body"/>
          </p:nvPr>
        </p:nvSpPr>
        <p:spPr>
          <a:xfrm>
            <a:off x="471900" y="1919075"/>
            <a:ext cx="5296200" cy="27102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1200"/>
              </a:spcAft>
              <a:buNone/>
            </a:pPr>
            <a:r>
              <a:rPr lang="en"/>
              <a:t>Farmer John mows a 2D grid </a:t>
            </a:r>
            <a:r>
              <a:rPr lang="en" strike="sngStrike"/>
              <a:t>of cotton</a:t>
            </a:r>
            <a:r>
              <a:rPr lang="en"/>
              <a:t> following N (&lt;= 100) movement instructions (e.g., "W 10" means moving west for 10 time units, 1&lt;= magnitude of move &lt;= 10), cutting grass as he goes. Grass regrows x time units after being cut, and whenever he revisits a cell, at least x time units must have passed since his last visit to avoid stepping on already cut grass. Determine the maximum possible value of x such that John never steps on a cell where the grass hasn't regrown; if he never revisits a cell, output -1.</a:t>
            </a:r>
            <a:endParaRPr/>
          </a:p>
        </p:txBody>
      </p:sp>
      <p:pic>
        <p:nvPicPr>
          <p:cNvPr id="179" name="Google Shape;179;p26"/>
          <p:cNvPicPr preferRelativeResize="0"/>
          <p:nvPr/>
        </p:nvPicPr>
        <p:blipFill>
          <a:blip r:embed="rId3">
            <a:alphaModFix/>
          </a:blip>
          <a:stretch>
            <a:fillRect/>
          </a:stretch>
        </p:blipFill>
        <p:spPr>
          <a:xfrm>
            <a:off x="6076675" y="762200"/>
            <a:ext cx="2506775" cy="3760175"/>
          </a:xfrm>
          <a:prstGeom prst="rect">
            <a:avLst/>
          </a:prstGeom>
          <a:noFill/>
          <a:ln>
            <a:noFill/>
          </a:ln>
        </p:spPr>
      </p:pic>
      <p:pic>
        <p:nvPicPr>
          <p:cNvPr id="180" name="Google Shape;180;p26"/>
          <p:cNvPicPr preferRelativeResize="0"/>
          <p:nvPr/>
        </p:nvPicPr>
        <p:blipFill>
          <a:blip r:embed="rId4">
            <a:alphaModFix/>
          </a:blip>
          <a:stretch>
            <a:fillRect/>
          </a:stretch>
        </p:blipFill>
        <p:spPr>
          <a:xfrm>
            <a:off x="2813775" y="820175"/>
            <a:ext cx="2677326" cy="5354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7"/>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Example 5 Solution</a:t>
            </a:r>
            <a:endParaRPr/>
          </a:p>
        </p:txBody>
      </p:sp>
      <p:sp>
        <p:nvSpPr>
          <p:cNvPr id="186" name="Google Shape;186;p27"/>
          <p:cNvSpPr txBox="1"/>
          <p:nvPr>
            <p:ph idx="1" type="body"/>
          </p:nvPr>
        </p:nvSpPr>
        <p:spPr>
          <a:xfrm>
            <a:off x="471900" y="1919075"/>
            <a:ext cx="36900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We use grid[y][x] to record the time FJ last visited square (x, y)</a:t>
            </a:r>
            <a:endParaRPr/>
          </a:p>
        </p:txBody>
      </p:sp>
      <p:pic>
        <p:nvPicPr>
          <p:cNvPr id="187" name="Google Shape;187;p27"/>
          <p:cNvPicPr preferRelativeResize="0"/>
          <p:nvPr/>
        </p:nvPicPr>
        <p:blipFill>
          <a:blip r:embed="rId3">
            <a:alphaModFix/>
          </a:blip>
          <a:stretch>
            <a:fillRect/>
          </a:stretch>
        </p:blipFill>
        <p:spPr>
          <a:xfrm>
            <a:off x="4370501" y="556750"/>
            <a:ext cx="4231624" cy="40725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8"/>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Example 6</a:t>
            </a:r>
            <a:endParaRPr/>
          </a:p>
        </p:txBody>
      </p:sp>
      <p:sp>
        <p:nvSpPr>
          <p:cNvPr id="193" name="Google Shape;193;p28"/>
          <p:cNvSpPr txBox="1"/>
          <p:nvPr>
            <p:ph idx="1" type="body"/>
          </p:nvPr>
        </p:nvSpPr>
        <p:spPr>
          <a:xfrm>
            <a:off x="471900" y="1919075"/>
            <a:ext cx="4934700" cy="27102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lang="en"/>
              <a:t>Farmer John purchases three cows: Bessie, Elsie, and Mildred, each of whom initially produces 7 gallons of milk per day. The changes in production are given in input (N &lt;= 100)</a:t>
            </a:r>
            <a:endParaRPr/>
          </a:p>
          <a:p>
            <a:pPr indent="0" lvl="0" marL="0" rtl="0" algn="l">
              <a:spcBef>
                <a:spcPts val="1200"/>
              </a:spcBef>
              <a:spcAft>
                <a:spcPts val="1200"/>
              </a:spcAft>
              <a:buNone/>
            </a:pPr>
            <a:r>
              <a:rPr lang="en"/>
              <a:t>To keep his cows motivated, Farmer John proudly displays on the wall of his barn the picture of whichever cow currently has the highest milk output (if several cows tie for the highest milk output, he displays all of their pictures). Please determine the number of days on which Farmer John would have needed to change this display.</a:t>
            </a:r>
            <a:endParaRPr/>
          </a:p>
        </p:txBody>
      </p:sp>
      <p:pic>
        <p:nvPicPr>
          <p:cNvPr id="194" name="Google Shape;194;p28"/>
          <p:cNvPicPr preferRelativeResize="0"/>
          <p:nvPr/>
        </p:nvPicPr>
        <p:blipFill>
          <a:blip r:embed="rId3">
            <a:alphaModFix/>
          </a:blip>
          <a:stretch>
            <a:fillRect/>
          </a:stretch>
        </p:blipFill>
        <p:spPr>
          <a:xfrm>
            <a:off x="6047500" y="1948850"/>
            <a:ext cx="2110225" cy="2650650"/>
          </a:xfrm>
          <a:prstGeom prst="rect">
            <a:avLst/>
          </a:prstGeom>
          <a:noFill/>
          <a:ln>
            <a:noFill/>
          </a:ln>
        </p:spPr>
      </p:pic>
      <p:pic>
        <p:nvPicPr>
          <p:cNvPr id="195" name="Google Shape;195;p28"/>
          <p:cNvPicPr preferRelativeResize="0"/>
          <p:nvPr/>
        </p:nvPicPr>
        <p:blipFill>
          <a:blip r:embed="rId4">
            <a:alphaModFix/>
          </a:blip>
          <a:stretch>
            <a:fillRect/>
          </a:stretch>
        </p:blipFill>
        <p:spPr>
          <a:xfrm>
            <a:off x="2905575" y="889938"/>
            <a:ext cx="2949199" cy="4652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9"/>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Example 6 Solution</a:t>
            </a:r>
            <a:endParaRPr/>
          </a:p>
        </p:txBody>
      </p:sp>
      <p:sp>
        <p:nvSpPr>
          <p:cNvPr id="201" name="Google Shape;201;p29"/>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02" name="Google Shape;202;p29"/>
          <p:cNvPicPr preferRelativeResize="0"/>
          <p:nvPr/>
        </p:nvPicPr>
        <p:blipFill rotWithShape="1">
          <a:blip r:embed="rId3">
            <a:alphaModFix/>
          </a:blip>
          <a:srcRect b="53426" l="0" r="0" t="0"/>
          <a:stretch/>
        </p:blipFill>
        <p:spPr>
          <a:xfrm>
            <a:off x="597850" y="1676925"/>
            <a:ext cx="3376926" cy="3053199"/>
          </a:xfrm>
          <a:prstGeom prst="rect">
            <a:avLst/>
          </a:prstGeom>
          <a:noFill/>
          <a:ln>
            <a:noFill/>
          </a:ln>
        </p:spPr>
      </p:pic>
      <p:pic>
        <p:nvPicPr>
          <p:cNvPr id="203" name="Google Shape;203;p29"/>
          <p:cNvPicPr preferRelativeResize="0"/>
          <p:nvPr/>
        </p:nvPicPr>
        <p:blipFill>
          <a:blip r:embed="rId4">
            <a:alphaModFix/>
          </a:blip>
          <a:stretch>
            <a:fillRect/>
          </a:stretch>
        </p:blipFill>
        <p:spPr>
          <a:xfrm>
            <a:off x="4520324" y="482663"/>
            <a:ext cx="4095174" cy="439427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0"/>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Bonus Example</a:t>
            </a:r>
            <a:endParaRPr/>
          </a:p>
        </p:txBody>
      </p:sp>
      <p:sp>
        <p:nvSpPr>
          <p:cNvPr id="209" name="Google Shape;209;p30"/>
          <p:cNvSpPr txBox="1"/>
          <p:nvPr>
            <p:ph idx="1" type="body"/>
          </p:nvPr>
        </p:nvSpPr>
        <p:spPr>
          <a:xfrm>
            <a:off x="471900" y="1919075"/>
            <a:ext cx="8222100" cy="351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Farmer John tries to file his N e-mails into M folders. He could only scroll down his folder/email list (not up). There is going to be K files an</a:t>
            </a:r>
            <a:r>
              <a:rPr lang="en"/>
              <a:t>d K folders showing up the same time. John can only drag e-mails into </a:t>
            </a:r>
            <a:r>
              <a:rPr lang="en"/>
              <a:t>predetermined</a:t>
            </a:r>
            <a:r>
              <a:rPr lang="en"/>
              <a:t> folders. The only way he can achieve scrolling </a:t>
            </a:r>
            <a:r>
              <a:rPr lang="en"/>
              <a:t>upwards</a:t>
            </a:r>
            <a:r>
              <a:rPr lang="en"/>
              <a:t> is if he is viewing the last set of K e-mails in his email list, and he puts one of those into a folder. In this case, the email list will again show the last K e-mails that haven't yet been filed, effectively scrolling the top email up by one. If there are fewer than K e-mails remaining, then all of them will be displayed.</a:t>
            </a:r>
            <a:endParaRPr/>
          </a:p>
          <a:p>
            <a:pPr indent="0" lvl="0" marL="0" rtl="0" algn="l">
              <a:spcBef>
                <a:spcPts val="1200"/>
              </a:spcBef>
              <a:spcAft>
                <a:spcPts val="1200"/>
              </a:spcAft>
              <a:buNone/>
            </a:pPr>
            <a:r>
              <a:t/>
            </a:r>
            <a:endParaRPr/>
          </a:p>
        </p:txBody>
      </p:sp>
      <p:pic>
        <p:nvPicPr>
          <p:cNvPr id="210" name="Google Shape;210;p30"/>
          <p:cNvPicPr preferRelativeResize="0"/>
          <p:nvPr/>
        </p:nvPicPr>
        <p:blipFill>
          <a:blip r:embed="rId3">
            <a:alphaModFix/>
          </a:blip>
          <a:stretch>
            <a:fillRect/>
          </a:stretch>
        </p:blipFill>
        <p:spPr>
          <a:xfrm>
            <a:off x="3987975" y="849700"/>
            <a:ext cx="4291865" cy="6567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1"/>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Bonus Example Solution </a:t>
            </a:r>
            <a:r>
              <a:rPr lang="en"/>
              <a:t>Idea</a:t>
            </a:r>
            <a:endParaRPr/>
          </a:p>
        </p:txBody>
      </p:sp>
      <p:sp>
        <p:nvSpPr>
          <p:cNvPr id="216" name="Google Shape;216;p31"/>
          <p:cNvSpPr txBox="1"/>
          <p:nvPr>
            <p:ph idx="1" type="body"/>
          </p:nvPr>
        </p:nvSpPr>
        <p:spPr>
          <a:xfrm>
            <a:off x="471900" y="191432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We need to combine the ideas of </a:t>
            </a:r>
            <a:r>
              <a:rPr lang="en" strike="sngStrike"/>
              <a:t>brute force</a:t>
            </a:r>
            <a:r>
              <a:rPr lang="en"/>
              <a:t> simulation and greedy algorithm. Since email folders can’t re-appear, a email folder that is at the top of the seen list must be filled with all of its emails before we scroll down. So, maintaining a list of all emails of each folder gives us a way to find the optimal time to scroll down the file list. For the emails, we need a list of seeable emails, emails that have been scrolled out of display, and emails that have not been seen before to effectively simulate the email list.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2"/>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Homework Problems (optional ofc)</a:t>
            </a:r>
            <a:endParaRPr/>
          </a:p>
        </p:txBody>
      </p:sp>
      <p:sp>
        <p:nvSpPr>
          <p:cNvPr id="222" name="Google Shape;222;p32"/>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https://usaco.org/index.php?page=viewproblem2&amp;cpid=526</a:t>
            </a:r>
            <a:endParaRPr/>
          </a:p>
          <a:p>
            <a:pPr indent="0" lvl="0" marL="0" rtl="0" algn="l">
              <a:spcBef>
                <a:spcPts val="1200"/>
              </a:spcBef>
              <a:spcAft>
                <a:spcPts val="0"/>
              </a:spcAft>
              <a:buNone/>
            </a:pPr>
            <a:r>
              <a:rPr lang="en" u="sng">
                <a:solidFill>
                  <a:schemeClr val="hlink"/>
                </a:solidFill>
                <a:hlinkClick r:id="rId4"/>
              </a:rPr>
              <a:t>https://usaco.org/index.php?page=viewproblem2&amp;cpid=616</a:t>
            </a:r>
            <a:endParaRPr/>
          </a:p>
          <a:p>
            <a:pPr indent="0" lvl="0" marL="0" rtl="0" algn="l">
              <a:spcBef>
                <a:spcPts val="1200"/>
              </a:spcBef>
              <a:spcAft>
                <a:spcPts val="0"/>
              </a:spcAft>
              <a:buNone/>
            </a:pPr>
            <a:r>
              <a:rPr lang="en" u="sng">
                <a:solidFill>
                  <a:schemeClr val="hlink"/>
                </a:solidFill>
                <a:hlinkClick r:id="rId5"/>
              </a:rPr>
              <a:t>https://usaco.org/index.php?page=viewproblem2&amp;cpid=831</a:t>
            </a:r>
            <a:endParaRPr/>
          </a:p>
          <a:p>
            <a:pPr indent="0" lvl="0" marL="0" rtl="0" algn="l">
              <a:spcBef>
                <a:spcPts val="1200"/>
              </a:spcBef>
              <a:spcAft>
                <a:spcPts val="1200"/>
              </a:spcAft>
              <a:buNone/>
            </a:pPr>
            <a:r>
              <a:rPr lang="en"/>
              <a:t>Try to write codes by yourself if you had no prior C++ experience!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