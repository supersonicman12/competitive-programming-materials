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Arimo Bold" charset="1" panose="020B0704020202020204"/>
      <p:regular r:id="rId25"/>
    </p:embeddedFont>
    <p:embeddedFont>
      <p:font typeface="Arimo" charset="1" panose="020B0604020202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601190" y="4503599"/>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USACO Basic Flood Fill</a:t>
            </a:r>
          </a:p>
        </p:txBody>
      </p:sp>
      <p:sp>
        <p:nvSpPr>
          <p:cNvPr name="TextBox 3" id="3"/>
          <p:cNvSpPr txBox="true"/>
          <p:nvPr/>
        </p:nvSpPr>
        <p:spPr>
          <a:xfrm rot="0">
            <a:off x="858844" y="6425591"/>
            <a:ext cx="4623941" cy="906145"/>
          </a:xfrm>
          <a:prstGeom prst="rect">
            <a:avLst/>
          </a:prstGeom>
        </p:spPr>
        <p:txBody>
          <a:bodyPr anchor="t" rtlCol="false" tIns="0" lIns="0" bIns="0" rIns="0">
            <a:spAutoFit/>
          </a:bodyPr>
          <a:lstStyle/>
          <a:p>
            <a:pPr algn="ctr">
              <a:lnSpc>
                <a:spcPts val="7279"/>
              </a:lnSpc>
            </a:pPr>
            <a:r>
              <a:rPr lang="en-US" sz="5199">
                <a:solidFill>
                  <a:srgbClr val="000000"/>
                </a:solidFill>
                <a:latin typeface="Arimo"/>
                <a:ea typeface="Arimo"/>
                <a:cs typeface="Arimo"/>
                <a:sym typeface="Arimo"/>
              </a:rPr>
              <a:t>SHSID OI Club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2877565" y="2918786"/>
            <a:ext cx="5281502" cy="1558476"/>
          </a:xfrm>
          <a:custGeom>
            <a:avLst/>
            <a:gdLst/>
            <a:ahLst/>
            <a:cxnLst/>
            <a:rect r="r" b="b" t="t" l="l"/>
            <a:pathLst>
              <a:path h="1558476" w="5281502">
                <a:moveTo>
                  <a:pt x="0" y="0"/>
                </a:moveTo>
                <a:lnTo>
                  <a:pt x="5281502" y="0"/>
                </a:lnTo>
                <a:lnTo>
                  <a:pt x="5281502" y="1558476"/>
                </a:lnTo>
                <a:lnTo>
                  <a:pt x="0" y="1558476"/>
                </a:lnTo>
                <a:lnTo>
                  <a:pt x="0" y="0"/>
                </a:lnTo>
                <a:close/>
              </a:path>
            </a:pathLst>
          </a:custGeom>
          <a:blipFill>
            <a:blip r:embed="rId2"/>
            <a:stretch>
              <a:fillRect l="0" t="0" r="0" b="0"/>
            </a:stretch>
          </a:blipFill>
        </p:spPr>
      </p:sp>
      <p:sp>
        <p:nvSpPr>
          <p:cNvPr name="TextBox 3" id="3"/>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Warm-Up</a:t>
            </a:r>
          </a:p>
        </p:txBody>
      </p:sp>
      <p:sp>
        <p:nvSpPr>
          <p:cNvPr name="TextBox 4" id="4"/>
          <p:cNvSpPr txBox="true"/>
          <p:nvPr/>
        </p:nvSpPr>
        <p:spPr>
          <a:xfrm rot="0">
            <a:off x="395861" y="3104767"/>
            <a:ext cx="12104350" cy="1933958"/>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Our great Führer has set the orders to do a bit of warm-up </a:t>
            </a:r>
            <a:r>
              <a:rPr lang="en-US" sz="3647">
                <a:solidFill>
                  <a:srgbClr val="000000"/>
                </a:solidFill>
                <a:latin typeface="Arimo"/>
                <a:ea typeface="Arimo"/>
                <a:cs typeface="Arimo"/>
                <a:sym typeface="Arimo"/>
              </a:rPr>
              <a:t>for our little OI session, for that its connected with a former lesson we had before (Greedy)</a:t>
            </a:r>
          </a:p>
        </p:txBody>
      </p:sp>
      <p:sp>
        <p:nvSpPr>
          <p:cNvPr name="TextBox 5" id="5"/>
          <p:cNvSpPr txBox="true"/>
          <p:nvPr/>
        </p:nvSpPr>
        <p:spPr>
          <a:xfrm rot="0">
            <a:off x="211065" y="5741008"/>
            <a:ext cx="10276919" cy="3200400"/>
          </a:xfrm>
          <a:prstGeom prst="rect">
            <a:avLst/>
          </a:prstGeom>
        </p:spPr>
        <p:txBody>
          <a:bodyPr anchor="t" rtlCol="false" tIns="0" lIns="0" bIns="0" rIns="0">
            <a:spAutoFit/>
          </a:bodyPr>
          <a:lstStyle/>
          <a:p>
            <a:pPr algn="just">
              <a:lnSpc>
                <a:spcPts val="4200"/>
              </a:lnSpc>
            </a:pPr>
            <a:r>
              <a:rPr lang="en-US" sz="3000">
                <a:solidFill>
                  <a:srgbClr val="000000"/>
                </a:solidFill>
                <a:latin typeface="Arimo"/>
                <a:ea typeface="Arimo"/>
                <a:cs typeface="Arimo"/>
                <a:sym typeface="Arimo"/>
              </a:rPr>
              <a:t>Here’s the problem: </a:t>
            </a:r>
          </a:p>
          <a:p>
            <a:pPr algn="just">
              <a:lnSpc>
                <a:spcPts val="4200"/>
              </a:lnSpc>
            </a:pPr>
          </a:p>
          <a:p>
            <a:pPr algn="just">
              <a:lnSpc>
                <a:spcPts val="4200"/>
              </a:lnSpc>
            </a:pPr>
            <a:r>
              <a:rPr lang="en-US" sz="3000">
                <a:solidFill>
                  <a:srgbClr val="000000"/>
                </a:solidFill>
                <a:latin typeface="Arimo"/>
                <a:ea typeface="Arimo"/>
                <a:cs typeface="Arimo"/>
                <a:sym typeface="Arimo"/>
              </a:rPr>
              <a:t>Given an integer N, you are to write a program that would find and output the smallest resulting integer after removing k integers from the integer N. (ex. remove “3” from “123” would result in “12”)</a:t>
            </a:r>
          </a:p>
        </p:txBody>
      </p:sp>
      <p:sp>
        <p:nvSpPr>
          <p:cNvPr name="TextBox 6" id="6"/>
          <p:cNvSpPr txBox="true"/>
          <p:nvPr/>
        </p:nvSpPr>
        <p:spPr>
          <a:xfrm rot="0">
            <a:off x="10879957" y="5686425"/>
            <a:ext cx="7279110" cy="3733800"/>
          </a:xfrm>
          <a:prstGeom prst="rect">
            <a:avLst/>
          </a:prstGeom>
        </p:spPr>
        <p:txBody>
          <a:bodyPr anchor="t" rtlCol="false" tIns="0" lIns="0" bIns="0" rIns="0">
            <a:spAutoFit/>
          </a:bodyPr>
          <a:lstStyle/>
          <a:p>
            <a:pPr algn="just">
              <a:lnSpc>
                <a:spcPts val="4200"/>
              </a:lnSpc>
            </a:pPr>
            <a:r>
              <a:rPr lang="en-US" sz="3000">
                <a:solidFill>
                  <a:srgbClr val="000000"/>
                </a:solidFill>
                <a:latin typeface="Arimo"/>
                <a:ea typeface="Arimo"/>
                <a:cs typeface="Arimo"/>
                <a:sym typeface="Arimo"/>
              </a:rPr>
              <a:t>Basic Idea: Start from the leftmost digit and go through the entire integer N. For every digit, check if the digit before it is smaller than it or not. If it is smaller than the digit before it, delete the digit before it. If you arrive at the rightmost digit and still doesn’t find one, delete the rightmost digit.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116373"/>
            <a:ext cx="11301259" cy="4124960"/>
          </a:xfrm>
          <a:custGeom>
            <a:avLst/>
            <a:gdLst/>
            <a:ahLst/>
            <a:cxnLst/>
            <a:rect r="r" b="b" t="t" l="l"/>
            <a:pathLst>
              <a:path h="4124960" w="11301259">
                <a:moveTo>
                  <a:pt x="0" y="0"/>
                </a:moveTo>
                <a:lnTo>
                  <a:pt x="11301259" y="0"/>
                </a:lnTo>
                <a:lnTo>
                  <a:pt x="11301259" y="4124959"/>
                </a:lnTo>
                <a:lnTo>
                  <a:pt x="0" y="4124959"/>
                </a:lnTo>
                <a:lnTo>
                  <a:pt x="0" y="0"/>
                </a:lnTo>
                <a:close/>
              </a:path>
            </a:pathLst>
          </a:custGeom>
          <a:blipFill>
            <a:blip r:embed="rId2"/>
            <a:stretch>
              <a:fillRect l="0" t="0" r="0" b="0"/>
            </a:stretch>
          </a:blipFill>
        </p:spPr>
      </p:sp>
      <p:sp>
        <p:nvSpPr>
          <p:cNvPr name="TextBox 3" id="3"/>
          <p:cNvSpPr txBox="true"/>
          <p:nvPr/>
        </p:nvSpPr>
        <p:spPr>
          <a:xfrm rot="0">
            <a:off x="173681" y="121603"/>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Basic Concepts</a:t>
            </a:r>
          </a:p>
        </p:txBody>
      </p:sp>
      <p:sp>
        <p:nvSpPr>
          <p:cNvPr name="TextBox 4" id="4"/>
          <p:cNvSpPr txBox="true"/>
          <p:nvPr/>
        </p:nvSpPr>
        <p:spPr>
          <a:xfrm rot="0">
            <a:off x="2486538" y="7324342"/>
            <a:ext cx="12104350" cy="1933958"/>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Flood fill is an algorithm in which you basically fill connected areas through making the values in connected areas the same (ex. painting them with a colour)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7955646" y="475223"/>
            <a:ext cx="7608340" cy="8783077"/>
          </a:xfrm>
          <a:custGeom>
            <a:avLst/>
            <a:gdLst/>
            <a:ahLst/>
            <a:cxnLst/>
            <a:rect r="r" b="b" t="t" l="l"/>
            <a:pathLst>
              <a:path h="8783077" w="7608340">
                <a:moveTo>
                  <a:pt x="0" y="0"/>
                </a:moveTo>
                <a:lnTo>
                  <a:pt x="7608341" y="0"/>
                </a:lnTo>
                <a:lnTo>
                  <a:pt x="7608341" y="8783077"/>
                </a:lnTo>
                <a:lnTo>
                  <a:pt x="0" y="8783077"/>
                </a:lnTo>
                <a:lnTo>
                  <a:pt x="0" y="0"/>
                </a:lnTo>
                <a:close/>
              </a:path>
            </a:pathLst>
          </a:custGeom>
          <a:blipFill>
            <a:blip r:embed="rId2"/>
            <a:stretch>
              <a:fillRect l="0" t="0" r="0" b="0"/>
            </a:stretch>
          </a:blipFill>
        </p:spPr>
      </p:sp>
      <p:sp>
        <p:nvSpPr>
          <p:cNvPr name="TextBox 3" id="3"/>
          <p:cNvSpPr txBox="true"/>
          <p:nvPr/>
        </p:nvSpPr>
        <p:spPr>
          <a:xfrm rot="0">
            <a:off x="883364" y="1102498"/>
            <a:ext cx="6111530" cy="3221532"/>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An example of flood-filling a small connected component</a:t>
            </a:r>
          </a:p>
          <a:p>
            <a:pPr algn="just">
              <a:lnSpc>
                <a:spcPts val="5106"/>
              </a:lnSpc>
            </a:pPr>
          </a:p>
          <a:p>
            <a:pPr algn="just">
              <a:lnSpc>
                <a:spcPts val="5106"/>
              </a:lnSpc>
            </a:pPr>
            <a:r>
              <a:rPr lang="en-US" sz="3647">
                <a:solidFill>
                  <a:srgbClr val="000000"/>
                </a:solidFill>
                <a:latin typeface="Arimo"/>
                <a:ea typeface="Arimo"/>
                <a:cs typeface="Arimo"/>
                <a:sym typeface="Arimo"/>
              </a:rPr>
              <a:t>Notice we can use both bfs or dfs...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883364" y="1102498"/>
            <a:ext cx="13955635" cy="5152893"/>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模版.</a:t>
            </a:r>
          </a:p>
          <a:p>
            <a:pPr algn="just">
              <a:lnSpc>
                <a:spcPts val="5106"/>
              </a:lnSpc>
            </a:pPr>
          </a:p>
          <a:p>
            <a:pPr algn="just">
              <a:lnSpc>
                <a:spcPts val="5106"/>
              </a:lnSpc>
            </a:pPr>
            <a:r>
              <a:rPr lang="en-US" sz="3647">
                <a:solidFill>
                  <a:srgbClr val="000000"/>
                </a:solidFill>
                <a:latin typeface="Arimo"/>
                <a:ea typeface="Arimo"/>
                <a:cs typeface="Arimo"/>
                <a:sym typeface="Arimo"/>
              </a:rPr>
              <a:t>Given an N x M grid, each square with a number from 1 to K. </a:t>
            </a:r>
          </a:p>
          <a:p>
            <a:pPr algn="just">
              <a:lnSpc>
                <a:spcPts val="5106"/>
              </a:lnSpc>
            </a:pPr>
            <a:r>
              <a:rPr lang="en-US" sz="3647">
                <a:solidFill>
                  <a:srgbClr val="000000"/>
                </a:solidFill>
                <a:latin typeface="Arimo"/>
                <a:ea typeface="Arimo"/>
                <a:cs typeface="Arimo"/>
                <a:sym typeface="Arimo"/>
              </a:rPr>
              <a:t>Find the number of connected components with the same number:</a:t>
            </a:r>
          </a:p>
          <a:p>
            <a:pPr algn="just">
              <a:lnSpc>
                <a:spcPts val="5106"/>
              </a:lnSpc>
            </a:pPr>
            <a:r>
              <a:rPr lang="en-US" sz="3647">
                <a:solidFill>
                  <a:srgbClr val="000000"/>
                </a:solidFill>
                <a:latin typeface="Arimo"/>
                <a:ea typeface="Arimo"/>
                <a:cs typeface="Arimo"/>
                <a:sym typeface="Arimo"/>
              </a:rPr>
              <a:t>here CC’s mean connected by an edge, as seen previously.</a:t>
            </a:r>
          </a:p>
          <a:p>
            <a:pPr algn="just">
              <a:lnSpc>
                <a:spcPts val="5106"/>
              </a:lnSpc>
            </a:pPr>
          </a:p>
          <a:p>
            <a:pPr algn="just">
              <a:lnSpc>
                <a:spcPts val="5106"/>
              </a:lnSpc>
            </a:pPr>
            <a:r>
              <a:rPr lang="en-US" sz="3647">
                <a:solidFill>
                  <a:srgbClr val="000000"/>
                </a:solidFill>
                <a:latin typeface="Arimo"/>
                <a:ea typeface="Arimo"/>
                <a:cs typeface="Arimo"/>
                <a:sym typeface="Arimo"/>
              </a:rPr>
              <a:t>Consider a DFS and a BFS approach; also, recall that we’ve done coloring before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502194" y="285505"/>
            <a:ext cx="8501724" cy="8972795"/>
          </a:xfrm>
          <a:custGeom>
            <a:avLst/>
            <a:gdLst/>
            <a:ahLst/>
            <a:cxnLst/>
            <a:rect r="r" b="b" t="t" l="l"/>
            <a:pathLst>
              <a:path h="8972795" w="8501724">
                <a:moveTo>
                  <a:pt x="0" y="0"/>
                </a:moveTo>
                <a:lnTo>
                  <a:pt x="8501724" y="0"/>
                </a:lnTo>
                <a:lnTo>
                  <a:pt x="8501724" y="8972795"/>
                </a:lnTo>
                <a:lnTo>
                  <a:pt x="0" y="8972795"/>
                </a:lnTo>
                <a:lnTo>
                  <a:pt x="0" y="0"/>
                </a:lnTo>
                <a:close/>
              </a:path>
            </a:pathLst>
          </a:custGeom>
          <a:blipFill>
            <a:blip r:embed="rId2"/>
            <a:stretch>
              <a:fillRect l="0" t="0" r="0" b="0"/>
            </a:stretch>
          </a:blipFill>
        </p:spPr>
      </p:sp>
      <p:sp>
        <p:nvSpPr>
          <p:cNvPr name="Freeform 3" id="3"/>
          <p:cNvSpPr/>
          <p:nvPr/>
        </p:nvSpPr>
        <p:spPr>
          <a:xfrm flipH="false" flipV="false" rot="0">
            <a:off x="9446094" y="170992"/>
            <a:ext cx="7813206" cy="9601482"/>
          </a:xfrm>
          <a:custGeom>
            <a:avLst/>
            <a:gdLst/>
            <a:ahLst/>
            <a:cxnLst/>
            <a:rect r="r" b="b" t="t" l="l"/>
            <a:pathLst>
              <a:path h="9601482" w="7813206">
                <a:moveTo>
                  <a:pt x="0" y="0"/>
                </a:moveTo>
                <a:lnTo>
                  <a:pt x="7813206" y="0"/>
                </a:lnTo>
                <a:lnTo>
                  <a:pt x="7813206" y="9601483"/>
                </a:lnTo>
                <a:lnTo>
                  <a:pt x="0" y="9601483"/>
                </a:lnTo>
                <a:lnTo>
                  <a:pt x="0" y="0"/>
                </a:lnTo>
                <a:close/>
              </a:path>
            </a:pathLst>
          </a:custGeom>
          <a:blipFill>
            <a:blip r:embed="rId3"/>
            <a:stretch>
              <a:fillRect l="0" t="0" r="0" b="0"/>
            </a:stretch>
          </a:blipFill>
        </p:spPr>
      </p:sp>
      <p:sp>
        <p:nvSpPr>
          <p:cNvPr name="TextBox 4" id="4"/>
          <p:cNvSpPr txBox="true"/>
          <p:nvPr/>
        </p:nvSpPr>
        <p:spPr>
          <a:xfrm rot="0">
            <a:off x="2716939" y="9265110"/>
            <a:ext cx="4072235" cy="507365"/>
          </a:xfrm>
          <a:prstGeom prst="rect">
            <a:avLst/>
          </a:prstGeom>
        </p:spPr>
        <p:txBody>
          <a:bodyPr anchor="t" rtlCol="false" tIns="0" lIns="0" bIns="0" rIns="0">
            <a:spAutoFit/>
          </a:bodyPr>
          <a:lstStyle/>
          <a:p>
            <a:pPr algn="ctr">
              <a:lnSpc>
                <a:spcPts val="4060"/>
              </a:lnSpc>
              <a:spcBef>
                <a:spcPct val="0"/>
              </a:spcBef>
            </a:pPr>
            <a:r>
              <a:rPr lang="en-US" b="true" sz="2900">
                <a:solidFill>
                  <a:srgbClr val="000000"/>
                </a:solidFill>
                <a:latin typeface="Arimo Bold"/>
                <a:ea typeface="Arimo Bold"/>
                <a:cs typeface="Arimo Bold"/>
                <a:sym typeface="Arimo Bold"/>
              </a:rPr>
              <a:t>Notice the use of dr, dc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863615" y="3121397"/>
            <a:ext cx="2742932" cy="5189330"/>
          </a:xfrm>
          <a:custGeom>
            <a:avLst/>
            <a:gdLst/>
            <a:ahLst/>
            <a:cxnLst/>
            <a:rect r="r" b="b" t="t" l="l"/>
            <a:pathLst>
              <a:path h="5189330" w="2742932">
                <a:moveTo>
                  <a:pt x="0" y="0"/>
                </a:moveTo>
                <a:lnTo>
                  <a:pt x="2742932" y="0"/>
                </a:lnTo>
                <a:lnTo>
                  <a:pt x="2742932" y="5189330"/>
                </a:lnTo>
                <a:lnTo>
                  <a:pt x="0" y="5189330"/>
                </a:lnTo>
                <a:lnTo>
                  <a:pt x="0" y="0"/>
                </a:lnTo>
                <a:close/>
              </a:path>
            </a:pathLst>
          </a:custGeom>
          <a:blipFill>
            <a:blip r:embed="rId2"/>
            <a:stretch>
              <a:fillRect l="0" t="0" r="0" b="0"/>
            </a:stretch>
          </a:blipFill>
        </p:spPr>
      </p:sp>
      <p:sp>
        <p:nvSpPr>
          <p:cNvPr name="TextBox 3" id="3"/>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Icy Perimeter</a:t>
            </a:r>
          </a:p>
        </p:txBody>
      </p:sp>
      <p:sp>
        <p:nvSpPr>
          <p:cNvPr name="TextBox 4" id="4"/>
          <p:cNvSpPr txBox="true"/>
          <p:nvPr/>
        </p:nvSpPr>
        <p:spPr>
          <a:xfrm rot="0">
            <a:off x="3956115" y="2645351"/>
            <a:ext cx="12925022" cy="3221532"/>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Given an n x n grid, find the largest connected component, outputting its size and perimeter. </a:t>
            </a:r>
          </a:p>
          <a:p>
            <a:pPr algn="just">
              <a:lnSpc>
                <a:spcPts val="5106"/>
              </a:lnSpc>
            </a:pPr>
          </a:p>
          <a:p>
            <a:pPr algn="just">
              <a:lnSpc>
                <a:spcPts val="5106"/>
              </a:lnSpc>
            </a:pPr>
            <a:r>
              <a:rPr lang="en-US" sz="3647">
                <a:solidFill>
                  <a:srgbClr val="000000"/>
                </a:solidFill>
                <a:latin typeface="Arimo"/>
                <a:ea typeface="Arimo"/>
                <a:cs typeface="Arimo"/>
                <a:sym typeface="Arimo"/>
              </a:rPr>
              <a:t>If there are multiple connected components tied for largest area, print the one with smallest perimeter.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863615" y="3121397"/>
            <a:ext cx="2742932" cy="5189330"/>
          </a:xfrm>
          <a:custGeom>
            <a:avLst/>
            <a:gdLst/>
            <a:ahLst/>
            <a:cxnLst/>
            <a:rect r="r" b="b" t="t" l="l"/>
            <a:pathLst>
              <a:path h="5189330" w="2742932">
                <a:moveTo>
                  <a:pt x="0" y="0"/>
                </a:moveTo>
                <a:lnTo>
                  <a:pt x="2742932" y="0"/>
                </a:lnTo>
                <a:lnTo>
                  <a:pt x="2742932" y="5189330"/>
                </a:lnTo>
                <a:lnTo>
                  <a:pt x="0" y="5189330"/>
                </a:lnTo>
                <a:lnTo>
                  <a:pt x="0" y="0"/>
                </a:lnTo>
                <a:close/>
              </a:path>
            </a:pathLst>
          </a:custGeom>
          <a:blipFill>
            <a:blip r:embed="rId2"/>
            <a:stretch>
              <a:fillRect l="0" t="0" r="0" b="0"/>
            </a:stretch>
          </a:blipFill>
        </p:spPr>
      </p:sp>
      <p:sp>
        <p:nvSpPr>
          <p:cNvPr name="TextBox 3" id="3"/>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Icy Perimeter</a:t>
            </a:r>
          </a:p>
        </p:txBody>
      </p:sp>
      <p:sp>
        <p:nvSpPr>
          <p:cNvPr name="TextBox 4" id="4"/>
          <p:cNvSpPr txBox="true"/>
          <p:nvPr/>
        </p:nvSpPr>
        <p:spPr>
          <a:xfrm rot="0">
            <a:off x="3956115" y="2645351"/>
            <a:ext cx="12925022" cy="3221532"/>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Flood fill across all elements is O(n^2), we don’t even have to store an array of component ID’s, we can directly compute the perimeter and area and compare at each time.</a:t>
            </a:r>
          </a:p>
          <a:p>
            <a:pPr algn="just">
              <a:lnSpc>
                <a:spcPts val="5106"/>
              </a:lnSpc>
            </a:pPr>
          </a:p>
          <a:p>
            <a:pPr algn="just">
              <a:lnSpc>
                <a:spcPts val="510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252038" y="2652196"/>
            <a:ext cx="6396550" cy="6211465"/>
          </a:xfrm>
          <a:custGeom>
            <a:avLst/>
            <a:gdLst/>
            <a:ahLst/>
            <a:cxnLst/>
            <a:rect r="r" b="b" t="t" l="l"/>
            <a:pathLst>
              <a:path h="6211465" w="6396550">
                <a:moveTo>
                  <a:pt x="0" y="0"/>
                </a:moveTo>
                <a:lnTo>
                  <a:pt x="6396550" y="0"/>
                </a:lnTo>
                <a:lnTo>
                  <a:pt x="6396550" y="6211465"/>
                </a:lnTo>
                <a:lnTo>
                  <a:pt x="0" y="6211465"/>
                </a:lnTo>
                <a:lnTo>
                  <a:pt x="0" y="0"/>
                </a:lnTo>
                <a:close/>
              </a:path>
            </a:pathLst>
          </a:custGeom>
          <a:blipFill>
            <a:blip r:embed="rId2"/>
            <a:stretch>
              <a:fillRect l="0" t="0" r="0" b="0"/>
            </a:stretch>
          </a:blipFill>
        </p:spPr>
      </p:sp>
      <p:sp>
        <p:nvSpPr>
          <p:cNvPr name="Freeform 3" id="3"/>
          <p:cNvSpPr/>
          <p:nvPr/>
        </p:nvSpPr>
        <p:spPr>
          <a:xfrm flipH="false" flipV="false" rot="0">
            <a:off x="8621945" y="2082133"/>
            <a:ext cx="8501845" cy="7580617"/>
          </a:xfrm>
          <a:custGeom>
            <a:avLst/>
            <a:gdLst/>
            <a:ahLst/>
            <a:cxnLst/>
            <a:rect r="r" b="b" t="t" l="l"/>
            <a:pathLst>
              <a:path h="7580617" w="8501845">
                <a:moveTo>
                  <a:pt x="0" y="0"/>
                </a:moveTo>
                <a:lnTo>
                  <a:pt x="8501845" y="0"/>
                </a:lnTo>
                <a:lnTo>
                  <a:pt x="8501845" y="7580617"/>
                </a:lnTo>
                <a:lnTo>
                  <a:pt x="0" y="7580617"/>
                </a:lnTo>
                <a:lnTo>
                  <a:pt x="0" y="0"/>
                </a:lnTo>
                <a:close/>
              </a:path>
            </a:pathLst>
          </a:custGeom>
          <a:blipFill>
            <a:blip r:embed="rId3"/>
            <a:stretch>
              <a:fillRect l="0" t="0" r="0" b="0"/>
            </a:stretch>
          </a:blipFill>
        </p:spPr>
      </p:sp>
      <p:sp>
        <p:nvSpPr>
          <p:cNvPr name="TextBox 4" id="4"/>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Icy Perimeter Solution</a:t>
            </a:r>
          </a:p>
        </p:txBody>
      </p:sp>
      <p:sp>
        <p:nvSpPr>
          <p:cNvPr name="TextBox 5" id="5"/>
          <p:cNvSpPr txBox="true"/>
          <p:nvPr/>
        </p:nvSpPr>
        <p:spPr>
          <a:xfrm rot="0">
            <a:off x="1474957" y="8796986"/>
            <a:ext cx="6711479" cy="1021715"/>
          </a:xfrm>
          <a:prstGeom prst="rect">
            <a:avLst/>
          </a:prstGeom>
        </p:spPr>
        <p:txBody>
          <a:bodyPr anchor="t" rtlCol="false" tIns="0" lIns="0" bIns="0" rIns="0">
            <a:spAutoFit/>
          </a:bodyPr>
          <a:lstStyle/>
          <a:p>
            <a:pPr algn="ctr">
              <a:lnSpc>
                <a:spcPts val="4060"/>
              </a:lnSpc>
              <a:spcBef>
                <a:spcPct val="0"/>
              </a:spcBef>
            </a:pPr>
            <a:r>
              <a:rPr lang="en-US" b="true" sz="2900">
                <a:solidFill>
                  <a:srgbClr val="000000"/>
                </a:solidFill>
                <a:latin typeface="Arimo Bold"/>
                <a:ea typeface="Arimo Bold"/>
                <a:cs typeface="Arimo Bold"/>
                <a:sym typeface="Arimo Bold"/>
              </a:rPr>
              <a:t>d</a:t>
            </a:r>
            <a:r>
              <a:rPr lang="en-US" b="true" sz="2900">
                <a:solidFill>
                  <a:srgbClr val="000000"/>
                </a:solidFill>
                <a:latin typeface="Arimo Bold"/>
                <a:ea typeface="Arimo Bold"/>
                <a:cs typeface="Arimo Bold"/>
                <a:sym typeface="Arimo Bold"/>
              </a:rPr>
              <a:t>on’t store char’s for input as GPT did</a:t>
            </a:r>
          </a:p>
          <a:p>
            <a:pPr algn="ctr">
              <a:lnSpc>
                <a:spcPts val="4060"/>
              </a:lnSpc>
              <a:spcBef>
                <a:spcPct val="0"/>
              </a:spcBef>
            </a:pPr>
            <a:r>
              <a:rPr lang="en-US" b="true" sz="2900">
                <a:solidFill>
                  <a:srgbClr val="000000"/>
                </a:solidFill>
                <a:latin typeface="Arimo Bold"/>
                <a:ea typeface="Arimo Bold"/>
                <a:cs typeface="Arimo Bold"/>
                <a:sym typeface="Arimo Bold"/>
              </a:rPr>
              <a:t>use bool when can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601190" y="2878458"/>
            <a:ext cx="12019634" cy="3275350"/>
          </a:xfrm>
          <a:custGeom>
            <a:avLst/>
            <a:gdLst/>
            <a:ahLst/>
            <a:cxnLst/>
            <a:rect r="r" b="b" t="t" l="l"/>
            <a:pathLst>
              <a:path h="3275350" w="12019634">
                <a:moveTo>
                  <a:pt x="0" y="0"/>
                </a:moveTo>
                <a:lnTo>
                  <a:pt x="12019634" y="0"/>
                </a:lnTo>
                <a:lnTo>
                  <a:pt x="12019634" y="3275350"/>
                </a:lnTo>
                <a:lnTo>
                  <a:pt x="0" y="3275350"/>
                </a:lnTo>
                <a:lnTo>
                  <a:pt x="0" y="0"/>
                </a:lnTo>
                <a:close/>
              </a:path>
            </a:pathLst>
          </a:custGeom>
          <a:blipFill>
            <a:blip r:embed="rId2"/>
            <a:stretch>
              <a:fillRect l="0" t="0" r="0" b="0"/>
            </a:stretch>
          </a:blipFill>
        </p:spPr>
      </p:sp>
      <p:sp>
        <p:nvSpPr>
          <p:cNvPr name="Freeform 3" id="3"/>
          <p:cNvSpPr/>
          <p:nvPr/>
        </p:nvSpPr>
        <p:spPr>
          <a:xfrm flipH="false" flipV="false" rot="0">
            <a:off x="12963987" y="1614514"/>
            <a:ext cx="4867875" cy="4539294"/>
          </a:xfrm>
          <a:custGeom>
            <a:avLst/>
            <a:gdLst/>
            <a:ahLst/>
            <a:cxnLst/>
            <a:rect r="r" b="b" t="t" l="l"/>
            <a:pathLst>
              <a:path h="4539294" w="4867875">
                <a:moveTo>
                  <a:pt x="0" y="0"/>
                </a:moveTo>
                <a:lnTo>
                  <a:pt x="4867875" y="0"/>
                </a:lnTo>
                <a:lnTo>
                  <a:pt x="4867875" y="4539294"/>
                </a:lnTo>
                <a:lnTo>
                  <a:pt x="0" y="4539294"/>
                </a:lnTo>
                <a:lnTo>
                  <a:pt x="0" y="0"/>
                </a:lnTo>
                <a:close/>
              </a:path>
            </a:pathLst>
          </a:custGeom>
          <a:blipFill>
            <a:blip r:embed="rId3"/>
            <a:stretch>
              <a:fillRect l="0" t="0" r="0" b="0"/>
            </a:stretch>
          </a:blipFill>
        </p:spPr>
      </p:sp>
      <p:sp>
        <p:nvSpPr>
          <p:cNvPr name="TextBox 4" id="4"/>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Where’s Bessie?</a:t>
            </a:r>
          </a:p>
        </p:txBody>
      </p:sp>
      <p:sp>
        <p:nvSpPr>
          <p:cNvPr name="TextBox 5" id="5"/>
          <p:cNvSpPr txBox="true"/>
          <p:nvPr/>
        </p:nvSpPr>
        <p:spPr>
          <a:xfrm rot="0">
            <a:off x="379796" y="6443937"/>
            <a:ext cx="12925022" cy="1290171"/>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4-connected just means connected up/down/left/right, same as previous just worded weirdly.</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Where’s Bessie? Solution Idea</a:t>
            </a:r>
          </a:p>
        </p:txBody>
      </p:sp>
      <p:sp>
        <p:nvSpPr>
          <p:cNvPr name="TextBox 3" id="3"/>
          <p:cNvSpPr txBox="true"/>
          <p:nvPr/>
        </p:nvSpPr>
        <p:spPr>
          <a:xfrm rot="0">
            <a:off x="601190" y="3065819"/>
            <a:ext cx="12925022" cy="5152893"/>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For every possible rectangle (N^4), we run a flood fill (N^2). If that rectangle is valid, we store its information (the four boundary values) in an array.</a:t>
            </a:r>
          </a:p>
          <a:p>
            <a:pPr algn="just">
              <a:lnSpc>
                <a:spcPts val="5106"/>
              </a:lnSpc>
            </a:pPr>
          </a:p>
          <a:p>
            <a:pPr algn="just">
              <a:lnSpc>
                <a:spcPts val="5106"/>
              </a:lnSpc>
            </a:pPr>
            <a:r>
              <a:rPr lang="en-US" sz="3647">
                <a:solidFill>
                  <a:srgbClr val="000000"/>
                </a:solidFill>
                <a:latin typeface="Arimo"/>
                <a:ea typeface="Arimo"/>
                <a:cs typeface="Arimo"/>
                <a:sym typeface="Arimo"/>
              </a:rPr>
              <a:t>Then, since we expect the number of valid rectangles to be quite small, we can simply check if each rectangle is valid using O((size of valid array)^2). Intuitively, this number can’t be huge and so it’ll pass.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443031" y="5322293"/>
            <a:ext cx="7700969" cy="4696278"/>
          </a:xfrm>
          <a:custGeom>
            <a:avLst/>
            <a:gdLst/>
            <a:ahLst/>
            <a:cxnLst/>
            <a:rect r="r" b="b" t="t" l="l"/>
            <a:pathLst>
              <a:path h="4696278" w="7700969">
                <a:moveTo>
                  <a:pt x="0" y="0"/>
                </a:moveTo>
                <a:lnTo>
                  <a:pt x="7700969" y="0"/>
                </a:lnTo>
                <a:lnTo>
                  <a:pt x="7700969" y="4696278"/>
                </a:lnTo>
                <a:lnTo>
                  <a:pt x="0" y="4696278"/>
                </a:lnTo>
                <a:lnTo>
                  <a:pt x="0" y="0"/>
                </a:lnTo>
                <a:close/>
              </a:path>
            </a:pathLst>
          </a:custGeom>
          <a:blipFill>
            <a:blip r:embed="rId2"/>
            <a:stretch>
              <a:fillRect l="0" t="0" r="0" b="0"/>
            </a:stretch>
          </a:blipFill>
        </p:spPr>
      </p:sp>
      <p:sp>
        <p:nvSpPr>
          <p:cNvPr name="Freeform 3" id="3"/>
          <p:cNvSpPr/>
          <p:nvPr/>
        </p:nvSpPr>
        <p:spPr>
          <a:xfrm flipH="false" flipV="false" rot="0">
            <a:off x="9792904" y="512727"/>
            <a:ext cx="7768607" cy="7678112"/>
          </a:xfrm>
          <a:custGeom>
            <a:avLst/>
            <a:gdLst/>
            <a:ahLst/>
            <a:cxnLst/>
            <a:rect r="r" b="b" t="t" l="l"/>
            <a:pathLst>
              <a:path h="7678112" w="7768607">
                <a:moveTo>
                  <a:pt x="0" y="0"/>
                </a:moveTo>
                <a:lnTo>
                  <a:pt x="7768607" y="0"/>
                </a:lnTo>
                <a:lnTo>
                  <a:pt x="7768607" y="7678112"/>
                </a:lnTo>
                <a:lnTo>
                  <a:pt x="0" y="7678112"/>
                </a:lnTo>
                <a:lnTo>
                  <a:pt x="0" y="0"/>
                </a:lnTo>
                <a:close/>
              </a:path>
            </a:pathLst>
          </a:custGeom>
          <a:blipFill>
            <a:blip r:embed="rId3"/>
            <a:stretch>
              <a:fillRect l="0" t="0" r="0" b="0"/>
            </a:stretch>
          </a:blipFill>
        </p:spPr>
      </p:sp>
      <p:sp>
        <p:nvSpPr>
          <p:cNvPr name="Freeform 4" id="4"/>
          <p:cNvSpPr/>
          <p:nvPr/>
        </p:nvSpPr>
        <p:spPr>
          <a:xfrm flipH="false" flipV="false" rot="0">
            <a:off x="235015" y="0"/>
            <a:ext cx="9170295" cy="4918961"/>
          </a:xfrm>
          <a:custGeom>
            <a:avLst/>
            <a:gdLst/>
            <a:ahLst/>
            <a:cxnLst/>
            <a:rect r="r" b="b" t="t" l="l"/>
            <a:pathLst>
              <a:path h="4918961" w="9170295">
                <a:moveTo>
                  <a:pt x="0" y="0"/>
                </a:moveTo>
                <a:lnTo>
                  <a:pt x="9170295" y="0"/>
                </a:lnTo>
                <a:lnTo>
                  <a:pt x="9170295" y="4918961"/>
                </a:lnTo>
                <a:lnTo>
                  <a:pt x="0" y="4918961"/>
                </a:lnTo>
                <a:lnTo>
                  <a:pt x="0" y="0"/>
                </a:lnTo>
                <a:close/>
              </a:path>
            </a:pathLst>
          </a:custGeom>
          <a:blipFill>
            <a:blip r:embed="rId4"/>
            <a:stretch>
              <a:fillRect l="0" t="0" r="0" b="0"/>
            </a:stretch>
          </a:blipFill>
        </p:spPr>
      </p:sp>
      <p:sp>
        <p:nvSpPr>
          <p:cNvPr name="TextBox 5" id="5"/>
          <p:cNvSpPr txBox="true"/>
          <p:nvPr/>
        </p:nvSpPr>
        <p:spPr>
          <a:xfrm rot="0">
            <a:off x="235015" y="4256533"/>
            <a:ext cx="519504" cy="646383"/>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1</a:t>
            </a:r>
          </a:p>
        </p:txBody>
      </p:sp>
      <p:sp>
        <p:nvSpPr>
          <p:cNvPr name="TextBox 6" id="6"/>
          <p:cNvSpPr txBox="true"/>
          <p:nvPr/>
        </p:nvSpPr>
        <p:spPr>
          <a:xfrm rot="0">
            <a:off x="9792904" y="7544455"/>
            <a:ext cx="519504" cy="646383"/>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2</a:t>
            </a:r>
          </a:p>
        </p:txBody>
      </p:sp>
      <p:sp>
        <p:nvSpPr>
          <p:cNvPr name="TextBox 7" id="7"/>
          <p:cNvSpPr txBox="true"/>
          <p:nvPr/>
        </p:nvSpPr>
        <p:spPr>
          <a:xfrm rot="0">
            <a:off x="1443031" y="9372187"/>
            <a:ext cx="519504" cy="646383"/>
          </a:xfrm>
          <a:prstGeom prst="rect">
            <a:avLst/>
          </a:prstGeom>
        </p:spPr>
        <p:txBody>
          <a:bodyPr anchor="t" rtlCol="false" tIns="0" lIns="0" bIns="0" rIns="0">
            <a:spAutoFit/>
          </a:bodyPr>
          <a:lstStyle/>
          <a:p>
            <a:pPr algn="just">
              <a:lnSpc>
                <a:spcPts val="5106"/>
              </a:lnSpc>
            </a:pPr>
            <a:r>
              <a:rPr lang="en-US" sz="3647">
                <a:solidFill>
                  <a:srgbClr val="000000"/>
                </a:solidFill>
                <a:latin typeface="Arimo"/>
                <a:ea typeface="Arimo"/>
                <a:cs typeface="Arimo"/>
                <a:sym typeface="Arimo"/>
              </a:rPr>
              <a:t>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458790" y="2590340"/>
            <a:ext cx="12866293" cy="6465312"/>
          </a:xfrm>
          <a:custGeom>
            <a:avLst/>
            <a:gdLst/>
            <a:ahLst/>
            <a:cxnLst/>
            <a:rect r="r" b="b" t="t" l="l"/>
            <a:pathLst>
              <a:path h="6465312" w="12866293">
                <a:moveTo>
                  <a:pt x="0" y="0"/>
                </a:moveTo>
                <a:lnTo>
                  <a:pt x="12866293" y="0"/>
                </a:lnTo>
                <a:lnTo>
                  <a:pt x="12866293" y="6465312"/>
                </a:lnTo>
                <a:lnTo>
                  <a:pt x="0" y="6465312"/>
                </a:lnTo>
                <a:lnTo>
                  <a:pt x="0" y="0"/>
                </a:lnTo>
                <a:close/>
              </a:path>
            </a:pathLst>
          </a:custGeom>
          <a:blipFill>
            <a:blip r:embed="rId2"/>
            <a:stretch>
              <a:fillRect l="0" t="0" r="0" b="0"/>
            </a:stretch>
          </a:blipFill>
        </p:spPr>
      </p:sp>
      <p:sp>
        <p:nvSpPr>
          <p:cNvPr name="TextBox 3" id="3"/>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2017 Feb Silver P3</a:t>
            </a:r>
          </a:p>
        </p:txBody>
      </p:sp>
      <p:sp>
        <p:nvSpPr>
          <p:cNvPr name="TextBox 4" id="4"/>
          <p:cNvSpPr txBox="true"/>
          <p:nvPr/>
        </p:nvSpPr>
        <p:spPr>
          <a:xfrm rot="0">
            <a:off x="6613095" y="4945618"/>
            <a:ext cx="10332977" cy="3080676"/>
          </a:xfrm>
          <a:prstGeom prst="rect">
            <a:avLst/>
          </a:prstGeom>
        </p:spPr>
        <p:txBody>
          <a:bodyPr anchor="t" rtlCol="false" tIns="0" lIns="0" bIns="0" rIns="0">
            <a:spAutoFit/>
          </a:bodyPr>
          <a:lstStyle/>
          <a:p>
            <a:pPr algn="just">
              <a:lnSpc>
                <a:spcPts val="4082"/>
              </a:lnSpc>
            </a:pPr>
            <a:r>
              <a:rPr lang="en-US" sz="2916">
                <a:solidFill>
                  <a:srgbClr val="000000"/>
                </a:solidFill>
                <a:latin typeface="Arimo"/>
                <a:ea typeface="Arimo"/>
                <a:cs typeface="Arimo"/>
                <a:sym typeface="Arimo"/>
              </a:rPr>
              <a:t>In this problem, we have a grid of squares (N x N), where it is generally possible to travel between two adjacent squares - some pairs of adjacent squares are blocked by roads (R roads total). There are K cows in some of the squares, and we want to know how many pairs of cows will not be able to be in the same square if they are permitted to travel as stated above.</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1028700" y="794594"/>
            <a:ext cx="15772319" cy="9401398"/>
          </a:xfrm>
          <a:prstGeom prst="rect">
            <a:avLst/>
          </a:prstGeom>
        </p:spPr>
        <p:txBody>
          <a:bodyPr anchor="t" rtlCol="false" tIns="0" lIns="0" bIns="0" rIns="0">
            <a:spAutoFit/>
          </a:bodyPr>
          <a:lstStyle/>
          <a:p>
            <a:pPr algn="just">
              <a:lnSpc>
                <a:spcPts val="5762"/>
              </a:lnSpc>
            </a:pPr>
            <a:r>
              <a:rPr lang="en-US" sz="4116">
                <a:solidFill>
                  <a:srgbClr val="000000"/>
                </a:solidFill>
                <a:latin typeface="Arimo"/>
                <a:ea typeface="Arimo"/>
                <a:cs typeface="Arimo"/>
                <a:sym typeface="Arimo"/>
              </a:rPr>
              <a:t>We can determine the CC’s with a flood fill, treating roads as non-connections</a:t>
            </a:r>
          </a:p>
          <a:p>
            <a:pPr algn="just">
              <a:lnSpc>
                <a:spcPts val="5762"/>
              </a:lnSpc>
            </a:pPr>
            <a:r>
              <a:rPr lang="en-US" sz="4116">
                <a:solidFill>
                  <a:srgbClr val="000000"/>
                </a:solidFill>
                <a:latin typeface="Arimo"/>
                <a:ea typeface="Arimo"/>
                <a:cs typeface="Arimo"/>
                <a:sym typeface="Arimo"/>
              </a:rPr>
              <a:t>Notice that if two cows are not in the same CC, then they are distant (and they can definitely reach each other, as they can then take any route...)</a:t>
            </a:r>
          </a:p>
          <a:p>
            <a:pPr algn="just">
              <a:lnSpc>
                <a:spcPts val="5762"/>
              </a:lnSpc>
            </a:pPr>
          </a:p>
          <a:p>
            <a:pPr algn="just">
              <a:lnSpc>
                <a:spcPts val="5762"/>
              </a:lnSpc>
            </a:pPr>
            <a:r>
              <a:rPr lang="en-US" sz="4116">
                <a:solidFill>
                  <a:srgbClr val="000000"/>
                </a:solidFill>
                <a:latin typeface="Arimo"/>
                <a:ea typeface="Arimo"/>
                <a:cs typeface="Arimo"/>
                <a:sym typeface="Arimo"/>
              </a:rPr>
              <a:t>We can first run a flood fill across the board O(N^2), color labeling each CC. </a:t>
            </a:r>
          </a:p>
          <a:p>
            <a:pPr algn="just">
              <a:lnSpc>
                <a:spcPts val="5762"/>
              </a:lnSpc>
            </a:pPr>
            <a:r>
              <a:rPr lang="en-US" sz="4116">
                <a:solidFill>
                  <a:srgbClr val="000000"/>
                </a:solidFill>
                <a:latin typeface="Arimo"/>
                <a:ea typeface="Arimo"/>
                <a:cs typeface="Arimo"/>
                <a:sym typeface="Arimo"/>
              </a:rPr>
              <a:t>We can first assume that all cows are distant and then subtract the number of cows in the same CC: for each color, find the number of cows with this color and subtract (this C 2).</a:t>
            </a:r>
          </a:p>
          <a:p>
            <a:pPr algn="just">
              <a:lnSpc>
                <a:spcPts val="5762"/>
              </a:lnSpc>
            </a:pPr>
          </a:p>
          <a:p>
            <a:pPr algn="just">
              <a:lnSpc>
                <a:spcPts val="5762"/>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256811" y="284537"/>
            <a:ext cx="5848677" cy="9357884"/>
          </a:xfrm>
          <a:custGeom>
            <a:avLst/>
            <a:gdLst/>
            <a:ahLst/>
            <a:cxnLst/>
            <a:rect r="r" b="b" t="t" l="l"/>
            <a:pathLst>
              <a:path h="9357884" w="5848677">
                <a:moveTo>
                  <a:pt x="0" y="0"/>
                </a:moveTo>
                <a:lnTo>
                  <a:pt x="5848677" y="0"/>
                </a:lnTo>
                <a:lnTo>
                  <a:pt x="5848677" y="9357884"/>
                </a:lnTo>
                <a:lnTo>
                  <a:pt x="0" y="9357884"/>
                </a:lnTo>
                <a:lnTo>
                  <a:pt x="0" y="0"/>
                </a:lnTo>
                <a:close/>
              </a:path>
            </a:pathLst>
          </a:custGeom>
          <a:blipFill>
            <a:blip r:embed="rId2"/>
            <a:stretch>
              <a:fillRect l="0" t="0" r="0" b="0"/>
            </a:stretch>
          </a:blipFill>
        </p:spPr>
      </p:sp>
      <p:sp>
        <p:nvSpPr>
          <p:cNvPr name="Freeform 3" id="3"/>
          <p:cNvSpPr/>
          <p:nvPr/>
        </p:nvSpPr>
        <p:spPr>
          <a:xfrm flipH="false" flipV="false" rot="0">
            <a:off x="7426313" y="238321"/>
            <a:ext cx="9832987" cy="9450316"/>
          </a:xfrm>
          <a:custGeom>
            <a:avLst/>
            <a:gdLst/>
            <a:ahLst/>
            <a:cxnLst/>
            <a:rect r="r" b="b" t="t" l="l"/>
            <a:pathLst>
              <a:path h="9450316" w="9832987">
                <a:moveTo>
                  <a:pt x="0" y="0"/>
                </a:moveTo>
                <a:lnTo>
                  <a:pt x="9832987" y="0"/>
                </a:lnTo>
                <a:lnTo>
                  <a:pt x="9832987" y="9450316"/>
                </a:lnTo>
                <a:lnTo>
                  <a:pt x="0" y="9450316"/>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68414"/>
            <a:ext cx="5370344" cy="901787"/>
          </a:xfrm>
          <a:custGeom>
            <a:avLst/>
            <a:gdLst/>
            <a:ahLst/>
            <a:cxnLst/>
            <a:rect r="r" b="b" t="t" l="l"/>
            <a:pathLst>
              <a:path h="901787" w="5370344">
                <a:moveTo>
                  <a:pt x="0" y="0"/>
                </a:moveTo>
                <a:lnTo>
                  <a:pt x="5370344" y="0"/>
                </a:lnTo>
                <a:lnTo>
                  <a:pt x="5370344" y="901787"/>
                </a:lnTo>
                <a:lnTo>
                  <a:pt x="0" y="901787"/>
                </a:lnTo>
                <a:lnTo>
                  <a:pt x="0" y="0"/>
                </a:lnTo>
                <a:close/>
              </a:path>
            </a:pathLst>
          </a:custGeom>
          <a:blipFill>
            <a:blip r:embed="rId2"/>
            <a:stretch>
              <a:fillRect l="0" t="0" r="0" b="0"/>
            </a:stretch>
          </a:blipFill>
        </p:spPr>
      </p:sp>
      <p:sp>
        <p:nvSpPr>
          <p:cNvPr name="Freeform 3" id="3"/>
          <p:cNvSpPr/>
          <p:nvPr/>
        </p:nvSpPr>
        <p:spPr>
          <a:xfrm flipH="false" flipV="false" rot="0">
            <a:off x="6833692" y="635563"/>
            <a:ext cx="11150854" cy="9015873"/>
          </a:xfrm>
          <a:custGeom>
            <a:avLst/>
            <a:gdLst/>
            <a:ahLst/>
            <a:cxnLst/>
            <a:rect r="r" b="b" t="t" l="l"/>
            <a:pathLst>
              <a:path h="9015873" w="11150854">
                <a:moveTo>
                  <a:pt x="0" y="0"/>
                </a:moveTo>
                <a:lnTo>
                  <a:pt x="11150854" y="0"/>
                </a:lnTo>
                <a:lnTo>
                  <a:pt x="11150854" y="9015874"/>
                </a:lnTo>
                <a:lnTo>
                  <a:pt x="0" y="9015874"/>
                </a:lnTo>
                <a:lnTo>
                  <a:pt x="0" y="0"/>
                </a:lnTo>
                <a:close/>
              </a:path>
            </a:pathLst>
          </a:custGeom>
          <a:blipFill>
            <a:blip r:embed="rId3"/>
            <a:stretch>
              <a:fillRect l="0" t="0" r="0" b="0"/>
            </a:stretch>
          </a:blipFill>
        </p:spPr>
      </p:sp>
      <p:sp>
        <p:nvSpPr>
          <p:cNvPr name="Freeform 4" id="4"/>
          <p:cNvSpPr/>
          <p:nvPr/>
        </p:nvSpPr>
        <p:spPr>
          <a:xfrm flipH="false" flipV="false" rot="0">
            <a:off x="1028700" y="4919836"/>
            <a:ext cx="4983953" cy="4731601"/>
          </a:xfrm>
          <a:custGeom>
            <a:avLst/>
            <a:gdLst/>
            <a:ahLst/>
            <a:cxnLst/>
            <a:rect r="r" b="b" t="t" l="l"/>
            <a:pathLst>
              <a:path h="4731601" w="4983953">
                <a:moveTo>
                  <a:pt x="0" y="0"/>
                </a:moveTo>
                <a:lnTo>
                  <a:pt x="4983953" y="0"/>
                </a:lnTo>
                <a:lnTo>
                  <a:pt x="4983953" y="4731601"/>
                </a:lnTo>
                <a:lnTo>
                  <a:pt x="0" y="4731601"/>
                </a:lnTo>
                <a:lnTo>
                  <a:pt x="0" y="0"/>
                </a:lnTo>
                <a:close/>
              </a:path>
            </a:pathLst>
          </a:custGeom>
          <a:blipFill>
            <a:blip r:embed="rId4"/>
            <a:stretch>
              <a:fillRect l="0" t="0" r="0" b="0"/>
            </a:stretch>
          </a:blipFill>
        </p:spPr>
      </p:sp>
      <p:sp>
        <p:nvSpPr>
          <p:cNvPr name="TextBox 5" id="5"/>
          <p:cNvSpPr txBox="true"/>
          <p:nvPr/>
        </p:nvSpPr>
        <p:spPr>
          <a:xfrm rot="0">
            <a:off x="601190" y="593860"/>
            <a:ext cx="17085619" cy="1604644"/>
          </a:xfrm>
          <a:prstGeom prst="rect">
            <a:avLst/>
          </a:prstGeom>
        </p:spPr>
        <p:txBody>
          <a:bodyPr anchor="t" rtlCol="false" tIns="0" lIns="0" bIns="0" rIns="0">
            <a:spAutoFit/>
          </a:bodyPr>
          <a:lstStyle/>
          <a:p>
            <a:pPr algn="l">
              <a:lnSpc>
                <a:spcPts val="12880"/>
              </a:lnSpc>
            </a:pPr>
            <a:r>
              <a:rPr lang="en-US" sz="9200" b="true">
                <a:solidFill>
                  <a:srgbClr val="000000"/>
                </a:solidFill>
                <a:latin typeface="Arimo Bold"/>
                <a:ea typeface="Arimo Bold"/>
                <a:cs typeface="Arimo Bold"/>
                <a:sym typeface="Arimo Bold"/>
              </a:rPr>
              <a:t>Snowboots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
        <p:nvSpPr>
          <p:cNvPr name="TextBox 2" id="2"/>
          <p:cNvSpPr txBox="true"/>
          <p:nvPr/>
        </p:nvSpPr>
        <p:spPr>
          <a:xfrm rot="0">
            <a:off x="761504" y="395176"/>
            <a:ext cx="15772319" cy="9401398"/>
          </a:xfrm>
          <a:prstGeom prst="rect">
            <a:avLst/>
          </a:prstGeom>
        </p:spPr>
        <p:txBody>
          <a:bodyPr anchor="t" rtlCol="false" tIns="0" lIns="0" bIns="0" rIns="0">
            <a:spAutoFit/>
          </a:bodyPr>
          <a:lstStyle/>
          <a:p>
            <a:pPr algn="just">
              <a:lnSpc>
                <a:spcPts val="5762"/>
              </a:lnSpc>
            </a:pPr>
            <a:r>
              <a:rPr lang="en-US" sz="4116">
                <a:solidFill>
                  <a:srgbClr val="000000"/>
                </a:solidFill>
                <a:latin typeface="Arimo"/>
                <a:ea typeface="Arimo"/>
                <a:cs typeface="Arimo"/>
                <a:sym typeface="Arimo"/>
              </a:rPr>
              <a:t>We can treat the states as a graph (gives dp vibes): each node is characterized by (pos, boots discarded)</a:t>
            </a:r>
          </a:p>
          <a:p>
            <a:pPr algn="just">
              <a:lnSpc>
                <a:spcPts val="5762"/>
              </a:lnSpc>
            </a:pPr>
          </a:p>
          <a:p>
            <a:pPr algn="just">
              <a:lnSpc>
                <a:spcPts val="5762"/>
              </a:lnSpc>
            </a:pPr>
            <a:r>
              <a:rPr lang="en-US" sz="4116">
                <a:solidFill>
                  <a:srgbClr val="000000"/>
                </a:solidFill>
                <a:latin typeface="Arimo"/>
                <a:ea typeface="Arimo"/>
                <a:cs typeface="Arimo"/>
                <a:sym typeface="Arimo"/>
              </a:rPr>
              <a:t>At each node (p, b-1), we consider the following options:</a:t>
            </a:r>
          </a:p>
          <a:p>
            <a:pPr algn="just" marL="888690" indent="-444345" lvl="1">
              <a:lnSpc>
                <a:spcPts val="5762"/>
              </a:lnSpc>
              <a:buFont typeface="Arial"/>
              <a:buChar char="•"/>
            </a:pPr>
            <a:r>
              <a:rPr lang="en-US" sz="4116">
                <a:solidFill>
                  <a:srgbClr val="000000"/>
                </a:solidFill>
                <a:latin typeface="Arimo"/>
                <a:ea typeface="Arimo"/>
                <a:cs typeface="Arimo"/>
                <a:sym typeface="Arimo"/>
              </a:rPr>
              <a:t>(p+i, b) for i from 1 to max_dist[b+1], this means progressing with boot b</a:t>
            </a:r>
          </a:p>
          <a:p>
            <a:pPr algn="just" marL="888690" indent="-444345" lvl="1">
              <a:lnSpc>
                <a:spcPts val="5762"/>
              </a:lnSpc>
              <a:buFont typeface="Arial"/>
              <a:buChar char="•"/>
            </a:pPr>
            <a:r>
              <a:rPr lang="en-US" sz="4116">
                <a:solidFill>
                  <a:srgbClr val="000000"/>
                </a:solidFill>
                <a:latin typeface="Arimo"/>
                <a:ea typeface="Arimo"/>
                <a:cs typeface="Arimo"/>
                <a:sym typeface="Arimo"/>
              </a:rPr>
              <a:t>(p, i) for i from b+1 to B, this means discarding one or many boots.</a:t>
            </a:r>
          </a:p>
          <a:p>
            <a:pPr algn="just">
              <a:lnSpc>
                <a:spcPts val="5762"/>
              </a:lnSpc>
            </a:pPr>
            <a:r>
              <a:rPr lang="en-US" sz="4116">
                <a:solidFill>
                  <a:srgbClr val="000000"/>
                </a:solidFill>
                <a:latin typeface="Arimo"/>
                <a:ea typeface="Arimo"/>
                <a:cs typeface="Arimo"/>
                <a:sym typeface="Arimo"/>
              </a:rPr>
              <a:t>Whenever the desired (N, ~) is reached, record and compare the number of boots discarded.</a:t>
            </a:r>
          </a:p>
          <a:p>
            <a:pPr algn="just">
              <a:lnSpc>
                <a:spcPts val="5762"/>
              </a:lnSpc>
            </a:pPr>
          </a:p>
          <a:p>
            <a:pPr algn="just">
              <a:lnSpc>
                <a:spcPts val="5762"/>
              </a:lnSpc>
            </a:pPr>
            <a:r>
              <a:rPr lang="en-US" sz="4116">
                <a:solidFill>
                  <a:srgbClr val="000000"/>
                </a:solidFill>
                <a:latin typeface="Arimo"/>
                <a:ea typeface="Arimo"/>
                <a:cs typeface="Arimo"/>
                <a:sym typeface="Arimo"/>
              </a:rPr>
              <a:t>To analyze the time complexity, there are NB states, each taking (N+B) transitions. Hence O(NB(N+B))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BBE6FF"/>
        </a:solidFill>
      </p:bgPr>
    </p:bg>
    <p:spTree>
      <p:nvGrpSpPr>
        <p:cNvPr id="1" name=""/>
        <p:cNvGrpSpPr/>
        <p:nvPr/>
      </p:nvGrpSpPr>
      <p:grpSpPr>
        <a:xfrm>
          <a:off x="0" y="0"/>
          <a:ext cx="0" cy="0"/>
          <a:chOff x="0" y="0"/>
          <a:chExt cx="0" cy="0"/>
        </a:xfrm>
      </p:grpSpPr>
      <p:sp>
        <p:nvSpPr>
          <p:cNvPr name="Freeform 2" id="2"/>
          <p:cNvSpPr/>
          <p:nvPr/>
        </p:nvSpPr>
        <p:spPr>
          <a:xfrm flipH="false" flipV="false" rot="0">
            <a:off x="1965797" y="0"/>
            <a:ext cx="8273913" cy="10262218"/>
          </a:xfrm>
          <a:custGeom>
            <a:avLst/>
            <a:gdLst/>
            <a:ahLst/>
            <a:cxnLst/>
            <a:rect r="r" b="b" t="t" l="l"/>
            <a:pathLst>
              <a:path h="10262218" w="8273913">
                <a:moveTo>
                  <a:pt x="0" y="0"/>
                </a:moveTo>
                <a:lnTo>
                  <a:pt x="8273914" y="0"/>
                </a:lnTo>
                <a:lnTo>
                  <a:pt x="8273914" y="10262218"/>
                </a:lnTo>
                <a:lnTo>
                  <a:pt x="0" y="10262218"/>
                </a:lnTo>
                <a:lnTo>
                  <a:pt x="0" y="0"/>
                </a:lnTo>
                <a:close/>
              </a:path>
            </a:pathLst>
          </a:custGeom>
          <a:blipFill>
            <a:blip r:embed="rId2"/>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p:cSld>
    <p:bg>
      <p:bgPr>
        <a:solidFill>
          <a:srgbClr val="BBE6FF"/>
        </a:solidFill>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DAGlLa7TVKg</dc:identifier>
  <dcterms:modified xsi:type="dcterms:W3CDTF">2011-08-01T06:04:30Z</dcterms:modified>
  <cp:revision>1</cp:revision>
  <dc:title>USACO Basic Flood Fill</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AIGC">
    <vt:lpwstr>{"Label":"1","ContentProducer":"001191110105MA01AN806X00000","ProduceID":"DAGlLa7TVKg","ReservedCode1":"","ContentPropagator":"001191110105MA01AN806X00000","PropagateID":"DAGlLa7TVKg","ReservedCode2":""}</vt:lpwstr>
  </property>
</Properties>
</file>